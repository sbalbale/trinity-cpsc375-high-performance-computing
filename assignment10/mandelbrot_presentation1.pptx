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1024×1024</c:v>
                </c:pt>
              </c:strCache>
            </c:strRef>
          </c:tx>
          <c:spPr>
            <a:ln w="25400" cap="flat">
              <a:solidFill>
                <a:srgbClr val="1565C0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565C0"/>
              </a:solidFill>
              <a:ln w="9525" cap="flat">
                <a:solidFill>
                  <a:srgbClr val="1565C0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  <c:pt idx="6">
                  <c:v>14</c:v>
                </c:pt>
                <c:pt idx="7">
                  <c:v>16</c:v>
                </c:pt>
                <c:pt idx="8">
                  <c:v>18</c:v>
                </c:pt>
                <c:pt idx="9">
                  <c:v>20</c:v>
                </c:pt>
                <c:pt idx="10">
                  <c:v>22</c:v>
                </c:pt>
                <c:pt idx="11">
                  <c:v>24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</c:v>
                </c:pt>
                <c:pt idx="1">
                  <c:v>3.871</c:v>
                </c:pt>
                <c:pt idx="2">
                  <c:v>5.6319999999999997</c:v>
                </c:pt>
                <c:pt idx="3">
                  <c:v>8.1039999999999992</c:v>
                </c:pt>
                <c:pt idx="4">
                  <c:v>10.558</c:v>
                </c:pt>
                <c:pt idx="5">
                  <c:v>12.131</c:v>
                </c:pt>
                <c:pt idx="6">
                  <c:v>13.94</c:v>
                </c:pt>
                <c:pt idx="7">
                  <c:v>16.297999999999998</c:v>
                </c:pt>
                <c:pt idx="8">
                  <c:v>17.254000000000001</c:v>
                </c:pt>
                <c:pt idx="9">
                  <c:v>18.478000000000002</c:v>
                </c:pt>
                <c:pt idx="10">
                  <c:v>20.300999999999998</c:v>
                </c:pt>
                <c:pt idx="11">
                  <c:v>20.640999999999998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DC9-4EA3-B32F-B47AEB4881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2048×2048</c:v>
                </c:pt>
              </c:strCache>
            </c:strRef>
          </c:tx>
          <c:spPr>
            <a:ln w="25400" cap="flat">
              <a:solidFill>
                <a:srgbClr val="29B6F6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B6F6"/>
              </a:solidFill>
              <a:ln w="9525" cap="flat">
                <a:solidFill>
                  <a:srgbClr val="29B6F6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  <c:pt idx="6">
                  <c:v>14</c:v>
                </c:pt>
                <c:pt idx="7">
                  <c:v>16</c:v>
                </c:pt>
                <c:pt idx="8">
                  <c:v>18</c:v>
                </c:pt>
                <c:pt idx="9">
                  <c:v>20</c:v>
                </c:pt>
                <c:pt idx="10">
                  <c:v>22</c:v>
                </c:pt>
                <c:pt idx="11">
                  <c:v>24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</c:v>
                </c:pt>
                <c:pt idx="1">
                  <c:v>3.4750000000000001</c:v>
                </c:pt>
                <c:pt idx="2">
                  <c:v>5.4770000000000003</c:v>
                </c:pt>
                <c:pt idx="3">
                  <c:v>7.8470000000000004</c:v>
                </c:pt>
                <c:pt idx="4">
                  <c:v>9.9329999999999998</c:v>
                </c:pt>
                <c:pt idx="5">
                  <c:v>11.686999999999999</c:v>
                </c:pt>
                <c:pt idx="6">
                  <c:v>13.589</c:v>
                </c:pt>
                <c:pt idx="7">
                  <c:v>15.627000000000001</c:v>
                </c:pt>
                <c:pt idx="8">
                  <c:v>16.759</c:v>
                </c:pt>
                <c:pt idx="9">
                  <c:v>18.698</c:v>
                </c:pt>
                <c:pt idx="10">
                  <c:v>20.681999999999999</c:v>
                </c:pt>
                <c:pt idx="11">
                  <c:v>21.045999999999999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DC9-4EA3-B32F-B47AEB48814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4096×4096</c:v>
                </c:pt>
              </c:strCache>
            </c:strRef>
          </c:tx>
          <c:spPr>
            <a:ln w="25400" cap="flat">
              <a:solidFill>
                <a:srgbClr val="0D47A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0D47A1"/>
              </a:solidFill>
              <a:ln w="9525" cap="flat">
                <a:solidFill>
                  <a:srgbClr val="0D47A1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  <c:pt idx="6">
                  <c:v>14</c:v>
                </c:pt>
                <c:pt idx="7">
                  <c:v>16</c:v>
                </c:pt>
                <c:pt idx="8">
                  <c:v>18</c:v>
                </c:pt>
                <c:pt idx="9">
                  <c:v>20</c:v>
                </c:pt>
                <c:pt idx="10">
                  <c:v>22</c:v>
                </c:pt>
                <c:pt idx="11">
                  <c:v>24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</c:v>
                </c:pt>
                <c:pt idx="1">
                  <c:v>3.331</c:v>
                </c:pt>
                <c:pt idx="2">
                  <c:v>5.2649999999999997</c:v>
                </c:pt>
                <c:pt idx="3">
                  <c:v>7.3559999999999999</c:v>
                </c:pt>
                <c:pt idx="4">
                  <c:v>9.2560000000000002</c:v>
                </c:pt>
                <c:pt idx="5">
                  <c:v>10.83</c:v>
                </c:pt>
                <c:pt idx="6">
                  <c:v>12.433</c:v>
                </c:pt>
                <c:pt idx="7">
                  <c:v>14.06</c:v>
                </c:pt>
                <c:pt idx="8">
                  <c:v>15.554</c:v>
                </c:pt>
                <c:pt idx="9">
                  <c:v>16.948</c:v>
                </c:pt>
                <c:pt idx="10">
                  <c:v>18.533000000000001</c:v>
                </c:pt>
                <c:pt idx="11">
                  <c:v>19.646999999999998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DC9-4EA3-B32F-B47AEB48814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Ideal (P−1)</c:v>
                </c:pt>
              </c:strCache>
            </c:strRef>
          </c:tx>
          <c:spPr>
            <a:ln w="25400" cap="flat">
              <a:solidFill>
                <a:srgbClr val="BDBDBD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BDBDBD"/>
              </a:solidFill>
              <a:ln w="9525" cap="flat">
                <a:solidFill>
                  <a:srgbClr val="BDBDBD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  <c:pt idx="6">
                  <c:v>14</c:v>
                </c:pt>
                <c:pt idx="7">
                  <c:v>16</c:v>
                </c:pt>
                <c:pt idx="8">
                  <c:v>18</c:v>
                </c:pt>
                <c:pt idx="9">
                  <c:v>20</c:v>
                </c:pt>
                <c:pt idx="10">
                  <c:v>22</c:v>
                </c:pt>
                <c:pt idx="11">
                  <c:v>24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  <c:pt idx="5">
                  <c:v>11</c:v>
                </c:pt>
                <c:pt idx="6">
                  <c:v>13</c:v>
                </c:pt>
                <c:pt idx="7">
                  <c:v>15</c:v>
                </c:pt>
                <c:pt idx="8">
                  <c:v>17</c:v>
                </c:pt>
                <c:pt idx="9">
                  <c:v>19</c:v>
                </c:pt>
                <c:pt idx="10">
                  <c:v>21</c:v>
                </c:pt>
                <c:pt idx="11">
                  <c:v>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DC9-4EA3-B32F-B47AEB4881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Measured T(P)/T(2)</c:v>
                </c:pt>
              </c:strCache>
            </c:strRef>
          </c:tx>
          <c:spPr>
            <a:ln w="25400" cap="flat">
              <a:solidFill>
                <a:srgbClr val="1565C0"/>
              </a:solidFill>
              <a:prstDash val="solid"/>
              <a:round/>
            </a:ln>
            <a:effectLst/>
          </c:spPr>
          <c:marker>
            <c:symbol val="square"/>
            <c:size val="5"/>
            <c:spPr>
              <a:solidFill>
                <a:srgbClr val="1565C0"/>
              </a:solidFill>
              <a:ln w="9525" cap="flat">
                <a:solidFill>
                  <a:srgbClr val="1565C0"/>
                </a:solidFill>
                <a:prstDash val="solid"/>
                <a:round/>
              </a:ln>
              <a:effectLst/>
            </c:spPr>
          </c:marker>
          <c:cat>
            <c:strRef>
              <c:f>Sheet1!$A$2:$A$24</c:f>
              <c:strCache>
                <c:ptCount val="23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1</c:v>
                </c:pt>
                <c:pt idx="1">
                  <c:v>0.50900000000000001</c:v>
                </c:pt>
                <c:pt idx="2">
                  <c:v>0.77300000000000002</c:v>
                </c:pt>
                <c:pt idx="3">
                  <c:v>0.65200000000000002</c:v>
                </c:pt>
                <c:pt idx="4">
                  <c:v>0.54300000000000004</c:v>
                </c:pt>
                <c:pt idx="5">
                  <c:v>0.41899999999999998</c:v>
                </c:pt>
                <c:pt idx="6">
                  <c:v>0.36799999999999999</c:v>
                </c:pt>
                <c:pt idx="7">
                  <c:v>0.70299999999999996</c:v>
                </c:pt>
                <c:pt idx="8">
                  <c:v>0.61199999999999999</c:v>
                </c:pt>
                <c:pt idx="9">
                  <c:v>0.56200000000000006</c:v>
                </c:pt>
                <c:pt idx="10">
                  <c:v>0.52400000000000002</c:v>
                </c:pt>
                <c:pt idx="11">
                  <c:v>0.48</c:v>
                </c:pt>
                <c:pt idx="12">
                  <c:v>0.44600000000000001</c:v>
                </c:pt>
                <c:pt idx="13">
                  <c:v>0.42499999999999999</c:v>
                </c:pt>
                <c:pt idx="14">
                  <c:v>0.65100000000000002</c:v>
                </c:pt>
                <c:pt idx="15">
                  <c:v>0.63100000000000001</c:v>
                </c:pt>
                <c:pt idx="16">
                  <c:v>0.60199999999999998</c:v>
                </c:pt>
                <c:pt idx="17">
                  <c:v>0.56399999999999995</c:v>
                </c:pt>
                <c:pt idx="18">
                  <c:v>0.54300000000000004</c:v>
                </c:pt>
                <c:pt idx="19">
                  <c:v>0.52600000000000002</c:v>
                </c:pt>
                <c:pt idx="20">
                  <c:v>0.503</c:v>
                </c:pt>
                <c:pt idx="21">
                  <c:v>0.48599999999999999</c:v>
                </c:pt>
                <c:pt idx="22">
                  <c:v>0.48599999999999999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DEF-4902-997F-886116D3DAC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Ideal = 1.0</c:v>
                </c:pt>
              </c:strCache>
            </c:strRef>
          </c:tx>
          <c:spPr>
            <a:ln w="25400" cap="flat">
              <a:solidFill>
                <a:srgbClr val="BDBDBD"/>
              </a:solidFill>
              <a:prstDash val="solid"/>
              <a:round/>
            </a:ln>
            <a:effectLst/>
          </c:spPr>
          <c:marker>
            <c:symbol val="square"/>
            <c:size val="5"/>
            <c:spPr>
              <a:solidFill>
                <a:srgbClr val="BDBDBD"/>
              </a:solidFill>
              <a:ln w="9525" cap="flat">
                <a:solidFill>
                  <a:srgbClr val="BDBDBD"/>
                </a:solidFill>
                <a:prstDash val="solid"/>
                <a:round/>
              </a:ln>
              <a:effectLst/>
            </c:spPr>
          </c:marker>
          <c:cat>
            <c:strRef>
              <c:f>Sheet1!$A$2:$A$24</c:f>
              <c:strCache>
                <c:ptCount val="23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</c:strCache>
            </c:strRef>
          </c:cat>
          <c:val>
            <c:numRef>
              <c:f>Sheet1!$C$2:$C$24</c:f>
              <c:numCache>
                <c:formatCode>General</c:formatCode>
                <c:ptCount val="23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DEF-4902-997F-886116D3DA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6754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is the 10-minute presentation for CPSC 375 Term Project. The goal: present the parallel Mandelbrot renderer using MPI master-worker dynamic scheduling, and explain what the scaling data means.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Mandelbrot is perfectly parallel at the pixel level — but row-level load imbalance kills static decomposition. Dynamic scheduling is the right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protocol: seed, receive loop, retire. Emphasize that rank 0 does ZERO pixel computation — pure orchestration. This is why we normalize efficiency by P-1.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-O3 -xHost flags matter: xHost enables AVX2/AVX-512 vectorization on each node, which is why the escape loop is so fast. Caching zr2 and zi2 saves 2 multiplications per iteration — at 1000 iterations per pixel that adds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nodes, 8 cores each, joined over 10GbE TCP. The TCP fabric matters — each 4096-wide result message is 16 KB. At 23 workers sending simultaneously, that's 368 KB bursting at the master. This is why efficiency drops at high P for the large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1024 and 2048 lines both track above the ideal line at moderate P — that's the super-linear speedup. Larger problem = slower at P=2 because image buffer doesn't fit in cache; but it also means more room to grow. The 4096 line stays below ideal, which makes sense — 16 KB result messages dominate.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interesting result. At P=2, the single worker's image buffer for 1024x1024 is 4 MB — way bigger than L2 cache. At P=8, each worker handles ~128 rows; that's only 512 KB. The data fits in cache and iteration becomes memory-latency-free. That's 16% extra speedup from cache effects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sawtooth is not a bug — it's the tile design. Within each tier, adding workers reduces per-worker rows without growing the problem; cache efficiency improves and wall time falls. At tier boundaries (P=4, 9, 16) the problem jumps and time resets toward 1.0. Every normalized time is below 1.0 — better-than-ideal weak 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serial fractions are below 1%. That means rank 0's dispatch loop — which runs in O(height) sequential operations — accounts for less than 1% of total runtime. The theoretical ceiling is ~100–164×, well beyond the 23-worker hardware ceiling. The bottleneck is not the algorithm; it is the cluster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rcRect/>
          <a:stretch/>
        </p:blipFill>
        <p:spPr>
          <a:xfrm>
            <a:off x="0" y="0"/>
            <a:ext cx="438912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5101E">
              <a:alpha val="55000"/>
            </a:srgbClr>
          </a:solidFill>
          <a:ln w="12700">
            <a:solidFill>
              <a:srgbClr val="0510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4663440" y="100584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Mandelbrot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Renderer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4663440" y="24231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Master-Worker Dynamic Scheduling with MPI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4663440" y="2971800"/>
            <a:ext cx="411480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4663440" y="310896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Balbale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CPSC 375: High-Performance Computing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Peter Yoon  ·  April 26, 2026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663440" y="429768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1565C0">
              <a:alpha val="80000"/>
            </a:srgbClr>
          </a:solidFill>
          <a:ln w="12700">
            <a:solidFill>
              <a:srgbClr val="29B6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4663440" y="43159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Idiots Cluster  ·  24 MPI Processes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5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Why Parallelize Mandelbrot?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914400"/>
            <a:ext cx="2926080" cy="29260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1480" y="3886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4096 × 4096, Nmax = 1000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3611880" y="914400"/>
            <a:ext cx="52120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3611880" y="914400"/>
            <a:ext cx="64008" cy="11155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3794760" y="10058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O(N³)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794760" y="129844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Embarrassingly Parallel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794760" y="1536192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pixel is independent — no data dependencies across the image. Perfect for distributed-memory parallelism.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611880" y="2194560"/>
            <a:ext cx="52120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611880" y="2194560"/>
            <a:ext cx="64008" cy="11155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3794760" y="22860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≈100×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794760" y="257860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Imbalance Problem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794760" y="2816352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pixels iterate up to Nmax steps; interior/exterior pixels escape in 1–5. Row cost varies by 100×.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611880" y="3474720"/>
            <a:ext cx="52120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611880" y="3474720"/>
            <a:ext cx="64008" cy="11155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3794760" y="35661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3794760" y="385876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Work-Pool Dispatch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794760" y="4096512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distributes one row at a time to idle workers — naturally absorbs imbalance with no a priori knowledge.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5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Master-Worker Dynamic Scheduling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365760" y="960120"/>
            <a:ext cx="2286000" cy="3474720"/>
          </a:xfrm>
          <a:prstGeom prst="rect">
            <a:avLst/>
          </a:prstGeom>
          <a:solidFill>
            <a:srgbClr val="0D1F35"/>
          </a:solidFill>
          <a:ln w="25400">
            <a:solidFill>
              <a:srgbClr val="29B6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65760" y="102412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0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16916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Seed workers with first rows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218541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MPI_Recv any result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267919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memcpy row to image buffer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317296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Dispatch next row (or TAG_DONE)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366674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Write PPM after all rows done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675120" y="960120"/>
            <a:ext cx="2148840" cy="1051560"/>
          </a:xfrm>
          <a:prstGeom prst="rect">
            <a:avLst/>
          </a:prstGeom>
          <a:solidFill>
            <a:srgbClr val="0D1F35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675120" y="10058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  ·  WORKER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720840" y="1344168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Recv row → escape() loop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Send results back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675120" y="2194560"/>
            <a:ext cx="2148840" cy="1051560"/>
          </a:xfrm>
          <a:prstGeom prst="rect">
            <a:avLst/>
          </a:prstGeom>
          <a:solidFill>
            <a:srgbClr val="0D1F35"/>
          </a:solidFill>
          <a:ln w="1905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675120" y="22402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2  ·  WORKER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720840" y="2578608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Recv row → escape() loop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Send results back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675120" y="3429000"/>
            <a:ext cx="2148840" cy="1051560"/>
          </a:xfrm>
          <a:prstGeom prst="rect">
            <a:avLst/>
          </a:prstGeom>
          <a:solidFill>
            <a:srgbClr val="0D1F35"/>
          </a:solidFill>
          <a:ln w="1905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675120" y="34747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3  ·  WORKER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720840" y="3813048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Recv row → escape() loop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Send results back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675120" y="46177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· ·   Ranks 4–23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697480" y="1325880"/>
            <a:ext cx="39319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2788920" y="1069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9B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TAG_WORK (row idx)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697480" y="2560320"/>
            <a:ext cx="3931920" cy="0"/>
          </a:xfrm>
          <a:prstGeom prst="line">
            <a:avLst/>
          </a:prstGeom>
          <a:noFill/>
          <a:ln w="25400">
            <a:solidFill>
              <a:srgbClr val="1E88E5"/>
            </a:solidFill>
            <a:prstDash val="solid"/>
            <a:headEnd type="arrow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2788920" y="23042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88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TAG_RESULT (row | iters[W])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697480" y="3794760"/>
            <a:ext cx="3931920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dash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2788920" y="35387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TAG_DONE (retire)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2926080" y="4224528"/>
            <a:ext cx="3246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2999232" y="4279392"/>
            <a:ext cx="3090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Sizes  ·  TAG_WORK: 1 INT  ·  TAG_RESULT: (W+1) INTs  ·  4096-wide → ≈16 KB/row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5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Computation &amp; Build Environment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60120"/>
            <a:ext cx="5029200" cy="3291840"/>
          </a:xfrm>
          <a:prstGeom prst="rect">
            <a:avLst/>
          </a:prstGeom>
          <a:solidFill>
            <a:srgbClr val="0D1F35"/>
          </a:solidFill>
          <a:ln w="12700">
            <a:solidFill>
              <a:srgbClr val="1565C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02920" y="10241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B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escape()  —  inner computation kernel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30352" y="1316736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inline int escape(double cr, double ci,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30352" y="1559052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int max_iter) {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30352" y="180136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zr = 0.0, zi = 0.0;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30352" y="2043684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(int n = 0; n &lt; max_iter; n++) {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30352" y="228600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9B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zr2 = zr * zr;  // cached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30352" y="2528316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9B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zi2 = zi * zi;  // cached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30352" y="2770632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(zr2 + zi2 &gt; 4.0) return n;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30352" y="301294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zi = 2.0 * zr * zi + ci;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30352" y="3255264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zr = zr2 - zi2 + cr;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30352" y="349758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30352" y="3739896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max_iter;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30352" y="3982212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669280" y="960120"/>
            <a:ext cx="3291840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669280" y="960120"/>
            <a:ext cx="54864" cy="8503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806440" y="100584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squares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806440" y="1261872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zr² and zi² computed once per iteration — saves 2 multiplications. At Nmax=1000, that's 2,000 fewer flops per boundary pixel.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669280" y="1920240"/>
            <a:ext cx="3291840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669280" y="1920240"/>
            <a:ext cx="54864" cy="8503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806440" y="196596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-O3 -xHost compiler flags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806440" y="2221992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mpiicx enables AVX2/AVX-512 auto-vectorization. Per-column escape() is unrolled and SIMD-accelerated.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669280" y="2880360"/>
            <a:ext cx="3291840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669280" y="2880360"/>
            <a:ext cx="54864" cy="8503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806440" y="292608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granularity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806440" y="3182112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work unit keeps the work-pool fine-grained relative to row compute cost — eliminates essentially all load imbalance.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669280" y="3840480"/>
            <a:ext cx="3291840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5669280" y="3840480"/>
            <a:ext cx="54864" cy="8503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806440" y="388620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MPI_Wtime() bracketing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806440" y="4142232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starts after initial seeding, stops before PPM write. Measures the computation + communication kernel only.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5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 — Three Idiots Cluster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2423160" cy="2011680"/>
          </a:xfrm>
          <a:prstGeom prst="rect">
            <a:avLst/>
          </a:prstGeom>
          <a:solidFill>
            <a:srgbClr val="0D1F35"/>
          </a:solidFill>
          <a:ln w="25400">
            <a:solidFill>
              <a:srgbClr val="29B6F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0 (Master Host)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58368" y="1463040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9B6F6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58368" y="153619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179576" y="1463040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179576" y="153619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700784" y="1463040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700784" y="153619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221992" y="1463040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221992" y="153619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58368" y="2011680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58368" y="208483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179576" y="2011680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179576" y="208483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700784" y="2011680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700784" y="208483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221992" y="2011680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2221992" y="208483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200400" y="1005840"/>
            <a:ext cx="2423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291840" y="10515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401568" y="1463040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401568" y="153619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922776" y="1463040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922776" y="153619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443984" y="1463040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443984" y="153619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965192" y="1463040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965192" y="153619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3401568" y="2011680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3401568" y="208483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922776" y="2011680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3922776" y="208483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443984" y="2011680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4443984" y="208483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965192" y="2011680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4965192" y="208483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5943600" y="1005840"/>
            <a:ext cx="2423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6035040" y="10515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6144768" y="1463040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6144768" y="153619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665976" y="1463040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6665976" y="153619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7187184" y="1463040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7187184" y="153619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7708392" y="1463040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7708392" y="153619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6144768" y="2011680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6144768" y="208483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6665976" y="2011680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6665976" y="208483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7187184" y="2011680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7187184" y="208483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7708392" y="2011680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7708392" y="208483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2880360" y="2011680"/>
            <a:ext cx="320040" cy="0"/>
          </a:xfrm>
          <a:prstGeom prst="line">
            <a:avLst/>
          </a:prstGeom>
          <a:noFill/>
          <a:ln w="25400">
            <a:solidFill>
              <a:srgbClr val="1E88E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7"/>
          <p:cNvSpPr/>
          <p:nvPr/>
        </p:nvSpPr>
        <p:spPr>
          <a:xfrm>
            <a:off x="5623560" y="2011680"/>
            <a:ext cx="320040" cy="0"/>
          </a:xfrm>
          <a:prstGeom prst="line">
            <a:avLst/>
          </a:prstGeom>
          <a:noFill/>
          <a:ln w="25400">
            <a:solidFill>
              <a:srgbClr val="1E88E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59"/>
          <p:cNvSpPr/>
          <p:nvPr/>
        </p:nvSpPr>
        <p:spPr>
          <a:xfrm>
            <a:off x="457200" y="3200400"/>
            <a:ext cx="8229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0"/>
          <p:cNvSpPr/>
          <p:nvPr/>
        </p:nvSpPr>
        <p:spPr>
          <a:xfrm>
            <a:off x="502920" y="3246120"/>
            <a:ext cx="2697480" cy="274320"/>
          </a:xfrm>
          <a:prstGeom prst="rect">
            <a:avLst/>
          </a:prstGeom>
          <a:solidFill>
            <a:srgbClr val="05101E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3246120" y="3246120"/>
            <a:ext cx="2697480" cy="274320"/>
          </a:xfrm>
          <a:prstGeom prst="rect">
            <a:avLst/>
          </a:prstGeom>
          <a:solidFill>
            <a:srgbClr val="05101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Scaling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5989320" y="3246120"/>
            <a:ext cx="2697480" cy="274320"/>
          </a:xfrm>
          <a:prstGeom prst="rect">
            <a:avLst/>
          </a:prstGeom>
          <a:solidFill>
            <a:srgbClr val="05101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Scaling</a:t>
            </a:r>
            <a:endParaRPr lang="en-US" sz="1000" dirty="0"/>
          </a:p>
        </p:txBody>
      </p:sp>
      <p:sp>
        <p:nvSpPr>
          <p:cNvPr id="66" name="Text 63"/>
          <p:cNvSpPr/>
          <p:nvPr/>
        </p:nvSpPr>
        <p:spPr>
          <a:xfrm>
            <a:off x="502920" y="353872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Sizes</a:t>
            </a:r>
            <a:endParaRPr lang="en-US" sz="950" dirty="0"/>
          </a:p>
        </p:txBody>
      </p:sp>
      <p:sp>
        <p:nvSpPr>
          <p:cNvPr id="67" name="Text 64"/>
          <p:cNvSpPr/>
          <p:nvPr/>
        </p:nvSpPr>
        <p:spPr>
          <a:xfrm>
            <a:off x="3246120" y="353872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1024², 2048², 4096²  (Nmax=1000)</a:t>
            </a:r>
            <a:endParaRPr lang="en-US" sz="950" dirty="0"/>
          </a:p>
        </p:txBody>
      </p:sp>
      <p:sp>
        <p:nvSpPr>
          <p:cNvPr id="68" name="Text 65"/>
          <p:cNvSpPr/>
          <p:nvPr/>
        </p:nvSpPr>
        <p:spPr>
          <a:xfrm>
            <a:off x="5989320" y="353872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512² base tile  →  (512·⌊√P⌋)²</a:t>
            </a:r>
            <a:endParaRPr lang="en-US" sz="950" dirty="0"/>
          </a:p>
        </p:txBody>
      </p:sp>
      <p:sp>
        <p:nvSpPr>
          <p:cNvPr id="69" name="Text 66"/>
          <p:cNvSpPr/>
          <p:nvPr/>
        </p:nvSpPr>
        <p:spPr>
          <a:xfrm>
            <a:off x="502920" y="3831336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Range</a:t>
            </a:r>
            <a:endParaRPr lang="en-US" sz="950" dirty="0"/>
          </a:p>
        </p:txBody>
      </p:sp>
      <p:sp>
        <p:nvSpPr>
          <p:cNvPr id="70" name="Text 67"/>
          <p:cNvSpPr/>
          <p:nvPr/>
        </p:nvSpPr>
        <p:spPr>
          <a:xfrm>
            <a:off x="3246120" y="3831336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2 … 24</a:t>
            </a:r>
            <a:endParaRPr lang="en-US" sz="950" dirty="0"/>
          </a:p>
        </p:txBody>
      </p:sp>
      <p:sp>
        <p:nvSpPr>
          <p:cNvPr id="71" name="Text 68"/>
          <p:cNvSpPr/>
          <p:nvPr/>
        </p:nvSpPr>
        <p:spPr>
          <a:xfrm>
            <a:off x="5989320" y="3831336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2 … 24</a:t>
            </a:r>
            <a:endParaRPr lang="en-US" sz="950" dirty="0"/>
          </a:p>
        </p:txBody>
      </p:sp>
      <p:sp>
        <p:nvSpPr>
          <p:cNvPr id="72" name="Text 69"/>
          <p:cNvSpPr/>
          <p:nvPr/>
        </p:nvSpPr>
        <p:spPr>
          <a:xfrm>
            <a:off x="502920" y="412394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/ Statistic</a:t>
            </a:r>
            <a:endParaRPr lang="en-US" sz="950" dirty="0"/>
          </a:p>
        </p:txBody>
      </p:sp>
      <p:sp>
        <p:nvSpPr>
          <p:cNvPr id="73" name="Text 70"/>
          <p:cNvSpPr/>
          <p:nvPr/>
        </p:nvSpPr>
        <p:spPr>
          <a:xfrm>
            <a:off x="3246120" y="412394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trials each  →  median wall time</a:t>
            </a:r>
            <a:endParaRPr lang="en-US" sz="950" dirty="0"/>
          </a:p>
        </p:txBody>
      </p:sp>
      <p:sp>
        <p:nvSpPr>
          <p:cNvPr id="74" name="Text 71"/>
          <p:cNvSpPr/>
          <p:nvPr/>
        </p:nvSpPr>
        <p:spPr>
          <a:xfrm>
            <a:off x="5989320" y="412394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trials each  →  median wall time</a:t>
            </a:r>
            <a:endParaRPr lang="en-US" sz="950" dirty="0"/>
          </a:p>
        </p:txBody>
      </p:sp>
      <p:sp>
        <p:nvSpPr>
          <p:cNvPr id="75" name="Text 72"/>
          <p:cNvSpPr/>
          <p:nvPr/>
        </p:nvSpPr>
        <p:spPr>
          <a:xfrm>
            <a:off x="502920" y="441655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</a:t>
            </a:r>
            <a:endParaRPr lang="en-US" sz="950" dirty="0"/>
          </a:p>
        </p:txBody>
      </p:sp>
      <p:sp>
        <p:nvSpPr>
          <p:cNvPr id="76" name="Text 73"/>
          <p:cNvSpPr/>
          <p:nvPr/>
        </p:nvSpPr>
        <p:spPr>
          <a:xfrm>
            <a:off x="3246120" y="441655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MPI_Wtime()  (compute + comm only)</a:t>
            </a:r>
            <a:endParaRPr lang="en-US" sz="950" dirty="0"/>
          </a:p>
        </p:txBody>
      </p:sp>
      <p:sp>
        <p:nvSpPr>
          <p:cNvPr id="77" name="Text 74"/>
          <p:cNvSpPr/>
          <p:nvPr/>
        </p:nvSpPr>
        <p:spPr>
          <a:xfrm>
            <a:off x="5989320" y="441655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MPI_Wtime()  (compute + comm only)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5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Scaling — Speedup S(P) = T(2) / T(P)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914400"/>
          <a:ext cx="56692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6217920" y="960120"/>
            <a:ext cx="2697480" cy="1097280"/>
          </a:xfrm>
          <a:prstGeom prst="rect">
            <a:avLst/>
          </a:prstGeom>
          <a:solidFill>
            <a:srgbClr val="0D1F35"/>
          </a:solidFill>
          <a:ln w="1905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217920" y="1069848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20.6×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6217920" y="1640434"/>
            <a:ext cx="269748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P=24 · 1024²  ·  E=0.897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217920" y="2240280"/>
            <a:ext cx="2697480" cy="1097280"/>
          </a:xfrm>
          <a:prstGeom prst="rect">
            <a:avLst/>
          </a:prstGeom>
          <a:solidFill>
            <a:srgbClr val="0D1F35"/>
          </a:solidFill>
          <a:ln w="1905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217920" y="2350008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21.0×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6217920" y="2920594"/>
            <a:ext cx="269748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P=24 · 2048²  ·  E=0.915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217920" y="3520440"/>
            <a:ext cx="2697480" cy="1097280"/>
          </a:xfrm>
          <a:prstGeom prst="rect">
            <a:avLst/>
          </a:prstGeom>
          <a:solidFill>
            <a:srgbClr val="0D1F35"/>
          </a:solidFill>
          <a:ln w="1905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217920" y="3630168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8.10×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6217920" y="4200754"/>
            <a:ext cx="269748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P=8 · 1024²  ·  Super-linear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E=1.16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5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Super-Linear Speedup: Cache Amplification Effect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1005840"/>
            <a:ext cx="41148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2  (1 worker)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94360" y="1444752"/>
            <a:ext cx="3749040" cy="502920"/>
          </a:xfrm>
          <a:prstGeom prst="rect">
            <a:avLst/>
          </a:prstGeom>
          <a:solidFill>
            <a:srgbClr val="FFCDD2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58368" y="148132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buffer: 1024² × 4B = 4 MB  →  Overflows L2 cache  →  RAM reads dominate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94360" y="2103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8  (7 workers, ~146 rows each)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360" y="2450592"/>
            <a:ext cx="3749040" cy="502920"/>
          </a:xfrm>
          <a:prstGeom prst="rect">
            <a:avLst/>
          </a:prstGeom>
          <a:solidFill>
            <a:srgbClr val="C8E6C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58368" y="248716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Per-worker share: 146 rows × 4B × 1024 = 598 KB  →  Fits in L2 cache  →  Zero RAM latency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94360" y="3090672"/>
            <a:ext cx="37490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4360" y="3182112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cache amplification appears to violate Amdahl's law, it has a well-established physical explanation: each additional worker reduces per-worker working-set size until it fits entirely inside L1/L2 cache — eliminating memory-latency stalls in the escape() inner loop.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54880" y="1005840"/>
            <a:ext cx="4160520" cy="1143000"/>
          </a:xfrm>
          <a:prstGeom prst="rect">
            <a:avLst/>
          </a:prstGeom>
          <a:solidFill>
            <a:srgbClr val="0D1F35"/>
          </a:solidFill>
          <a:ln w="1905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754880" y="1115568"/>
            <a:ext cx="416052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1.16×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4754880" y="17145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at P=8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(1024² problem)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754880" y="2304288"/>
            <a:ext cx="4160520" cy="1143000"/>
          </a:xfrm>
          <a:prstGeom prst="rect">
            <a:avLst/>
          </a:prstGeom>
          <a:solidFill>
            <a:srgbClr val="0D1F35"/>
          </a:solidFill>
          <a:ln w="1905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754880" y="2414016"/>
            <a:ext cx="416052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1.05×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4754880" y="30129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at P=8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(4096² problem)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754880" y="3602736"/>
            <a:ext cx="4160520" cy="1143000"/>
          </a:xfrm>
          <a:prstGeom prst="rect">
            <a:avLst/>
          </a:prstGeom>
          <a:solidFill>
            <a:srgbClr val="0D1F35"/>
          </a:solidFill>
          <a:ln w="1905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754880" y="3712464"/>
            <a:ext cx="416052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4754880" y="431139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Super-linear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from cache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5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Scaling — Normalized Time T(P) / T(2)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914400"/>
          <a:ext cx="56692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6217920" y="960120"/>
            <a:ext cx="2697480" cy="1143000"/>
          </a:xfrm>
          <a:prstGeom prst="rect">
            <a:avLst/>
          </a:prstGeom>
          <a:solidFill>
            <a:srgbClr val="0D1F35"/>
          </a:solidFill>
          <a:ln w="1905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217920" y="1069848"/>
            <a:ext cx="26974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0.37×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6217920" y="16687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normalized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(P=8, tier 2)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217920" y="2258568"/>
            <a:ext cx="2697480" cy="1143000"/>
          </a:xfrm>
          <a:prstGeom prst="rect">
            <a:avLst/>
          </a:prstGeom>
          <a:solidFill>
            <a:srgbClr val="0D1F35"/>
          </a:solidFill>
          <a:ln w="1905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217920" y="2368296"/>
            <a:ext cx="26974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&lt;1.0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6217920" y="29672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217920" y="3557016"/>
            <a:ext cx="2697480" cy="1143000"/>
          </a:xfrm>
          <a:prstGeom prst="rect">
            <a:avLst/>
          </a:prstGeom>
          <a:solidFill>
            <a:srgbClr val="0D1F35"/>
          </a:solidFill>
          <a:ln w="1905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217920" y="3666744"/>
            <a:ext cx="26974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tiers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6217920" y="426567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512² → 1024²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1536² → 2048²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5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Amdahl's Law Fit — How Much is Serial?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1005840"/>
            <a:ext cx="4937760" cy="685800"/>
          </a:xfrm>
          <a:prstGeom prst="rect">
            <a:avLst/>
          </a:prstGeom>
          <a:solidFill>
            <a:srgbClr val="0D1F35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02920" y="1078992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9B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S(P)  =  1 / ( f  +  (1−f) / P )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28800"/>
          <a:ext cx="8321040" cy="138988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Fraction 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Theoretical Max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S(24) Measured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0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 × 1024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141×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20.6×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2048 × 2048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164×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21.0×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4096 × 4096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104×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19.6×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11480" y="342900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411480" y="3429000"/>
            <a:ext cx="54864" cy="1463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6"/>
          <p:cNvSpPr/>
          <p:nvPr/>
        </p:nvSpPr>
        <p:spPr>
          <a:xfrm>
            <a:off x="566928" y="349300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limits efficiency at P=24?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66928" y="3858768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0's single-threaded dispatch loop serializes 23 worker results over TCP. With 4096-wide rows, each recv handles 16 KB; the master becomes a bottleneck.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246120" y="342900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246120" y="3429000"/>
            <a:ext cx="54864" cy="1463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3401568" y="349300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f smallest for 2048²?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401568" y="3858768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master's sequential overhead — O(height) dispatch operations — is fixed per row. Wider rows (more flops/row) dilute the serial fraction; 2048 hits the sweet spot.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080760" y="342900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080760" y="3429000"/>
            <a:ext cx="54864" cy="1463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236208" y="349300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imply for scaling?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236208" y="3858768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 &lt; 1%, the implementation could theoretically scale to 100+ workers. The Three Idiots cluster is the binding constraint — not the algorithm.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rcRect/>
          <a:stretch/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5101E">
              <a:alpha val="50000"/>
            </a:srgbClr>
          </a:solidFill>
          <a:ln w="12700">
            <a:solidFill>
              <a:srgbClr val="0510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274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804672"/>
            <a:ext cx="457200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932688"/>
            <a:ext cx="4572000" cy="841248"/>
          </a:xfrm>
          <a:prstGeom prst="rect">
            <a:avLst/>
          </a:prstGeom>
          <a:solidFill>
            <a:srgbClr val="0D1F35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66928" y="10058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B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20–21×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08760" y="1005840"/>
            <a:ext cx="3401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at P=24 across all three problem sizes — worker efficiency stays above 0.85 throughout.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1892808"/>
            <a:ext cx="4572000" cy="841248"/>
          </a:xfrm>
          <a:prstGeom prst="rect">
            <a:avLst/>
          </a:prstGeom>
          <a:solidFill>
            <a:srgbClr val="0D1F35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66928" y="196596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B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&gt; 1.0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508760" y="1965960"/>
            <a:ext cx="3401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Super-linear speedup for P ≤ 16 (1024² and 2048²), driven by cache amplification as per-worker working set shrinks.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" y="2852928"/>
            <a:ext cx="4572000" cy="841248"/>
          </a:xfrm>
          <a:prstGeom prst="rect">
            <a:avLst/>
          </a:prstGeom>
          <a:solidFill>
            <a:srgbClr val="0D1F35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66928" y="29260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B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&lt; 1%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508760" y="2926080"/>
            <a:ext cx="3401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Amdahl serial fraction below 1% for all sizes — theoretical ceiling of 100–164×, well beyond the hardware limit.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3813048"/>
            <a:ext cx="4572000" cy="841248"/>
          </a:xfrm>
          <a:prstGeom prst="rect">
            <a:avLst/>
          </a:prstGeom>
          <a:solidFill>
            <a:srgbClr val="0D1F35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66928" y="38862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B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Ideal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508760" y="3886200"/>
            <a:ext cx="3401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scaling consistently better than ideal — cache gains within each tier outpace the tile-size growth at boundaries.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solidFill>
            <a:srgbClr val="1565C0">
              <a:alpha val="80000"/>
            </a:srgbClr>
          </a:solidFill>
          <a:ln w="12700">
            <a:solidFill>
              <a:srgbClr val="29B6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48640" y="472744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Replace single-master dispatch with distributed work-stealing to eliminate the rank-0 bottleneck and scale to 100+ processes.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1574</Words>
  <Application>Microsoft Office PowerPoint</Application>
  <PresentationFormat>On-screen Show (16:9)</PresentationFormat>
  <Paragraphs>190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 Mandelbrot Set Renderer — MPI Master-Worker</dc:title>
  <dc:subject>PptxGenJS Presentation</dc:subject>
  <dc:creator>Sean Balbale</dc:creator>
  <cp:lastModifiedBy>Sean Balbale</cp:lastModifiedBy>
  <cp:revision>2</cp:revision>
  <dcterms:created xsi:type="dcterms:W3CDTF">2026-04-26T21:32:33Z</dcterms:created>
  <dcterms:modified xsi:type="dcterms:W3CDTF">2026-04-26T21:37:57Z</dcterms:modified>
</cp:coreProperties>
</file>