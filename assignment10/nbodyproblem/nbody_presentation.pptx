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N=2,400</c:v>
                </c:pt>
              </c:strCache>
            </c:strRef>
          </c:tx>
          <c:spPr>
            <a:solidFill>
              <a:srgbClr val="F4A261"/>
            </a:solidFill>
            <a:ln w="31750" cap="flat">
              <a:solidFill>
                <a:srgbClr val="F4A2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A261"/>
              </a:solidFill>
              <a:ln w="9525" cap="flat">
                <a:solidFill>
                  <a:srgbClr val="F4A2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</c:v>
                </c:pt>
                <c:pt idx="1">
                  <c:v>1.522</c:v>
                </c:pt>
                <c:pt idx="2">
                  <c:v>1.622</c:v>
                </c:pt>
                <c:pt idx="3">
                  <c:v>1.895</c:v>
                </c:pt>
                <c:pt idx="4">
                  <c:v>1.834</c:v>
                </c:pt>
                <c:pt idx="5">
                  <c:v>1.799</c:v>
                </c:pt>
                <c:pt idx="6">
                  <c:v>1.666</c:v>
                </c:pt>
                <c:pt idx="7">
                  <c:v>1.919</c:v>
                </c:pt>
                <c:pt idx="8">
                  <c:v>1.712</c:v>
                </c:pt>
                <c:pt idx="9">
                  <c:v>1.718</c:v>
                </c:pt>
                <c:pt idx="10">
                  <c:v>1.639</c:v>
                </c:pt>
                <c:pt idx="11">
                  <c:v>1.712</c:v>
                </c:pt>
                <c:pt idx="12">
                  <c:v>1.592</c:v>
                </c:pt>
                <c:pt idx="13">
                  <c:v>1.572</c:v>
                </c:pt>
                <c:pt idx="14">
                  <c:v>1.657</c:v>
                </c:pt>
                <c:pt idx="15">
                  <c:v>1.534</c:v>
                </c:pt>
                <c:pt idx="16">
                  <c:v>1.575</c:v>
                </c:pt>
                <c:pt idx="17">
                  <c:v>1.563</c:v>
                </c:pt>
                <c:pt idx="18">
                  <c:v>1.502</c:v>
                </c:pt>
                <c:pt idx="19">
                  <c:v>1.404</c:v>
                </c:pt>
                <c:pt idx="20">
                  <c:v>1.38</c:v>
                </c:pt>
                <c:pt idx="21">
                  <c:v>1.36</c:v>
                </c:pt>
                <c:pt idx="22">
                  <c:v>1.408</c:v>
                </c:pt>
                <c:pt idx="23">
                  <c:v>1.444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N=4,800</c:v>
                </c:pt>
              </c:strCache>
            </c:strRef>
          </c:tx>
          <c:spPr>
            <a:solidFill>
              <a:srgbClr val="3A86FF"/>
            </a:solidFill>
            <a:ln w="31750" cap="flat">
              <a:solidFill>
                <a:srgbClr val="3A86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A86FF"/>
              </a:solidFill>
              <a:ln w="9525" cap="flat">
                <a:solidFill>
                  <a:srgbClr val="3A86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</c:v>
                </c:pt>
                <c:pt idx="1">
                  <c:v>1.831</c:v>
                </c:pt>
                <c:pt idx="2">
                  <c:v>2.374</c:v>
                </c:pt>
                <c:pt idx="3">
                  <c:v>2.884</c:v>
                </c:pt>
                <c:pt idx="4">
                  <c:v>3.184</c:v>
                </c:pt>
                <c:pt idx="5">
                  <c:v>3.487</c:v>
                </c:pt>
                <c:pt idx="6">
                  <c:v>3.565</c:v>
                </c:pt>
                <c:pt idx="7">
                  <c:v>3.835</c:v>
                </c:pt>
                <c:pt idx="8">
                  <c:v>3.739</c:v>
                </c:pt>
                <c:pt idx="9">
                  <c:v>3.823</c:v>
                </c:pt>
                <c:pt idx="10">
                  <c:v>3.924</c:v>
                </c:pt>
                <c:pt idx="11">
                  <c:v>4.112</c:v>
                </c:pt>
                <c:pt idx="12">
                  <c:v>3.777</c:v>
                </c:pt>
                <c:pt idx="13">
                  <c:v>3.65</c:v>
                </c:pt>
                <c:pt idx="14">
                  <c:v>3.835</c:v>
                </c:pt>
                <c:pt idx="15">
                  <c:v>3.549</c:v>
                </c:pt>
                <c:pt idx="16">
                  <c:v>3.601</c:v>
                </c:pt>
                <c:pt idx="17">
                  <c:v>3.731</c:v>
                </c:pt>
                <c:pt idx="18">
                  <c:v>3.487</c:v>
                </c:pt>
                <c:pt idx="19">
                  <c:v>3.472</c:v>
                </c:pt>
                <c:pt idx="20">
                  <c:v>3.456</c:v>
                </c:pt>
                <c:pt idx="21">
                  <c:v>3.388</c:v>
                </c:pt>
                <c:pt idx="22">
                  <c:v>3.28</c:v>
                </c:pt>
                <c:pt idx="23">
                  <c:v>3.209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N=9,600</c:v>
                </c:pt>
              </c:strCache>
            </c:strRef>
          </c:tx>
          <c:spPr>
            <a:solidFill>
              <a:srgbClr val="10B981"/>
            </a:solidFill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</c:v>
                </c:pt>
                <c:pt idx="1">
                  <c:v>1.937</c:v>
                </c:pt>
                <c:pt idx="2">
                  <c:v>2.775</c:v>
                </c:pt>
                <c:pt idx="3">
                  <c:v>3.515</c:v>
                </c:pt>
                <c:pt idx="4">
                  <c:v>4.181</c:v>
                </c:pt>
                <c:pt idx="5">
                  <c:v>4.76</c:v>
                </c:pt>
                <c:pt idx="6">
                  <c:v>5.129</c:v>
                </c:pt>
                <c:pt idx="7">
                  <c:v>5.526</c:v>
                </c:pt>
                <c:pt idx="8">
                  <c:v>5.986</c:v>
                </c:pt>
                <c:pt idx="9">
                  <c:v>6.141</c:v>
                </c:pt>
                <c:pt idx="10">
                  <c:v>6.381</c:v>
                </c:pt>
                <c:pt idx="11">
                  <c:v>6.571</c:v>
                </c:pt>
                <c:pt idx="12">
                  <c:v>6.52</c:v>
                </c:pt>
                <c:pt idx="13">
                  <c:v>6.417</c:v>
                </c:pt>
                <c:pt idx="14">
                  <c:v>6.47</c:v>
                </c:pt>
                <c:pt idx="15">
                  <c:v>6.268</c:v>
                </c:pt>
                <c:pt idx="16">
                  <c:v>6.376</c:v>
                </c:pt>
                <c:pt idx="17">
                  <c:v>6.412</c:v>
                </c:pt>
                <c:pt idx="18">
                  <c:v>6.475</c:v>
                </c:pt>
                <c:pt idx="19">
                  <c:v>6.498</c:v>
                </c:pt>
                <c:pt idx="20">
                  <c:v>6.545</c:v>
                </c:pt>
                <c:pt idx="21">
                  <c:v>6.101</c:v>
                </c:pt>
                <c:pt idx="22">
                  <c:v>5.426</c:v>
                </c:pt>
                <c:pt idx="23">
                  <c:v>5.426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Ideal</c:v>
                </c:pt>
              </c:strCache>
            </c:strRef>
          </c:tx>
          <c:spPr>
            <a:solidFill>
              <a:srgbClr val="BBBBBB"/>
            </a:solidFill>
            <a:ln w="317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Number of MPI Processes (P)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Speedup  S(P)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BFF"/>
        </a:solidFill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Measured T(P)/T(1)</c:v>
                </c:pt>
              </c:strCache>
            </c:strRef>
          </c:tx>
          <c:spPr>
            <a:solidFill>
              <a:srgbClr val="3A86FF"/>
            </a:solidFill>
            <a:ln w="31750" cap="flat">
              <a:solidFill>
                <a:srgbClr val="3A86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A86FF"/>
              </a:solidFill>
              <a:ln w="9525" cap="flat">
                <a:solidFill>
                  <a:srgbClr val="3A86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</c:v>
                </c:pt>
                <c:pt idx="1">
                  <c:v>2.867</c:v>
                </c:pt>
                <c:pt idx="2">
                  <c:v>4.616</c:v>
                </c:pt>
                <c:pt idx="3">
                  <c:v>5.988</c:v>
                </c:pt>
                <c:pt idx="4">
                  <c:v>7.519</c:v>
                </c:pt>
                <c:pt idx="5">
                  <c:v>8.872</c:v>
                </c:pt>
                <c:pt idx="6">
                  <c:v>10.58</c:v>
                </c:pt>
                <c:pt idx="7">
                  <c:v>12.118</c:v>
                </c:pt>
                <c:pt idx="8">
                  <c:v>13.658</c:v>
                </c:pt>
                <c:pt idx="9">
                  <c:v>15.507</c:v>
                </c:pt>
                <c:pt idx="10">
                  <c:v>14.018</c:v>
                </c:pt>
                <c:pt idx="11">
                  <c:v>15.041</c:v>
                </c:pt>
                <c:pt idx="12">
                  <c:v>16.203</c:v>
                </c:pt>
                <c:pt idx="13">
                  <c:v>17.22</c:v>
                </c:pt>
                <c:pt idx="14">
                  <c:v>18.342</c:v>
                </c:pt>
                <c:pt idx="15">
                  <c:v>30.811</c:v>
                </c:pt>
                <c:pt idx="16">
                  <c:v>20.59</c:v>
                </c:pt>
                <c:pt idx="17">
                  <c:v>21.694</c:v>
                </c:pt>
                <c:pt idx="18">
                  <c:v>22.861</c:v>
                </c:pt>
                <c:pt idx="19">
                  <c:v>24.925</c:v>
                </c:pt>
                <c:pt idx="20">
                  <c:v>27.774</c:v>
                </c:pt>
                <c:pt idx="21">
                  <c:v>29.554</c:v>
                </c:pt>
                <c:pt idx="22">
                  <c:v>31.61</c:v>
                </c:pt>
                <c:pt idx="23">
                  <c:v>32.627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O(P) growth</c:v>
                </c:pt>
              </c:strCache>
            </c:strRef>
          </c:tx>
          <c:spPr>
            <a:solidFill>
              <a:srgbClr val="EF4444"/>
            </a:solidFill>
            <a:ln w="31750" cap="flat">
              <a:solidFill>
                <a:srgbClr val="EF444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Number of MPI Processes (P)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Normalized Time  T(P)/T(1)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BFF"/>
        </a:solidFill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91440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0" y="18288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0" y="73152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0" y="13716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0" y="45720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0" y="100584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438912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457200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420624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475488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448056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93776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256032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0" y="201168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0040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" y="2743200"/>
            <a:ext cx="54864" cy="5486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0" y="274320"/>
            <a:ext cx="4114800" cy="4114800"/>
          </a:xfrm>
          <a:prstGeom prst="ellipse">
            <a:avLst/>
          </a:prstGeom>
          <a:ln w="19050">
            <a:solidFill>
              <a:srgbClr val="3A86FF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72400" y="457200"/>
            <a:ext cx="228600" cy="228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828800"/>
            <a:ext cx="137160" cy="13716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N-body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457200" y="1783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Gravitational Simulation</a:t>
            </a:r>
            <a:endParaRPr lang="en-US" sz="3800" dirty="0"/>
          </a:p>
        </p:txBody>
      </p:sp>
      <p:sp>
        <p:nvSpPr>
          <p:cNvPr id="24" name="Shape 22"/>
          <p:cNvSpPr/>
          <p:nvPr/>
        </p:nvSpPr>
        <p:spPr>
          <a:xfrm>
            <a:off x="457200" y="2788920"/>
            <a:ext cx="32004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97180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Balbale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CPSC 375: High-Performance Computing
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Peter Yoon  |  May 7, 2026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526280"/>
            <a:ext cx="521208" cy="320040"/>
          </a:xfrm>
          <a:prstGeom prst="roundRect">
            <a:avLst>
              <a:gd name="adj" fmla="val 14286"/>
            </a:avLst>
          </a:prstGeom>
          <a:solidFill>
            <a:srgbClr val="1C3A6E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526280"/>
            <a:ext cx="5212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88136" y="4526280"/>
            <a:ext cx="1261872" cy="320040"/>
          </a:xfrm>
          <a:prstGeom prst="roundRect">
            <a:avLst>
              <a:gd name="adj" fmla="val 14286"/>
            </a:avLst>
          </a:prstGeom>
          <a:solidFill>
            <a:srgbClr val="1C3A6E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88136" y="4526280"/>
            <a:ext cx="1261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Leapfrog KDK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59736" y="4526280"/>
            <a:ext cx="685800" cy="320040"/>
          </a:xfrm>
          <a:prstGeom prst="roundRect">
            <a:avLst>
              <a:gd name="adj" fmla="val 14286"/>
            </a:avLst>
          </a:prstGeom>
          <a:solidFill>
            <a:srgbClr val="1C3A6E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59736" y="452628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55264" y="4526280"/>
            <a:ext cx="685800" cy="320040"/>
          </a:xfrm>
          <a:prstGeom prst="roundRect">
            <a:avLst>
              <a:gd name="adj" fmla="val 14286"/>
            </a:avLst>
          </a:prstGeom>
          <a:solidFill>
            <a:srgbClr val="1C3A6E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55264" y="452628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050792" y="4526280"/>
            <a:ext cx="1920240" cy="320040"/>
          </a:xfrm>
          <a:prstGeom prst="roundRect">
            <a:avLst>
              <a:gd name="adj" fmla="val 14286"/>
            </a:avLst>
          </a:prstGeom>
          <a:solidFill>
            <a:srgbClr val="1C3A6E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50792" y="4526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Idiots Cluster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N-body Gravitational Simulation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120640" cy="804672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64008" cy="80467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538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7099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N particles moving under mutual gravitational attraction — each particle exerts force on every other. Classic in astrophysics: galaxy dynamics, planetary systems, dark matter halos.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5120640" cy="804672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31720"/>
            <a:ext cx="64008" cy="80467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682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Challenge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6243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Naïve all-pairs force evaluation is O(N²) per timestep. At N = 9,600 and 10 steps, a serial run takes ~1 second. Scaling to millions of particles requires parallelism.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46120"/>
            <a:ext cx="5120640" cy="804672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246120"/>
            <a:ext cx="64008" cy="80467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826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MPI?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5387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memory across cluster nodes. Distributed-memory parallelism via MPI lets us exploit all 3 nodes and 24 cores of the Three Idiots cluster simultaneously.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760720" y="1417320"/>
            <a:ext cx="3017520" cy="1737360"/>
          </a:xfrm>
          <a:prstGeom prst="rect">
            <a:avLst/>
          </a:prstGeom>
          <a:solidFill>
            <a:srgbClr val="0D1B2A"/>
          </a:solidFill>
          <a:ln w="12700">
            <a:solidFill>
              <a:srgbClr val="1621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0" y="14813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Softened Force Law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17830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Fᵢⱼ = G·mⱼ·(rⱼ − rᵢ)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52160" y="21031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(|rⱼ − rᵢ|² + ε²)³⁄²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52160" y="2468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0.05  (Plummer softening)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852160" y="26974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1.0  (N-body units)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760720" y="3337560"/>
            <a:ext cx="941832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760720" y="3401568"/>
            <a:ext cx="941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9,600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760720" y="3794760"/>
            <a:ext cx="941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particles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66560" y="3337560"/>
            <a:ext cx="941832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766560" y="3401568"/>
            <a:ext cx="941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766560" y="3794760"/>
            <a:ext cx="941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timestep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772400" y="3337560"/>
            <a:ext cx="941832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772400" y="3401568"/>
            <a:ext cx="941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772400" y="3794760"/>
            <a:ext cx="941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cores total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&amp; Parallel Design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Leapfrog (KDK) Integration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09928"/>
            <a:ext cx="292608" cy="292608"/>
          </a:xfrm>
          <a:prstGeom prst="ellipse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7099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1709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Half-kick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12848" y="17099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+= (F/m)·Δt/2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2064" y="2002536"/>
            <a:ext cx="0" cy="155448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176272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1762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21762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12848" y="21762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+= v·Δt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2064" y="2468880"/>
            <a:ext cx="0" cy="155448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642616"/>
            <a:ext cx="292608" cy="29260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426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" y="26426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Allgatherv×3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2848" y="264261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all positions across P ranks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12064" y="2935224"/>
            <a:ext cx="0" cy="155448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108960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1089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9808" y="31089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eval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12848" y="3108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G·Σ mⱼ·(rⱼ−rᵢ) / (r²+ε²)^{3/2}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12064" y="3401568"/>
            <a:ext cx="0" cy="155448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575304"/>
            <a:ext cx="292608" cy="292608"/>
          </a:xfrm>
          <a:prstGeom prst="ellipse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575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" y="35753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Half-kick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12848" y="35753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+= (F/m)·Δt/2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0" y="12984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Decomposition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0" y="1691640"/>
            <a:ext cx="1005840" cy="34747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16916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1691640"/>
            <a:ext cx="2286000" cy="347472"/>
          </a:xfrm>
          <a:prstGeom prst="rect">
            <a:avLst/>
          </a:prstGeom>
          <a:solidFill>
            <a:srgbClr val="EEF3FF"/>
          </a:solidFill>
          <a:ln w="19050">
            <a:solidFill>
              <a:srgbClr val="3A8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16916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[0·N/P … 1·N/P)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001000" y="16916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local forces ⟶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0" y="2194560"/>
            <a:ext cx="1005840" cy="3474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219456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1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69280" y="2194560"/>
            <a:ext cx="2286000" cy="347472"/>
          </a:xfrm>
          <a:prstGeom prst="rect">
            <a:avLst/>
          </a:prstGeom>
          <a:solidFill>
            <a:srgbClr val="EEF3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21945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[1·N/P … 2·N/P)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001000" y="219456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local forces ⟶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0" y="2697480"/>
            <a:ext cx="1005840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0" y="26974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2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669280" y="2697480"/>
            <a:ext cx="2286000" cy="347472"/>
          </a:xfrm>
          <a:prstGeom prst="rect">
            <a:avLst/>
          </a:prstGeom>
          <a:solidFill>
            <a:srgbClr val="EEF3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26974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[2·N/P … 3·N/P)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00100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local forces ⟶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72000" y="3200400"/>
            <a:ext cx="1005840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0" y="320040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3 … P-1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669280" y="3200400"/>
            <a:ext cx="2286000" cy="347472"/>
          </a:xfrm>
          <a:prstGeom prst="rect">
            <a:avLst/>
          </a:prstGeom>
          <a:solidFill>
            <a:srgbClr val="EEF3FF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69280" y="32004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[3·N/P … 4·N/P)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001000" y="32004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local forces ⟶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0" y="3749040"/>
            <a:ext cx="4206240" cy="685800"/>
          </a:xfrm>
          <a:prstGeom prst="rect">
            <a:avLst/>
          </a:prstGeom>
          <a:solidFill>
            <a:srgbClr val="0D1B2A"/>
          </a:solidFill>
          <a:ln w="19050">
            <a:solidFill>
              <a:srgbClr val="3A8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663440" y="3767328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 ×3  (x, y, z positions)
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collective calls per timestep  ·  O(N) data per call  ·  Δt = 0.01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Configuration &amp; Study Design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389888"/>
            <a:ext cx="2103120" cy="6858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89888"/>
            <a:ext cx="64008" cy="68580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Name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Idiots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78608" y="1389888"/>
            <a:ext cx="2103120" cy="6858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78608" y="1389888"/>
            <a:ext cx="64008" cy="6858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1444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15768" y="1691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185416"/>
            <a:ext cx="2103120" cy="6858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185416"/>
            <a:ext cx="64008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240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Cores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24871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MPI procs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78608" y="2185416"/>
            <a:ext cx="2103120" cy="6858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78608" y="2185416"/>
            <a:ext cx="64008" cy="6858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15768" y="2240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15768" y="24871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TCP/IP 10.0.0.0/24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2980944"/>
            <a:ext cx="2103120" cy="6858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980944"/>
            <a:ext cx="64008" cy="6858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035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2920" y="32826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SLURM + PMI2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578608" y="2980944"/>
            <a:ext cx="2103120" cy="68580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578608" y="2980944"/>
            <a:ext cx="64008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15768" y="3035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15768" y="32826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mpiicx -O3 -xHost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54880" y="13258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Studies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691640"/>
          <a:ext cx="4023360" cy="192024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(N)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×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4754880" y="3703320"/>
            <a:ext cx="4023360" cy="77724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4892040" y="3749040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
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trials per configuration  ·  median wall time reported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MPI_Wtime() brackets simulation loop only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42 for reproducibility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SCALING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S(P) = T(1) / T(P)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143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172200" y="1234440"/>
            <a:ext cx="2743200" cy="1024128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172200" y="1234440"/>
            <a:ext cx="64008" cy="10241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09360" y="1289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2,400  ·  P=8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309360" y="153619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1.92×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309360" y="183794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N²/P compute swamped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Allgatherv overhead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172200" y="2377440"/>
            <a:ext cx="2743200" cy="1024128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172200" y="2377440"/>
            <a:ext cx="64008" cy="1024128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09360" y="2432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4,800  ·  P=12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09360" y="267919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4.11×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309360" y="298094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speedup; comm still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manageable fraction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72200" y="3520440"/>
            <a:ext cx="2743200" cy="1024128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172200" y="3520440"/>
            <a:ext cx="64008" cy="10241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9,600  ·  P=12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09360" y="382219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6.57×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309360" y="4123944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N — best strong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efficiency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72200" y="4572000"/>
            <a:ext cx="274320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36208" y="45902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curves flatten at P &gt; 12 — communication overhead dominates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SCALING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Particles Per Process  ·  50 Timesteps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143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172200" y="1261872"/>
            <a:ext cx="2743200" cy="105156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172200" y="1261872"/>
            <a:ext cx="64008" cy="105156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09360" y="1316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Complexity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309360" y="15910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perfect weak scaling can't give constant time: each process computes O(N/P × N) = O(N) forces as N grows. Normalized time grows as O(P).</a:t>
            </a:r>
            <a:endParaRPr lang="en-US" sz="920" dirty="0"/>
          </a:p>
        </p:txBody>
      </p:sp>
      <p:sp>
        <p:nvSpPr>
          <p:cNvPr id="10" name="Shape 7"/>
          <p:cNvSpPr/>
          <p:nvPr/>
        </p:nvSpPr>
        <p:spPr>
          <a:xfrm>
            <a:off x="6172200" y="2432304"/>
            <a:ext cx="2743200" cy="105156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72200" y="2432304"/>
            <a:ext cx="64008" cy="1051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09360" y="24871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P=16 Anomaly  (1.70s)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3093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spike at P=16 aligns with crossing the 2-node TCP boundary. Buffer saturation on the inter-node fabric inflates Allgatherv latency ~2×.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6172200" y="3602736"/>
            <a:ext cx="2743200" cy="1051560"/>
          </a:xfrm>
          <a:prstGeom prst="rect">
            <a:avLst/>
          </a:prstGeom>
          <a:solidFill>
            <a:srgbClr val="EEF3FF"/>
          </a:solidFill>
          <a:ln w="12700">
            <a:solidFill>
              <a:srgbClr val="D0DE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3602736"/>
            <a:ext cx="64008" cy="10515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3657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P=11 Dip  (0.77s)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309360" y="39319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drop as SLURM packs rank assignment within one socket, reducing NUMA latency — disappears at P=12 when ranks spill across cores.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AMDAHL'S LAW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the Serial Bottleneck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4114800" cy="1097280"/>
          </a:xfrm>
          <a:prstGeom prst="rect">
            <a:avLst/>
          </a:prstGeom>
          <a:solidFill>
            <a:srgbClr val="0D1B2A"/>
          </a:solidFill>
          <a:ln w="25400">
            <a:solidFill>
              <a:srgbClr val="3A8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38988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S(P) =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3898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25880" y="1719072"/>
            <a:ext cx="2194560" cy="0"/>
          </a:xfrm>
          <a:prstGeom prst="line">
            <a:avLst/>
          </a:prstGeom>
          <a:noFill/>
          <a:ln w="19050">
            <a:solidFill>
              <a:srgbClr val="4CC9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25880" y="17556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 +  (1 − f) / 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serial fraction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51760"/>
          <a:ext cx="8412480" cy="214884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201168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Fraction  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Theoretical Max  1/f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Max (P=24)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2,400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1.5×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4,800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3.6×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9,600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6.7×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6.57×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65760" y="4773168"/>
            <a:ext cx="8412480" cy="347472"/>
          </a:xfrm>
          <a:prstGeom prst="rect">
            <a:avLst/>
          </a:prstGeom>
          <a:solidFill>
            <a:srgbClr val="EEF3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8231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larger N ↓ serial fraction — Allgatherv overhead is fixed cost amortized over more compute work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91440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0" y="18288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0" y="73152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0" y="13716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0" y="45720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0" y="100584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438912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457200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420624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475488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448056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93776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256032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0" y="201168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0040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3474720"/>
            <a:ext cx="45720" cy="457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Takeaways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457200" y="960120"/>
            <a:ext cx="27432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1143000"/>
            <a:ext cx="8229600" cy="804672"/>
          </a:xfrm>
          <a:prstGeom prst="rect">
            <a:avLst/>
          </a:prstGeom>
          <a:solidFill>
            <a:srgbClr val="132035"/>
          </a:solidFill>
          <a:ln w="12700">
            <a:solidFill>
              <a:srgbClr val="2A3F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1143000"/>
            <a:ext cx="64008" cy="80467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1316736"/>
            <a:ext cx="411480" cy="411480"/>
          </a:xfrm>
          <a:prstGeom prst="ellipse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13167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43000" y="1207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Scaling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43000" y="1481328"/>
            <a:ext cx="7388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plateaus at P ≈ 12 for all N. Larger problem sizes achieve better peak speedup: 6.57× at N=9,600 vs. only 1.92× at N=2,400.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048256"/>
            <a:ext cx="8229600" cy="804672"/>
          </a:xfrm>
          <a:prstGeom prst="rect">
            <a:avLst/>
          </a:prstGeom>
          <a:solidFill>
            <a:srgbClr val="132035"/>
          </a:solidFill>
          <a:ln w="12700">
            <a:solidFill>
              <a:srgbClr val="2A3F5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048256"/>
            <a:ext cx="64008" cy="804672"/>
          </a:xfrm>
          <a:prstGeom prst="rect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" y="2221992"/>
            <a:ext cx="411480" cy="4114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2221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3000" y="21122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Scaling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43000" y="2386584"/>
            <a:ext cx="7388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time grows super-linearly with P due to O(N²) complexity. Three Allgatherv calls per step scale as O(P) communication overhead.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2953512"/>
            <a:ext cx="8229600" cy="804672"/>
          </a:xfrm>
          <a:prstGeom prst="rect">
            <a:avLst/>
          </a:prstGeom>
          <a:solidFill>
            <a:srgbClr val="132035"/>
          </a:solidFill>
          <a:ln w="12700">
            <a:solidFill>
              <a:srgbClr val="2A3F5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2953512"/>
            <a:ext cx="64008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3127248"/>
            <a:ext cx="411480" cy="4114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31272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430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Amdahl's Law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43000" y="3291840"/>
            <a:ext cx="7388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fraction drops from 68% to 15% as N quadruples — the 3×Allgatherv fixed cost is amortized over more O(N²) compute.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3858768"/>
            <a:ext cx="8229600" cy="804672"/>
          </a:xfrm>
          <a:prstGeom prst="rect">
            <a:avLst/>
          </a:prstGeom>
          <a:solidFill>
            <a:srgbClr val="132035"/>
          </a:solidFill>
          <a:ln w="12700">
            <a:solidFill>
              <a:srgbClr val="2A3F5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858768"/>
            <a:ext cx="64008" cy="8046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" y="4032504"/>
            <a:ext cx="411480" cy="4114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" y="403250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43000" y="39227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P=16 Anomaly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43000" y="4197096"/>
            <a:ext cx="7388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2× spike in weak scaling at P=16 — attributed to inter-node TCP buffer saturation when ranks span all three nodes.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replace 3×Allgatherv with ring-pass ghost exchange → O(N/P) comm instead of O(N)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Parallel N-body Gravitational Simulation</dc:title>
  <dc:subject>PptxGenJS Presentation</dc:subject>
  <dc:creator>Sean Balbale</dc:creator>
  <cp:lastModifiedBy>Sean Balbale</cp:lastModifiedBy>
  <cp:revision>1</cp:revision>
  <dcterms:created xsi:type="dcterms:W3CDTF">2026-05-04T14:53:34Z</dcterms:created>
  <dcterms:modified xsi:type="dcterms:W3CDTF">2026-05-04T14:53:34Z</dcterms:modified>
</cp:coreProperties>
</file>