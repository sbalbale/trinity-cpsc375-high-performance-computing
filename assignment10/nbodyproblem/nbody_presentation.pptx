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72" r:id="rId2"/>
    <p:sldId id="273" r:id="rId3"/>
    <p:sldId id="274" r:id="rId4"/>
    <p:sldId id="275" r:id="rId5"/>
    <p:sldId id="276" r:id="rId6"/>
    <p:sldId id="277" r:id="rId7"/>
    <p:sldId id="278" r:id="rId8"/>
    <p:sldId id="279"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8753" autoAdjust="0"/>
  </p:normalViewPr>
  <p:slideViewPr>
    <p:cSldViewPr snapToGrid="0" snapToObjects="1">
      <p:cViewPr varScale="1">
        <p:scale>
          <a:sx n="132" d="100"/>
          <a:sy n="132" d="100"/>
        </p:scale>
        <p:origin x="101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lineChart>
        <c:grouping val="standard"/>
        <c:varyColors val="0"/>
        <c:ser>
          <c:idx val="0"/>
          <c:order val="0"/>
          <c:tx>
            <c:strRef>
              <c:f>Sheet1!$B$1</c:f>
              <c:strCache>
                <c:ptCount val="1"/>
                <c:pt idx="0">
                  <c:v>N=2,400</c:v>
                </c:pt>
              </c:strCache>
            </c:strRef>
          </c:tx>
          <c:spPr>
            <a:ln w="31750" cap="flat">
              <a:solidFill>
                <a:srgbClr val="F4A261"/>
              </a:solidFill>
              <a:prstDash val="solid"/>
              <a:round/>
            </a:ln>
            <a:effectLst/>
          </c:spPr>
          <c:marker>
            <c:symbol val="circle"/>
            <c:size val="6"/>
            <c:spPr>
              <a:solidFill>
                <a:srgbClr val="F4A261"/>
              </a:solidFill>
              <a:ln w="9525" cap="flat">
                <a:solidFill>
                  <a:srgbClr val="F4A261"/>
                </a:solidFill>
                <a:prstDash val="solid"/>
                <a:round/>
              </a:ln>
              <a:effectLst/>
            </c:spPr>
          </c:marker>
          <c:cat>
            <c:strRef>
              <c:f>Sheet1!$A$2:$A$25</c:f>
              <c:strCache>
                <c:ptCount val="2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strCache>
            </c:strRef>
          </c:cat>
          <c:val>
            <c:numRef>
              <c:f>Sheet1!$B$2:$B$25</c:f>
              <c:numCache>
                <c:formatCode>General</c:formatCode>
                <c:ptCount val="24"/>
                <c:pt idx="0">
                  <c:v>1</c:v>
                </c:pt>
                <c:pt idx="1">
                  <c:v>1.522</c:v>
                </c:pt>
                <c:pt idx="2">
                  <c:v>1.6220000000000001</c:v>
                </c:pt>
                <c:pt idx="3">
                  <c:v>1.895</c:v>
                </c:pt>
                <c:pt idx="4">
                  <c:v>1.8340000000000001</c:v>
                </c:pt>
                <c:pt idx="5">
                  <c:v>1.7989999999999999</c:v>
                </c:pt>
                <c:pt idx="6">
                  <c:v>1.6659999999999999</c:v>
                </c:pt>
                <c:pt idx="7">
                  <c:v>1.919</c:v>
                </c:pt>
                <c:pt idx="8">
                  <c:v>1.712</c:v>
                </c:pt>
                <c:pt idx="9">
                  <c:v>1.718</c:v>
                </c:pt>
                <c:pt idx="10">
                  <c:v>1.639</c:v>
                </c:pt>
                <c:pt idx="11">
                  <c:v>1.712</c:v>
                </c:pt>
                <c:pt idx="12">
                  <c:v>1.5920000000000001</c:v>
                </c:pt>
                <c:pt idx="13">
                  <c:v>1.5720000000000001</c:v>
                </c:pt>
                <c:pt idx="14">
                  <c:v>1.657</c:v>
                </c:pt>
                <c:pt idx="15">
                  <c:v>1.534</c:v>
                </c:pt>
                <c:pt idx="16">
                  <c:v>1.575</c:v>
                </c:pt>
                <c:pt idx="17">
                  <c:v>1.5629999999999999</c:v>
                </c:pt>
                <c:pt idx="18">
                  <c:v>1.502</c:v>
                </c:pt>
                <c:pt idx="19">
                  <c:v>1.4039999999999999</c:v>
                </c:pt>
                <c:pt idx="20">
                  <c:v>1.38</c:v>
                </c:pt>
                <c:pt idx="21">
                  <c:v>1.36</c:v>
                </c:pt>
                <c:pt idx="22">
                  <c:v>1.4079999999999999</c:v>
                </c:pt>
                <c:pt idx="23">
                  <c:v>1.444</c:v>
                </c:pt>
              </c:numCache>
            </c:numRef>
          </c:val>
          <c:smooth val="0"/>
          <c:extLst>
            <c:ext xmlns:c16="http://schemas.microsoft.com/office/drawing/2014/chart" uri="{C3380CC4-5D6E-409C-BE32-E72D297353CC}">
              <c16:uniqueId val="{00000000-BED2-4406-A1F7-14A567CEC1BC}"/>
            </c:ext>
          </c:extLst>
        </c:ser>
        <c:ser>
          <c:idx val="1"/>
          <c:order val="1"/>
          <c:tx>
            <c:strRef>
              <c:f>Sheet1!$C$1</c:f>
              <c:strCache>
                <c:ptCount val="1"/>
                <c:pt idx="0">
                  <c:v>N=4,800</c:v>
                </c:pt>
              </c:strCache>
            </c:strRef>
          </c:tx>
          <c:spPr>
            <a:ln w="31750" cap="flat">
              <a:solidFill>
                <a:srgbClr val="3A86FF"/>
              </a:solidFill>
              <a:prstDash val="solid"/>
              <a:round/>
            </a:ln>
            <a:effectLst/>
          </c:spPr>
          <c:marker>
            <c:symbol val="circle"/>
            <c:size val="6"/>
            <c:spPr>
              <a:solidFill>
                <a:srgbClr val="3A86FF"/>
              </a:solidFill>
              <a:ln w="9525" cap="flat">
                <a:solidFill>
                  <a:srgbClr val="3A86FF"/>
                </a:solidFill>
                <a:prstDash val="solid"/>
                <a:round/>
              </a:ln>
              <a:effectLst/>
            </c:spPr>
          </c:marker>
          <c:cat>
            <c:strRef>
              <c:f>Sheet1!$A$2:$A$25</c:f>
              <c:strCache>
                <c:ptCount val="2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strCache>
            </c:strRef>
          </c:cat>
          <c:val>
            <c:numRef>
              <c:f>Sheet1!$C$2:$C$25</c:f>
              <c:numCache>
                <c:formatCode>General</c:formatCode>
                <c:ptCount val="24"/>
                <c:pt idx="0">
                  <c:v>1</c:v>
                </c:pt>
                <c:pt idx="1">
                  <c:v>1.831</c:v>
                </c:pt>
                <c:pt idx="2">
                  <c:v>2.3740000000000001</c:v>
                </c:pt>
                <c:pt idx="3">
                  <c:v>2.8839999999999999</c:v>
                </c:pt>
                <c:pt idx="4">
                  <c:v>3.1840000000000002</c:v>
                </c:pt>
                <c:pt idx="5">
                  <c:v>3.4870000000000001</c:v>
                </c:pt>
                <c:pt idx="6">
                  <c:v>3.5649999999999999</c:v>
                </c:pt>
                <c:pt idx="7">
                  <c:v>3.835</c:v>
                </c:pt>
                <c:pt idx="8">
                  <c:v>3.7389999999999999</c:v>
                </c:pt>
                <c:pt idx="9">
                  <c:v>3.823</c:v>
                </c:pt>
                <c:pt idx="10">
                  <c:v>3.9239999999999999</c:v>
                </c:pt>
                <c:pt idx="11">
                  <c:v>4.1120000000000001</c:v>
                </c:pt>
                <c:pt idx="12">
                  <c:v>3.7770000000000001</c:v>
                </c:pt>
                <c:pt idx="13">
                  <c:v>3.65</c:v>
                </c:pt>
                <c:pt idx="14">
                  <c:v>3.835</c:v>
                </c:pt>
                <c:pt idx="15">
                  <c:v>3.5489999999999999</c:v>
                </c:pt>
                <c:pt idx="16">
                  <c:v>3.601</c:v>
                </c:pt>
                <c:pt idx="17">
                  <c:v>3.7309999999999999</c:v>
                </c:pt>
                <c:pt idx="18">
                  <c:v>3.4870000000000001</c:v>
                </c:pt>
                <c:pt idx="19">
                  <c:v>3.472</c:v>
                </c:pt>
                <c:pt idx="20">
                  <c:v>3.456</c:v>
                </c:pt>
                <c:pt idx="21">
                  <c:v>3.3879999999999999</c:v>
                </c:pt>
                <c:pt idx="22">
                  <c:v>3.28</c:v>
                </c:pt>
                <c:pt idx="23">
                  <c:v>3.2090000000000001</c:v>
                </c:pt>
              </c:numCache>
            </c:numRef>
          </c:val>
          <c:smooth val="0"/>
          <c:extLst>
            <c:ext xmlns:c16="http://schemas.microsoft.com/office/drawing/2014/chart" uri="{C3380CC4-5D6E-409C-BE32-E72D297353CC}">
              <c16:uniqueId val="{00000001-BED2-4406-A1F7-14A567CEC1BC}"/>
            </c:ext>
          </c:extLst>
        </c:ser>
        <c:ser>
          <c:idx val="2"/>
          <c:order val="2"/>
          <c:tx>
            <c:strRef>
              <c:f>Sheet1!$D$1</c:f>
              <c:strCache>
                <c:ptCount val="1"/>
                <c:pt idx="0">
                  <c:v>N=9,600</c:v>
                </c:pt>
              </c:strCache>
            </c:strRef>
          </c:tx>
          <c:spPr>
            <a:ln w="31750" cap="flat">
              <a:solidFill>
                <a:srgbClr val="10B981"/>
              </a:solidFill>
              <a:prstDash val="solid"/>
              <a:round/>
            </a:ln>
            <a:effectLst/>
          </c:spPr>
          <c:marker>
            <c:symbol val="circle"/>
            <c:size val="6"/>
            <c:spPr>
              <a:solidFill>
                <a:srgbClr val="10B981"/>
              </a:solidFill>
              <a:ln w="9525" cap="flat">
                <a:solidFill>
                  <a:srgbClr val="10B981"/>
                </a:solidFill>
                <a:prstDash val="solid"/>
                <a:round/>
              </a:ln>
              <a:effectLst/>
            </c:spPr>
          </c:marker>
          <c:cat>
            <c:strRef>
              <c:f>Sheet1!$A$2:$A$25</c:f>
              <c:strCache>
                <c:ptCount val="2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strCache>
            </c:strRef>
          </c:cat>
          <c:val>
            <c:numRef>
              <c:f>Sheet1!$D$2:$D$25</c:f>
              <c:numCache>
                <c:formatCode>General</c:formatCode>
                <c:ptCount val="24"/>
                <c:pt idx="0">
                  <c:v>1</c:v>
                </c:pt>
                <c:pt idx="1">
                  <c:v>1.9370000000000001</c:v>
                </c:pt>
                <c:pt idx="2">
                  <c:v>2.7749999999999999</c:v>
                </c:pt>
                <c:pt idx="3">
                  <c:v>3.5150000000000001</c:v>
                </c:pt>
                <c:pt idx="4">
                  <c:v>4.181</c:v>
                </c:pt>
                <c:pt idx="5">
                  <c:v>4.76</c:v>
                </c:pt>
                <c:pt idx="6">
                  <c:v>5.1289999999999996</c:v>
                </c:pt>
                <c:pt idx="7">
                  <c:v>5.5259999999999998</c:v>
                </c:pt>
                <c:pt idx="8">
                  <c:v>5.9859999999999998</c:v>
                </c:pt>
                <c:pt idx="9">
                  <c:v>6.141</c:v>
                </c:pt>
                <c:pt idx="10">
                  <c:v>6.3810000000000002</c:v>
                </c:pt>
                <c:pt idx="11">
                  <c:v>6.5709999999999997</c:v>
                </c:pt>
                <c:pt idx="12">
                  <c:v>6.52</c:v>
                </c:pt>
                <c:pt idx="13">
                  <c:v>6.4169999999999998</c:v>
                </c:pt>
                <c:pt idx="14">
                  <c:v>6.47</c:v>
                </c:pt>
                <c:pt idx="15">
                  <c:v>6.2679999999999998</c:v>
                </c:pt>
                <c:pt idx="16">
                  <c:v>6.3760000000000003</c:v>
                </c:pt>
                <c:pt idx="17">
                  <c:v>6.4119999999999999</c:v>
                </c:pt>
                <c:pt idx="18">
                  <c:v>6.4749999999999996</c:v>
                </c:pt>
                <c:pt idx="19">
                  <c:v>6.4980000000000002</c:v>
                </c:pt>
                <c:pt idx="20">
                  <c:v>6.5449999999999999</c:v>
                </c:pt>
                <c:pt idx="21">
                  <c:v>6.101</c:v>
                </c:pt>
                <c:pt idx="22">
                  <c:v>5.4260000000000002</c:v>
                </c:pt>
                <c:pt idx="23">
                  <c:v>5.4260000000000002</c:v>
                </c:pt>
              </c:numCache>
            </c:numRef>
          </c:val>
          <c:smooth val="0"/>
          <c:extLst>
            <c:ext xmlns:c16="http://schemas.microsoft.com/office/drawing/2014/chart" uri="{C3380CC4-5D6E-409C-BE32-E72D297353CC}">
              <c16:uniqueId val="{00000002-BED2-4406-A1F7-14A567CEC1BC}"/>
            </c:ext>
          </c:extLst>
        </c:ser>
        <c:ser>
          <c:idx val="3"/>
          <c:order val="3"/>
          <c:tx>
            <c:strRef>
              <c:f>Sheet1!$E$1</c:f>
              <c:strCache>
                <c:ptCount val="1"/>
                <c:pt idx="0">
                  <c:v>Ideal</c:v>
                </c:pt>
              </c:strCache>
            </c:strRef>
          </c:tx>
          <c:spPr>
            <a:ln w="31750" cap="flat">
              <a:solidFill>
                <a:srgbClr val="BBBBBB"/>
              </a:solidFill>
              <a:prstDash val="solid"/>
              <a:round/>
            </a:ln>
            <a:effectLst/>
          </c:spPr>
          <c:marker>
            <c:symbol val="circle"/>
            <c:size val="6"/>
            <c:spPr>
              <a:solidFill>
                <a:srgbClr val="BBBBBB"/>
              </a:solidFill>
              <a:ln w="9525" cap="flat">
                <a:solidFill>
                  <a:srgbClr val="BBBBBB"/>
                </a:solidFill>
                <a:prstDash val="solid"/>
                <a:round/>
              </a:ln>
              <a:effectLst/>
            </c:spPr>
          </c:marker>
          <c:cat>
            <c:strRef>
              <c:f>Sheet1!$A$2:$A$25</c:f>
              <c:strCache>
                <c:ptCount val="2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strCache>
            </c:strRef>
          </c:cat>
          <c:val>
            <c:numRef>
              <c:f>Sheet1!$E$2:$E$25</c:f>
              <c:numCache>
                <c:formatCode>General</c:formatCode>
                <c:ptCount val="2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numCache>
            </c:numRef>
          </c:val>
          <c:smooth val="0"/>
          <c:extLst>
            <c:ext xmlns:c16="http://schemas.microsoft.com/office/drawing/2014/chart" uri="{C3380CC4-5D6E-409C-BE32-E72D297353CC}">
              <c16:uniqueId val="{00000003-BED2-4406-A1F7-14A567CEC1B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b="0" i="0" u="none" strike="noStrike">
                    <a:solidFill>
                      <a:srgbClr val="000000"/>
                    </a:solidFill>
                    <a:latin typeface="Arial"/>
                  </a:defRPr>
                </a:pPr>
                <a:r>
                  <a:rPr lang="en-US" b="0" i="0" u="none" strike="noStrike">
                    <a:solidFill>
                      <a:srgbClr val="000000"/>
                    </a:solidFill>
                    <a:latin typeface="Arial"/>
                  </a:rPr>
                  <a:t>Number of MPI Processes (P)</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max val="25"/>
        </c:scaling>
        <c:delete val="0"/>
        <c:axPos val="l"/>
        <c:majorGridlines>
          <c:spPr>
            <a:ln w="6350" cap="flat">
              <a:solidFill>
                <a:srgbClr val="E2E8F0"/>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Speedup  S(P)</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solidFill>
          <a:srgbClr val="F8FBFF"/>
        </a:solid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Measured T(P)/T(1)</c:v>
                </c:pt>
              </c:strCache>
            </c:strRef>
          </c:tx>
          <c:spPr>
            <a:ln w="31750" cap="flat">
              <a:solidFill>
                <a:srgbClr val="3A86FF"/>
              </a:solidFill>
              <a:prstDash val="solid"/>
              <a:round/>
            </a:ln>
            <a:effectLst/>
          </c:spPr>
          <c:marker>
            <c:symbol val="circle"/>
            <c:size val="6"/>
            <c:spPr>
              <a:solidFill>
                <a:srgbClr val="3A86FF"/>
              </a:solidFill>
              <a:ln w="9525" cap="flat">
                <a:solidFill>
                  <a:srgbClr val="3A86FF"/>
                </a:solidFill>
                <a:prstDash val="solid"/>
                <a:round/>
              </a:ln>
              <a:effectLst/>
            </c:spPr>
          </c:marker>
          <c:cat>
            <c:strRef>
              <c:f>Sheet1!$A$2:$A$25</c:f>
              <c:strCache>
                <c:ptCount val="2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strCache>
            </c:strRef>
          </c:cat>
          <c:val>
            <c:numRef>
              <c:f>Sheet1!$B$2:$B$25</c:f>
              <c:numCache>
                <c:formatCode>General</c:formatCode>
                <c:ptCount val="24"/>
                <c:pt idx="0">
                  <c:v>1</c:v>
                </c:pt>
                <c:pt idx="1">
                  <c:v>2.867</c:v>
                </c:pt>
                <c:pt idx="2">
                  <c:v>4.6159999999999997</c:v>
                </c:pt>
                <c:pt idx="3">
                  <c:v>5.9880000000000004</c:v>
                </c:pt>
                <c:pt idx="4">
                  <c:v>7.5190000000000001</c:v>
                </c:pt>
                <c:pt idx="5">
                  <c:v>8.8719999999999999</c:v>
                </c:pt>
                <c:pt idx="6">
                  <c:v>10.58</c:v>
                </c:pt>
                <c:pt idx="7">
                  <c:v>12.118</c:v>
                </c:pt>
                <c:pt idx="8">
                  <c:v>13.657999999999999</c:v>
                </c:pt>
                <c:pt idx="9">
                  <c:v>15.507</c:v>
                </c:pt>
                <c:pt idx="10">
                  <c:v>14.018000000000001</c:v>
                </c:pt>
                <c:pt idx="11">
                  <c:v>15.041</c:v>
                </c:pt>
                <c:pt idx="12">
                  <c:v>16.202999999999999</c:v>
                </c:pt>
                <c:pt idx="13">
                  <c:v>17.22</c:v>
                </c:pt>
                <c:pt idx="14">
                  <c:v>18.341999999999999</c:v>
                </c:pt>
                <c:pt idx="15">
                  <c:v>30.811</c:v>
                </c:pt>
                <c:pt idx="16">
                  <c:v>20.59</c:v>
                </c:pt>
                <c:pt idx="17">
                  <c:v>21.693999999999999</c:v>
                </c:pt>
                <c:pt idx="18">
                  <c:v>22.861000000000001</c:v>
                </c:pt>
                <c:pt idx="19">
                  <c:v>24.925000000000001</c:v>
                </c:pt>
                <c:pt idx="20">
                  <c:v>27.774000000000001</c:v>
                </c:pt>
                <c:pt idx="21">
                  <c:v>29.553999999999998</c:v>
                </c:pt>
                <c:pt idx="22">
                  <c:v>31.61</c:v>
                </c:pt>
                <c:pt idx="23">
                  <c:v>32.627000000000002</c:v>
                </c:pt>
              </c:numCache>
            </c:numRef>
          </c:val>
          <c:smooth val="0"/>
          <c:extLst>
            <c:ext xmlns:c16="http://schemas.microsoft.com/office/drawing/2014/chart" uri="{C3380CC4-5D6E-409C-BE32-E72D297353CC}">
              <c16:uniqueId val="{00000000-9F9F-46E1-BE39-7D2574B7FFFB}"/>
            </c:ext>
          </c:extLst>
        </c:ser>
        <c:ser>
          <c:idx val="1"/>
          <c:order val="1"/>
          <c:tx>
            <c:strRef>
              <c:f>Sheet1!$C$1</c:f>
              <c:strCache>
                <c:ptCount val="1"/>
                <c:pt idx="0">
                  <c:v>Expected O(P) growth</c:v>
                </c:pt>
              </c:strCache>
            </c:strRef>
          </c:tx>
          <c:spPr>
            <a:ln w="31750" cap="flat">
              <a:solidFill>
                <a:srgbClr val="EF4444"/>
              </a:solidFill>
              <a:prstDash val="solid"/>
              <a:round/>
            </a:ln>
            <a:effectLst/>
          </c:spPr>
          <c:marker>
            <c:symbol val="circle"/>
            <c:size val="6"/>
            <c:spPr>
              <a:solidFill>
                <a:srgbClr val="EF4444"/>
              </a:solidFill>
              <a:ln w="9525" cap="flat">
                <a:solidFill>
                  <a:srgbClr val="EF4444"/>
                </a:solidFill>
                <a:prstDash val="solid"/>
                <a:round/>
              </a:ln>
              <a:effectLst/>
            </c:spPr>
          </c:marker>
          <c:cat>
            <c:strRef>
              <c:f>Sheet1!$A$2:$A$25</c:f>
              <c:strCache>
                <c:ptCount val="2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strCache>
            </c:strRef>
          </c:cat>
          <c:val>
            <c:numRef>
              <c:f>Sheet1!$C$2:$C$25</c:f>
              <c:numCache>
                <c:formatCode>General</c:formatCode>
                <c:ptCount val="2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numCache>
            </c:numRef>
          </c:val>
          <c:smooth val="0"/>
          <c:extLst>
            <c:ext xmlns:c16="http://schemas.microsoft.com/office/drawing/2014/chart" uri="{C3380CC4-5D6E-409C-BE32-E72D297353CC}">
              <c16:uniqueId val="{00000001-9F9F-46E1-BE39-7D2574B7FFF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b="0" i="0" u="none" strike="noStrike">
                    <a:solidFill>
                      <a:srgbClr val="000000"/>
                    </a:solidFill>
                    <a:latin typeface="Arial"/>
                  </a:defRPr>
                </a:pPr>
                <a:r>
                  <a:rPr lang="en-US" b="0" i="0" u="none" strike="noStrike">
                    <a:solidFill>
                      <a:srgbClr val="000000"/>
                    </a:solidFill>
                    <a:latin typeface="Arial"/>
                  </a:rPr>
                  <a:t>Number of MPI Processes (P)</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Normalized Time  T(P)/T(1)</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solidFill>
          <a:srgbClr val="F8FBFF"/>
        </a:solid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3423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 N-body gravitational simulation is one of the oldest unsolved problems in computational physics — every particle attracts every other, and the math doesn't simplify. My goal was to take that inherently quadratic problem and distribute it across 24 MPI processes on our three-node cluster. What I built is a fully symmetric peer-to-peer decomposition using the leapfrog KDK integrator, and today I'll walk through the design, the scaling results, and what the data actually tells us about where the bottlenecks live.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 core challenge is straightforward to state: simulate N particles under mutual gravitational attraction. Each particle exerts a force on every other, so naïve all-pairs evaluation costs O(N²) per timestep. At N = 9,600 and 10 steps, a serial run on one core takes just over one second. That sounds fast — but it scales quadratically. Double N, and you quadruple the work.</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force law I implemented is the Plummer-softened form: the standard gravitational force, modified by adding a softening length ε = 0.05 to the denominator. That epsilon term prevents the force from blowing up when two particles get very close — a real numerical issue in direct N-body codes.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reason I chose MPI over threading is the cluster architecture. Three separate nodes with no shared memory means </a:t>
            </a:r>
            <a:r>
              <a:rPr lang="en-US" sz="1200" b="0" kern="1200" dirty="0" err="1">
                <a:solidFill>
                  <a:schemeClr val="tx1"/>
                </a:solidFill>
                <a:effectLst/>
                <a:latin typeface="+mn-lt"/>
                <a:ea typeface="+mn-ea"/>
                <a:cs typeface="+mn-cs"/>
              </a:rPr>
              <a:t>pthreads</a:t>
            </a:r>
            <a:r>
              <a:rPr lang="en-US" sz="1200" b="0" kern="1200" dirty="0">
                <a:solidFill>
                  <a:schemeClr val="tx1"/>
                </a:solidFill>
                <a:effectLst/>
                <a:latin typeface="+mn-lt"/>
                <a:ea typeface="+mn-ea"/>
                <a:cs typeface="+mn-cs"/>
              </a:rPr>
              <a:t> or OpenMP can only use one node at a time. MPI lets me distribute particles across all 24 cores simultaneously. The trade-off is that I now have to explicitly synchronize positions after every timestep — and that communication cost becomes the central story in the scaling results.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 integration scheme is leapfrog KDK — kick, drift, kick. Each timestep runs five stages: a velocity half-kick, a position drift, three `</a:t>
            </a:r>
            <a:r>
              <a:rPr lang="en-US" sz="1200" b="0" kern="1200" dirty="0" err="1">
                <a:solidFill>
                  <a:schemeClr val="tx1"/>
                </a:solidFill>
                <a:effectLst/>
                <a:latin typeface="+mn-lt"/>
                <a:ea typeface="+mn-ea"/>
                <a:cs typeface="+mn-cs"/>
              </a:rPr>
              <a:t>MPI_Allgatherv</a:t>
            </a:r>
            <a:r>
              <a:rPr lang="en-US" sz="1200" b="0" kern="1200" dirty="0">
                <a:solidFill>
                  <a:schemeClr val="tx1"/>
                </a:solidFill>
                <a:effectLst/>
                <a:latin typeface="+mn-lt"/>
                <a:ea typeface="+mn-ea"/>
                <a:cs typeface="+mn-cs"/>
              </a:rPr>
              <a:t>` calls to synchronize the updated positions across all ranks, a full force </a:t>
            </a:r>
            <a:r>
              <a:rPr lang="en-US" sz="1200" b="0" kern="1200" dirty="0" err="1">
                <a:solidFill>
                  <a:schemeClr val="tx1"/>
                </a:solidFill>
                <a:effectLst/>
                <a:latin typeface="+mn-lt"/>
                <a:ea typeface="+mn-ea"/>
                <a:cs typeface="+mn-cs"/>
              </a:rPr>
              <a:t>recomputation</a:t>
            </a:r>
            <a:r>
              <a:rPr lang="en-US" sz="1200" b="0" kern="1200" dirty="0">
                <a:solidFill>
                  <a:schemeClr val="tx1"/>
                </a:solidFill>
                <a:effectLst/>
                <a:latin typeface="+mn-lt"/>
                <a:ea typeface="+mn-ea"/>
                <a:cs typeface="+mn-cs"/>
              </a:rPr>
              <a:t>, and then a second velocity half-kick to complete the step.</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parallel decomposition is block-based. Each of the P ranks owns a contiguous slice of N/P particles. Rank r owns particles from index r·(N/P) through (r+1)·(N/P) − 1. Every rank computes the full O(N/P × N) force calculation for its local particles — that's the O(N²/P) kernel that actually scales.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synchronization step is the expensive part. After every drift, each rank updates only its own slice of the global position arrays. Then three `</a:t>
            </a:r>
            <a:r>
              <a:rPr lang="en-US" sz="1200" b="0" kern="1200" dirty="0" err="1">
                <a:solidFill>
                  <a:schemeClr val="tx1"/>
                </a:solidFill>
                <a:effectLst/>
                <a:latin typeface="+mn-lt"/>
                <a:ea typeface="+mn-ea"/>
                <a:cs typeface="+mn-cs"/>
              </a:rPr>
              <a:t>MPI_Allgatherv</a:t>
            </a:r>
            <a:r>
              <a:rPr lang="en-US" sz="1200" b="0" kern="1200" dirty="0">
                <a:solidFill>
                  <a:schemeClr val="tx1"/>
                </a:solidFill>
                <a:effectLst/>
                <a:latin typeface="+mn-lt"/>
                <a:ea typeface="+mn-ea"/>
                <a:cs typeface="+mn-cs"/>
              </a:rPr>
              <a:t>` calls — one each for x, y, and z — broadcast every rank's updated positions to everyone else. That's O(N) data per call, O(N) total bytes per timestep, and three collective synchronization barriers that every process must hit before the force evaluation can proceed.</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force kernel itself uses Plummer softening and caches the inverse cube root — one sqrt per particle pair, shared across all three spatial components. That keeps the flop count tight; the bottleneck is data movement, not arithmetic.</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One design choice worth noting: I time only the simulation loop. Initialization — seeding particle positions, broadcasting mass, computing the t = 0 forces — is excluded. The reported wall times reflect pure computation and communication overhead, not setup.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 cluster is three nodes over a 10.0.0.0/24 TCP fabric, scheduled via SLURM with PMI2 bootstrap. I compiled with Intel's `</a:t>
            </a:r>
            <a:r>
              <a:rPr lang="en-US" sz="1200" b="0" kern="1200" dirty="0" err="1">
                <a:solidFill>
                  <a:schemeClr val="tx1"/>
                </a:solidFill>
                <a:effectLst/>
                <a:latin typeface="+mn-lt"/>
                <a:ea typeface="+mn-ea"/>
                <a:cs typeface="+mn-cs"/>
              </a:rPr>
              <a:t>mpiicx</a:t>
            </a:r>
            <a:r>
              <a:rPr lang="en-US" sz="1200" b="0" kern="1200" dirty="0">
                <a:solidFill>
                  <a:schemeClr val="tx1"/>
                </a:solidFill>
                <a:effectLst/>
                <a:latin typeface="+mn-lt"/>
                <a:ea typeface="+mn-ea"/>
                <a:cs typeface="+mn-cs"/>
              </a:rPr>
              <a:t>`, `-O3`, and `-</a:t>
            </a:r>
            <a:r>
              <a:rPr lang="en-US" sz="1200" b="0" kern="1200" dirty="0" err="1">
                <a:solidFill>
                  <a:schemeClr val="tx1"/>
                </a:solidFill>
                <a:effectLst/>
                <a:latin typeface="+mn-lt"/>
                <a:ea typeface="+mn-ea"/>
                <a:cs typeface="+mn-cs"/>
              </a:rPr>
              <a:t>xHost</a:t>
            </a:r>
            <a:r>
              <a:rPr lang="en-US" sz="1200" b="0" kern="1200" dirty="0">
                <a:solidFill>
                  <a:schemeClr val="tx1"/>
                </a:solidFill>
                <a:effectLst/>
                <a:latin typeface="+mn-lt"/>
                <a:ea typeface="+mn-ea"/>
                <a:cs typeface="+mn-cs"/>
              </a:rPr>
              <a:t>` to get full vectorization for the node's ISA.</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 ran two studies. Strong scaling: fixed N at 2,400, 4,800, and 9,600 particles, sweeping P from 1 to 24 at 10 timesteps each. Weak scaling: 1,000 particles per process, 50 timesteps, again from P = 1 to P = 24 — so total N grows from 1,000 to 24,000.</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Every configuration ran three independent trials. I report median wall time — medians are more robust to OS scheduling jitter than means, especially on a shared cluster. `</a:t>
            </a:r>
            <a:r>
              <a:rPr lang="en-US" sz="1200" b="0" kern="1200" dirty="0" err="1">
                <a:solidFill>
                  <a:schemeClr val="tx1"/>
                </a:solidFill>
                <a:effectLst/>
                <a:latin typeface="+mn-lt"/>
                <a:ea typeface="+mn-ea"/>
                <a:cs typeface="+mn-cs"/>
              </a:rPr>
              <a:t>MPI_Wtime</a:t>
            </a:r>
            <a:r>
              <a:rPr lang="en-US" sz="1200" b="0" kern="1200" dirty="0">
                <a:solidFill>
                  <a:schemeClr val="tx1"/>
                </a:solidFill>
                <a:effectLst/>
                <a:latin typeface="+mn-lt"/>
                <a:ea typeface="+mn-ea"/>
                <a:cs typeface="+mn-cs"/>
              </a:rPr>
              <a:t>()` brackets the loop on each rank; the reported time is the slowest rank's time, which is the true wall-clock bottleneck.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 strong scaling results show three distinct curves, and the separation between them is the most important thing on this slide.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At N = 2,400, the best speedup we see is 1.92× at P = 8. That's barely 2× on 8 cores — terrible efficiency. The problem is that N² = 5.76 million force evaluations per step split across 8 ranks gives each rank about 720K operations. While that sounds like real work, the three `</a:t>
            </a:r>
            <a:r>
              <a:rPr lang="en-US" sz="1200" b="0" kern="1200" dirty="0" err="1">
                <a:solidFill>
                  <a:schemeClr val="tx1"/>
                </a:solidFill>
                <a:effectLst/>
                <a:latin typeface="+mn-lt"/>
                <a:ea typeface="+mn-ea"/>
                <a:cs typeface="+mn-cs"/>
              </a:rPr>
              <a:t>Allgatherv</a:t>
            </a:r>
            <a:r>
              <a:rPr lang="en-US" sz="1200" b="0" kern="1200" dirty="0">
                <a:solidFill>
                  <a:schemeClr val="tx1"/>
                </a:solidFill>
                <a:effectLst/>
                <a:latin typeface="+mn-lt"/>
                <a:ea typeface="+mn-ea"/>
                <a:cs typeface="+mn-cs"/>
              </a:rPr>
              <a:t>` calls synchronize 2,400 doubles each — the communication is not a small fraction of the total time. The compute-to-communication ratio is simply too low.</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At N = 4,800, peak speedup climbs to 4.11× at P = 12. The problem size quadrupled; the serial </a:t>
            </a:r>
            <a:r>
              <a:rPr lang="en-US" sz="1200" b="0" kern="1200" dirty="0" err="1">
                <a:solidFill>
                  <a:schemeClr val="tx1"/>
                </a:solidFill>
                <a:effectLst/>
                <a:latin typeface="+mn-lt"/>
                <a:ea typeface="+mn-ea"/>
                <a:cs typeface="+mn-cs"/>
              </a:rPr>
              <a:t>Allgatherv</a:t>
            </a:r>
            <a:r>
              <a:rPr lang="en-US" sz="1200" b="0" kern="1200" dirty="0">
                <a:solidFill>
                  <a:schemeClr val="tx1"/>
                </a:solidFill>
                <a:effectLst/>
                <a:latin typeface="+mn-lt"/>
                <a:ea typeface="+mn-ea"/>
                <a:cs typeface="+mn-cs"/>
              </a:rPr>
              <a:t> cost only doubled. That improved ratio shows up directly in the curve — it scales further before flattening.</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At N = 9,600, we hit 6.57× at P = 12. Largest N, best efficiency — every doubling of N improves the compute-to-communication ratio because compute grows as O(N²) while communication grows as O(N).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All three curves flatten somewhere around P = 10 to 12 and don't meaningfully improve after that. That plateau is the signal that communication overhead has become the dominant cost. Adding more processes beyond that point splits the force computation into smaller pieces, but the synchronization cost per step stays roughly constant — so we get diminishing returns, fast.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 weak scaling story requires a bit of framing before you look at the data. Unlike an embarrassingly parallel problem where ideal weak scaling gives constant time, the all-pairs N-body algorithm is O(N²). Fixing N/P = 1,000 means total N grows linearly with P, but total work grows as N² — so each process's local force evaluation still grows as O(N) even at constant per-process particle count. The expected behavior is linear growth in wall time, not constant. I've plotted the O(P) theoretical baseline on the figure.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measured curve tracks reasonably close to that O(P) baseline — which is actually the correct result for this algorithm. The interesting deviations are the anomalies.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P = 16 spike is the sharpest feature in the dataset: wall time jumps from about 1.0 seconds at P = 15 to 1.70 seconds at P = 16, then drops back to 1.13 seconds at P = 17. That spike aligns precisely with when the SLURM job first spans all three nodes. At P = 16, the </a:t>
            </a:r>
            <a:r>
              <a:rPr lang="en-US" sz="1200" b="0" kern="1200" dirty="0" err="1">
                <a:solidFill>
                  <a:schemeClr val="tx1"/>
                </a:solidFill>
                <a:effectLst/>
                <a:latin typeface="+mn-lt"/>
                <a:ea typeface="+mn-ea"/>
                <a:cs typeface="+mn-cs"/>
              </a:rPr>
              <a:t>Allgatherv</a:t>
            </a:r>
            <a:r>
              <a:rPr lang="en-US" sz="1200" b="0" kern="1200" dirty="0">
                <a:solidFill>
                  <a:schemeClr val="tx1"/>
                </a:solidFill>
                <a:effectLst/>
                <a:latin typeface="+mn-lt"/>
                <a:ea typeface="+mn-ea"/>
                <a:cs typeface="+mn-cs"/>
              </a:rPr>
              <a:t> broadcast crosses two inter-node TCP links simultaneously; the buffer saturation doubles effective latency. At P = 17, SLURM rebalances the process layout and the bottleneck partially resolves.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P = 11 dip is the opposite effect — SLURM packing ranks within a single socket reduces NUMA cross-traffic, temporarily improving latency. It disappears at P = 12 when ranks spill across sockets.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 Amdahl's law analysis puts a number on what the scaling curves are showing qualitatively.</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 fit S(P) = 1 / (f + (1 − f)/P) to each strong scaling curve using a linearized least-squares method. The extracted serial fractions are 68% for N = 2,400, 28% for N = 4,800, and 15% for N = 9,600.</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Those numbers might seem large, but they make complete physical sense. The "serial fraction" in this context isn't code that runs on one process — it's the fraction of per-step time consumed by the collective communication that every process must wait on before proceeding. Three `</a:t>
            </a:r>
            <a:r>
              <a:rPr lang="en-US" sz="1200" b="0" kern="1200" dirty="0" err="1">
                <a:solidFill>
                  <a:schemeClr val="tx1"/>
                </a:solidFill>
                <a:effectLst/>
                <a:latin typeface="+mn-lt"/>
                <a:ea typeface="+mn-ea"/>
                <a:cs typeface="+mn-cs"/>
              </a:rPr>
              <a:t>Allgatherv</a:t>
            </a:r>
            <a:r>
              <a:rPr lang="en-US" sz="1200" b="0" kern="1200" dirty="0">
                <a:solidFill>
                  <a:schemeClr val="tx1"/>
                </a:solidFill>
                <a:effectLst/>
                <a:latin typeface="+mn-lt"/>
                <a:ea typeface="+mn-ea"/>
                <a:cs typeface="+mn-cs"/>
              </a:rPr>
              <a:t>` calls synchronize O(N) data regardless of P. The force computation scales as O(N²/P). As N grows, the O(N²/P) term in the denominator grows faster than the O(N) communication term — so the serial fraction, defined as the communication fraction, shrinks.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theoretical maxima follow directly: 1.5× for N = 2,400, 3.6× for N = 4,800, 6.7× for N = 9,600. The actual observed peaks of 1.92×, 4.11×, and 6.57× match or slightly exceed those bounds — the fit isn't perfect, but the trend is exact. Larger N always reduces the serial fraction and pushes the ceiling higher.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Four takeaways.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Strong scaling saturates at P ≈ 12 for all problem sizes. The larger N is, the better the peak speedup before saturation — 6.57× at N = 9,600 versus 1.92× at N = 2,400.</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Weak scaling grows super-linearly with P, which is the expected behavior for an O(N²) algorithm, not a failure of the implementation.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Amdahl's law serial fraction drops from 68% to 15% as N quadruples — direct evidence that the three-</a:t>
            </a:r>
            <a:r>
              <a:rPr lang="en-US" sz="1200" b="0" kern="1200" dirty="0" err="1">
                <a:solidFill>
                  <a:schemeClr val="tx1"/>
                </a:solidFill>
                <a:effectLst/>
                <a:latin typeface="+mn-lt"/>
                <a:ea typeface="+mn-ea"/>
                <a:cs typeface="+mn-cs"/>
              </a:rPr>
              <a:t>Allgatherv</a:t>
            </a:r>
            <a:r>
              <a:rPr lang="en-US" sz="1200" b="0" kern="1200" dirty="0">
                <a:solidFill>
                  <a:schemeClr val="tx1"/>
                </a:solidFill>
                <a:effectLst/>
                <a:latin typeface="+mn-lt"/>
                <a:ea typeface="+mn-ea"/>
                <a:cs typeface="+mn-cs"/>
              </a:rPr>
              <a:t> communication cost is being amortized over more compute work.</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P = 16 anomaly is real and reproducible: TCP buffer saturation at the full three-node boundary, not an algorithmic issue.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natural next step is replacing the three </a:t>
            </a:r>
            <a:r>
              <a:rPr lang="en-US" sz="1200" b="0" kern="1200" dirty="0" err="1">
                <a:solidFill>
                  <a:schemeClr val="tx1"/>
                </a:solidFill>
                <a:effectLst/>
                <a:latin typeface="+mn-lt"/>
                <a:ea typeface="+mn-ea"/>
                <a:cs typeface="+mn-cs"/>
              </a:rPr>
              <a:t>Allgatherv</a:t>
            </a:r>
            <a:r>
              <a:rPr lang="en-US" sz="1200" b="0" kern="1200" dirty="0">
                <a:solidFill>
                  <a:schemeClr val="tx1"/>
                </a:solidFill>
                <a:effectLst/>
                <a:latin typeface="+mn-lt"/>
                <a:ea typeface="+mn-ea"/>
                <a:cs typeface="+mn-cs"/>
              </a:rPr>
              <a:t> calls with a ring-pass ghost exchange. That would cut per-step communication from O(N) — broadcasting all positions to everyone — down to O(N/P), where each rank only needs positions from its immediate neighbors in the ring. That single change would push the compute-to-communication ratio substantially higher and should unlock meaningful speedup beyond P = 12.</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Thanks —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274320" y="365760"/>
            <a:ext cx="54864" cy="54864"/>
          </a:xfrm>
          <a:prstGeom prst="ellipse">
            <a:avLst/>
          </a:prstGeom>
          <a:solidFill>
            <a:srgbClr val="CADCFC"/>
          </a:solidFill>
          <a:ln w="12700">
            <a:solidFill>
              <a:srgbClr val="CADCFC"/>
            </a:solidFill>
            <a:prstDash val="solid"/>
          </a:ln>
        </p:spPr>
        <p:txBody>
          <a:bodyPr/>
          <a:lstStyle/>
          <a:p>
            <a:endParaRPr lang="en-US"/>
          </a:p>
        </p:txBody>
      </p:sp>
      <p:sp>
        <p:nvSpPr>
          <p:cNvPr id="3" name="Shape 1"/>
          <p:cNvSpPr/>
          <p:nvPr/>
        </p:nvSpPr>
        <p:spPr>
          <a:xfrm>
            <a:off x="1097280" y="914400"/>
            <a:ext cx="54864" cy="54864"/>
          </a:xfrm>
          <a:prstGeom prst="ellipse">
            <a:avLst/>
          </a:prstGeom>
          <a:solidFill>
            <a:srgbClr val="CADCFC"/>
          </a:solidFill>
          <a:ln w="12700">
            <a:solidFill>
              <a:srgbClr val="CADCFC"/>
            </a:solidFill>
            <a:prstDash val="solid"/>
          </a:ln>
        </p:spPr>
        <p:txBody>
          <a:bodyPr/>
          <a:lstStyle/>
          <a:p>
            <a:endParaRPr lang="en-US"/>
          </a:p>
        </p:txBody>
      </p:sp>
      <p:sp>
        <p:nvSpPr>
          <p:cNvPr id="4" name="Shape 2"/>
          <p:cNvSpPr/>
          <p:nvPr/>
        </p:nvSpPr>
        <p:spPr>
          <a:xfrm>
            <a:off x="2560320" y="182880"/>
            <a:ext cx="54864" cy="54864"/>
          </a:xfrm>
          <a:prstGeom prst="ellipse">
            <a:avLst/>
          </a:prstGeom>
          <a:solidFill>
            <a:srgbClr val="CADCFC"/>
          </a:solidFill>
          <a:ln w="12700">
            <a:solidFill>
              <a:srgbClr val="CADCFC"/>
            </a:solidFill>
            <a:prstDash val="solid"/>
          </a:ln>
        </p:spPr>
        <p:txBody>
          <a:bodyPr/>
          <a:lstStyle/>
          <a:p>
            <a:endParaRPr lang="en-US"/>
          </a:p>
        </p:txBody>
      </p:sp>
      <p:sp>
        <p:nvSpPr>
          <p:cNvPr id="5" name="Shape 3"/>
          <p:cNvSpPr/>
          <p:nvPr/>
        </p:nvSpPr>
        <p:spPr>
          <a:xfrm>
            <a:off x="4114800" y="731520"/>
            <a:ext cx="54864" cy="54864"/>
          </a:xfrm>
          <a:prstGeom prst="ellipse">
            <a:avLst/>
          </a:prstGeom>
          <a:solidFill>
            <a:srgbClr val="CADCFC"/>
          </a:solidFill>
          <a:ln w="12700">
            <a:solidFill>
              <a:srgbClr val="CADCFC"/>
            </a:solidFill>
            <a:prstDash val="solid"/>
          </a:ln>
        </p:spPr>
        <p:txBody>
          <a:bodyPr/>
          <a:lstStyle/>
          <a:p>
            <a:endParaRPr lang="en-US"/>
          </a:p>
        </p:txBody>
      </p:sp>
      <p:sp>
        <p:nvSpPr>
          <p:cNvPr id="6" name="Shape 4"/>
          <p:cNvSpPr/>
          <p:nvPr/>
        </p:nvSpPr>
        <p:spPr>
          <a:xfrm>
            <a:off x="5669280" y="137160"/>
            <a:ext cx="54864" cy="54864"/>
          </a:xfrm>
          <a:prstGeom prst="ellipse">
            <a:avLst/>
          </a:prstGeom>
          <a:solidFill>
            <a:srgbClr val="CADCFC"/>
          </a:solidFill>
          <a:ln w="12700">
            <a:solidFill>
              <a:srgbClr val="CADCFC"/>
            </a:solidFill>
            <a:prstDash val="solid"/>
          </a:ln>
        </p:spPr>
        <p:txBody>
          <a:bodyPr/>
          <a:lstStyle/>
          <a:p>
            <a:endParaRPr lang="en-US"/>
          </a:p>
        </p:txBody>
      </p:sp>
      <p:sp>
        <p:nvSpPr>
          <p:cNvPr id="7" name="Shape 5"/>
          <p:cNvSpPr/>
          <p:nvPr/>
        </p:nvSpPr>
        <p:spPr>
          <a:xfrm>
            <a:off x="7132320" y="457200"/>
            <a:ext cx="54864" cy="54864"/>
          </a:xfrm>
          <a:prstGeom prst="ellipse">
            <a:avLst/>
          </a:prstGeom>
          <a:solidFill>
            <a:srgbClr val="CADCFC"/>
          </a:solidFill>
          <a:ln w="12700">
            <a:solidFill>
              <a:srgbClr val="CADCFC"/>
            </a:solidFill>
            <a:prstDash val="solid"/>
          </a:ln>
        </p:spPr>
        <p:txBody>
          <a:bodyPr/>
          <a:lstStyle/>
          <a:p>
            <a:endParaRPr lang="en-US"/>
          </a:p>
        </p:txBody>
      </p:sp>
      <p:sp>
        <p:nvSpPr>
          <p:cNvPr id="8" name="Shape 6"/>
          <p:cNvSpPr/>
          <p:nvPr/>
        </p:nvSpPr>
        <p:spPr>
          <a:xfrm>
            <a:off x="8229600" y="1005840"/>
            <a:ext cx="54864" cy="54864"/>
          </a:xfrm>
          <a:prstGeom prst="ellipse">
            <a:avLst/>
          </a:prstGeom>
          <a:solidFill>
            <a:srgbClr val="CADCFC"/>
          </a:solidFill>
          <a:ln w="12700">
            <a:solidFill>
              <a:srgbClr val="CADCFC"/>
            </a:solidFill>
            <a:prstDash val="solid"/>
          </a:ln>
        </p:spPr>
        <p:txBody>
          <a:bodyPr/>
          <a:lstStyle/>
          <a:p>
            <a:endParaRPr lang="en-US"/>
          </a:p>
        </p:txBody>
      </p:sp>
      <p:sp>
        <p:nvSpPr>
          <p:cNvPr id="9" name="Shape 7"/>
          <p:cNvSpPr/>
          <p:nvPr/>
        </p:nvSpPr>
        <p:spPr>
          <a:xfrm>
            <a:off x="731520" y="4389120"/>
            <a:ext cx="54864" cy="54864"/>
          </a:xfrm>
          <a:prstGeom prst="ellipse">
            <a:avLst/>
          </a:prstGeom>
          <a:solidFill>
            <a:srgbClr val="CADCFC"/>
          </a:solidFill>
          <a:ln w="12700">
            <a:solidFill>
              <a:srgbClr val="CADCFC"/>
            </a:solidFill>
            <a:prstDash val="solid"/>
          </a:ln>
        </p:spPr>
        <p:txBody>
          <a:bodyPr/>
          <a:lstStyle/>
          <a:p>
            <a:endParaRPr lang="en-US"/>
          </a:p>
        </p:txBody>
      </p:sp>
      <p:sp>
        <p:nvSpPr>
          <p:cNvPr id="10" name="Shape 8"/>
          <p:cNvSpPr/>
          <p:nvPr/>
        </p:nvSpPr>
        <p:spPr>
          <a:xfrm>
            <a:off x="1828800" y="4572000"/>
            <a:ext cx="54864" cy="54864"/>
          </a:xfrm>
          <a:prstGeom prst="ellipse">
            <a:avLst/>
          </a:prstGeom>
          <a:solidFill>
            <a:srgbClr val="CADCFC"/>
          </a:solidFill>
          <a:ln w="12700">
            <a:solidFill>
              <a:srgbClr val="CADCFC"/>
            </a:solidFill>
            <a:prstDash val="solid"/>
          </a:ln>
        </p:spPr>
        <p:txBody>
          <a:bodyPr/>
          <a:lstStyle/>
          <a:p>
            <a:endParaRPr lang="en-US"/>
          </a:p>
        </p:txBody>
      </p:sp>
      <p:sp>
        <p:nvSpPr>
          <p:cNvPr id="11" name="Shape 9"/>
          <p:cNvSpPr/>
          <p:nvPr/>
        </p:nvSpPr>
        <p:spPr>
          <a:xfrm>
            <a:off x="3657600" y="4206240"/>
            <a:ext cx="54864" cy="54864"/>
          </a:xfrm>
          <a:prstGeom prst="ellipse">
            <a:avLst/>
          </a:prstGeom>
          <a:solidFill>
            <a:srgbClr val="CADCFC"/>
          </a:solidFill>
          <a:ln w="12700">
            <a:solidFill>
              <a:srgbClr val="CADCFC"/>
            </a:solidFill>
            <a:prstDash val="solid"/>
          </a:ln>
        </p:spPr>
        <p:txBody>
          <a:bodyPr/>
          <a:lstStyle/>
          <a:p>
            <a:endParaRPr lang="en-US"/>
          </a:p>
        </p:txBody>
      </p:sp>
      <p:sp>
        <p:nvSpPr>
          <p:cNvPr id="12" name="Shape 10"/>
          <p:cNvSpPr/>
          <p:nvPr/>
        </p:nvSpPr>
        <p:spPr>
          <a:xfrm>
            <a:off x="5029200" y="4754880"/>
            <a:ext cx="54864" cy="54864"/>
          </a:xfrm>
          <a:prstGeom prst="ellipse">
            <a:avLst/>
          </a:prstGeom>
          <a:solidFill>
            <a:srgbClr val="CADCFC"/>
          </a:solidFill>
          <a:ln w="12700">
            <a:solidFill>
              <a:srgbClr val="CADCFC"/>
            </a:solidFill>
            <a:prstDash val="solid"/>
          </a:ln>
        </p:spPr>
        <p:txBody>
          <a:bodyPr/>
          <a:lstStyle/>
          <a:p>
            <a:endParaRPr lang="en-US"/>
          </a:p>
        </p:txBody>
      </p:sp>
      <p:sp>
        <p:nvSpPr>
          <p:cNvPr id="13" name="Shape 11"/>
          <p:cNvSpPr/>
          <p:nvPr/>
        </p:nvSpPr>
        <p:spPr>
          <a:xfrm>
            <a:off x="6583680" y="4480560"/>
            <a:ext cx="54864" cy="54864"/>
          </a:xfrm>
          <a:prstGeom prst="ellipse">
            <a:avLst/>
          </a:prstGeom>
          <a:solidFill>
            <a:srgbClr val="CADCFC"/>
          </a:solidFill>
          <a:ln w="12700">
            <a:solidFill>
              <a:srgbClr val="CADCFC"/>
            </a:solidFill>
            <a:prstDash val="solid"/>
          </a:ln>
        </p:spPr>
        <p:txBody>
          <a:bodyPr/>
          <a:lstStyle/>
          <a:p>
            <a:endParaRPr lang="en-US"/>
          </a:p>
        </p:txBody>
      </p:sp>
      <p:sp>
        <p:nvSpPr>
          <p:cNvPr id="14" name="Shape 12"/>
          <p:cNvSpPr/>
          <p:nvPr/>
        </p:nvSpPr>
        <p:spPr>
          <a:xfrm>
            <a:off x="8412480" y="4937760"/>
            <a:ext cx="54864" cy="54864"/>
          </a:xfrm>
          <a:prstGeom prst="ellipse">
            <a:avLst/>
          </a:prstGeom>
          <a:solidFill>
            <a:srgbClr val="CADCFC"/>
          </a:solidFill>
          <a:ln w="12700">
            <a:solidFill>
              <a:srgbClr val="CADCFC"/>
            </a:solidFill>
            <a:prstDash val="solid"/>
          </a:ln>
        </p:spPr>
        <p:txBody>
          <a:bodyPr/>
          <a:lstStyle/>
          <a:p>
            <a:endParaRPr lang="en-US"/>
          </a:p>
        </p:txBody>
      </p:sp>
      <p:sp>
        <p:nvSpPr>
          <p:cNvPr id="15" name="Shape 13"/>
          <p:cNvSpPr/>
          <p:nvPr/>
        </p:nvSpPr>
        <p:spPr>
          <a:xfrm>
            <a:off x="1371600" y="2560320"/>
            <a:ext cx="54864" cy="54864"/>
          </a:xfrm>
          <a:prstGeom prst="ellipse">
            <a:avLst/>
          </a:prstGeom>
          <a:solidFill>
            <a:srgbClr val="CADCFC"/>
          </a:solidFill>
          <a:ln w="12700">
            <a:solidFill>
              <a:srgbClr val="CADCFC"/>
            </a:solidFill>
            <a:prstDash val="solid"/>
          </a:ln>
        </p:spPr>
        <p:txBody>
          <a:bodyPr/>
          <a:lstStyle/>
          <a:p>
            <a:endParaRPr lang="en-US"/>
          </a:p>
        </p:txBody>
      </p:sp>
      <p:sp>
        <p:nvSpPr>
          <p:cNvPr id="16" name="Shape 14"/>
          <p:cNvSpPr/>
          <p:nvPr/>
        </p:nvSpPr>
        <p:spPr>
          <a:xfrm>
            <a:off x="7772400" y="2011680"/>
            <a:ext cx="54864" cy="54864"/>
          </a:xfrm>
          <a:prstGeom prst="ellipse">
            <a:avLst/>
          </a:prstGeom>
          <a:solidFill>
            <a:srgbClr val="CADCFC"/>
          </a:solidFill>
          <a:ln w="12700">
            <a:solidFill>
              <a:srgbClr val="CADCFC"/>
            </a:solidFill>
            <a:prstDash val="solid"/>
          </a:ln>
        </p:spPr>
        <p:txBody>
          <a:bodyPr/>
          <a:lstStyle/>
          <a:p>
            <a:endParaRPr lang="en-US"/>
          </a:p>
        </p:txBody>
      </p:sp>
      <p:sp>
        <p:nvSpPr>
          <p:cNvPr id="17" name="Shape 15"/>
          <p:cNvSpPr/>
          <p:nvPr/>
        </p:nvSpPr>
        <p:spPr>
          <a:xfrm>
            <a:off x="8595360" y="3200400"/>
            <a:ext cx="54864" cy="54864"/>
          </a:xfrm>
          <a:prstGeom prst="ellipse">
            <a:avLst/>
          </a:prstGeom>
          <a:solidFill>
            <a:srgbClr val="CADCFC"/>
          </a:solidFill>
          <a:ln w="12700">
            <a:solidFill>
              <a:srgbClr val="CADCFC"/>
            </a:solidFill>
            <a:prstDash val="solid"/>
          </a:ln>
        </p:spPr>
        <p:txBody>
          <a:bodyPr/>
          <a:lstStyle/>
          <a:p>
            <a:endParaRPr lang="en-US"/>
          </a:p>
        </p:txBody>
      </p:sp>
      <p:sp>
        <p:nvSpPr>
          <p:cNvPr id="18" name="Shape 16"/>
          <p:cNvSpPr/>
          <p:nvPr/>
        </p:nvSpPr>
        <p:spPr>
          <a:xfrm>
            <a:off x="182880" y="2743200"/>
            <a:ext cx="54864" cy="54864"/>
          </a:xfrm>
          <a:prstGeom prst="ellipse">
            <a:avLst/>
          </a:prstGeom>
          <a:solidFill>
            <a:srgbClr val="CADCFC"/>
          </a:solidFill>
          <a:ln w="12700">
            <a:solidFill>
              <a:srgbClr val="CADCFC"/>
            </a:solidFill>
            <a:prstDash val="solid"/>
          </a:ln>
        </p:spPr>
        <p:txBody>
          <a:bodyPr/>
          <a:lstStyle/>
          <a:p>
            <a:endParaRPr lang="en-US"/>
          </a:p>
        </p:txBody>
      </p:sp>
      <p:sp>
        <p:nvSpPr>
          <p:cNvPr id="19" name="Shape 17"/>
          <p:cNvSpPr/>
          <p:nvPr/>
        </p:nvSpPr>
        <p:spPr>
          <a:xfrm>
            <a:off x="5943600" y="274320"/>
            <a:ext cx="4114800" cy="4114800"/>
          </a:xfrm>
          <a:prstGeom prst="ellipse">
            <a:avLst/>
          </a:prstGeom>
          <a:ln w="19050">
            <a:solidFill>
              <a:srgbClr val="3A86FF"/>
            </a:solidFill>
            <a:prstDash val="dash"/>
          </a:ln>
        </p:spPr>
        <p:txBody>
          <a:bodyPr/>
          <a:lstStyle/>
          <a:p>
            <a:endParaRPr lang="en-US"/>
          </a:p>
        </p:txBody>
      </p:sp>
      <p:sp>
        <p:nvSpPr>
          <p:cNvPr id="20" name="Shape 18"/>
          <p:cNvSpPr/>
          <p:nvPr/>
        </p:nvSpPr>
        <p:spPr>
          <a:xfrm>
            <a:off x="7772400" y="457200"/>
            <a:ext cx="228600" cy="228600"/>
          </a:xfrm>
          <a:prstGeom prst="ellipse">
            <a:avLst/>
          </a:prstGeom>
          <a:solidFill>
            <a:srgbClr val="F4A261"/>
          </a:solidFill>
          <a:ln w="12700">
            <a:solidFill>
              <a:srgbClr val="F4A261"/>
            </a:solidFill>
            <a:prstDash val="solid"/>
          </a:ln>
        </p:spPr>
        <p:txBody>
          <a:bodyPr/>
          <a:lstStyle/>
          <a:p>
            <a:endParaRPr lang="en-US"/>
          </a:p>
        </p:txBody>
      </p:sp>
      <p:sp>
        <p:nvSpPr>
          <p:cNvPr id="21" name="Shape 19"/>
          <p:cNvSpPr/>
          <p:nvPr/>
        </p:nvSpPr>
        <p:spPr>
          <a:xfrm>
            <a:off x="6217920" y="1828800"/>
            <a:ext cx="137160" cy="137160"/>
          </a:xfrm>
          <a:prstGeom prst="ellipse">
            <a:avLst/>
          </a:prstGeom>
          <a:solidFill>
            <a:srgbClr val="4CC9F0"/>
          </a:solidFill>
          <a:ln w="12700">
            <a:solidFill>
              <a:srgbClr val="4CC9F0"/>
            </a:solidFill>
            <a:prstDash val="solid"/>
          </a:ln>
        </p:spPr>
        <p:txBody>
          <a:bodyPr/>
          <a:lstStyle/>
          <a:p>
            <a:endParaRPr lang="en-US"/>
          </a:p>
        </p:txBody>
      </p:sp>
      <p:sp>
        <p:nvSpPr>
          <p:cNvPr id="22" name="Text 20"/>
          <p:cNvSpPr/>
          <p:nvPr/>
        </p:nvSpPr>
        <p:spPr>
          <a:xfrm>
            <a:off x="457200" y="1005840"/>
            <a:ext cx="5486400" cy="822960"/>
          </a:xfrm>
          <a:prstGeom prst="rect">
            <a:avLst/>
          </a:prstGeom>
          <a:noFill/>
          <a:ln/>
        </p:spPr>
        <p:txBody>
          <a:bodyPr wrap="square" lIns="0" tIns="0" rIns="0" bIns="0"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Parallel N-body</a:t>
            </a:r>
            <a:endParaRPr lang="en-US" sz="4200" dirty="0"/>
          </a:p>
        </p:txBody>
      </p:sp>
      <p:sp>
        <p:nvSpPr>
          <p:cNvPr id="23" name="Text 21"/>
          <p:cNvSpPr/>
          <p:nvPr/>
        </p:nvSpPr>
        <p:spPr>
          <a:xfrm>
            <a:off x="457200" y="1783080"/>
            <a:ext cx="5943600" cy="822960"/>
          </a:xfrm>
          <a:prstGeom prst="rect">
            <a:avLst/>
          </a:prstGeom>
          <a:noFill/>
          <a:ln/>
        </p:spPr>
        <p:txBody>
          <a:bodyPr wrap="square" lIns="0" tIns="0" rIns="0" bIns="0" rtlCol="0" anchor="ctr"/>
          <a:lstStyle/>
          <a:p>
            <a:pPr marL="0" indent="0" algn="l">
              <a:buNone/>
            </a:pPr>
            <a:r>
              <a:rPr lang="en-US" sz="3800" b="1" dirty="0">
                <a:solidFill>
                  <a:srgbClr val="3A86FF"/>
                </a:solidFill>
                <a:latin typeface="Calibri" pitchFamily="34" charset="0"/>
                <a:ea typeface="Calibri" pitchFamily="34" charset="-122"/>
                <a:cs typeface="Calibri" pitchFamily="34" charset="-120"/>
              </a:rPr>
              <a:t>Gravitational Simulation</a:t>
            </a:r>
            <a:endParaRPr lang="en-US" sz="3800" dirty="0"/>
          </a:p>
        </p:txBody>
      </p:sp>
      <p:sp>
        <p:nvSpPr>
          <p:cNvPr id="24" name="Shape 22"/>
          <p:cNvSpPr/>
          <p:nvPr/>
        </p:nvSpPr>
        <p:spPr>
          <a:xfrm>
            <a:off x="457200" y="2788920"/>
            <a:ext cx="3200400" cy="36576"/>
          </a:xfrm>
          <a:prstGeom prst="rect">
            <a:avLst/>
          </a:prstGeom>
          <a:solidFill>
            <a:srgbClr val="F4A261"/>
          </a:solidFill>
          <a:ln w="12700">
            <a:solidFill>
              <a:srgbClr val="F4A261"/>
            </a:solidFill>
            <a:prstDash val="solid"/>
          </a:ln>
        </p:spPr>
        <p:txBody>
          <a:bodyPr/>
          <a:lstStyle/>
          <a:p>
            <a:endParaRPr lang="en-US"/>
          </a:p>
        </p:txBody>
      </p:sp>
      <p:sp>
        <p:nvSpPr>
          <p:cNvPr id="25" name="Text 23"/>
          <p:cNvSpPr/>
          <p:nvPr/>
        </p:nvSpPr>
        <p:spPr>
          <a:xfrm>
            <a:off x="457200" y="2971800"/>
            <a:ext cx="5943600" cy="1371600"/>
          </a:xfrm>
          <a:prstGeom prst="rect">
            <a:avLst/>
          </a:prstGeom>
          <a:noFill/>
          <a:ln/>
        </p:spPr>
        <p:txBody>
          <a:bodyPr wrap="square" rtlCol="0" anchor="ctr"/>
          <a:lstStyle/>
          <a:p>
            <a:pPr marL="0" indent="0" algn="l">
              <a:lnSpc>
                <a:spcPct val="130000"/>
              </a:lnSpc>
              <a:buNone/>
            </a:pPr>
            <a:r>
              <a:rPr lang="en-US" sz="1400" b="1" dirty="0">
                <a:solidFill>
                  <a:srgbClr val="CADCFC"/>
                </a:solidFill>
                <a:latin typeface="Calibri" pitchFamily="34" charset="0"/>
                <a:ea typeface="Calibri" pitchFamily="34" charset="-122"/>
                <a:cs typeface="Calibri" pitchFamily="34" charset="-120"/>
              </a:rPr>
              <a:t>Sean Balbale</a:t>
            </a:r>
            <a:endParaRPr lang="en-US" sz="1400" dirty="0"/>
          </a:p>
          <a:p>
            <a:pPr marL="0" indent="0" algn="l">
              <a:lnSpc>
                <a:spcPct val="130000"/>
              </a:lnSpc>
              <a:buNone/>
            </a:pPr>
            <a:r>
              <a:rPr lang="en-US" sz="1400" dirty="0">
                <a:solidFill>
                  <a:srgbClr val="CADCFC"/>
                </a:solidFill>
                <a:latin typeface="Calibri" pitchFamily="34" charset="0"/>
                <a:ea typeface="Calibri" pitchFamily="34" charset="-122"/>
                <a:cs typeface="Calibri" pitchFamily="34" charset="-120"/>
              </a:rPr>
              <a:t>CPSC 375: High-Performance Computing
</a:t>
            </a:r>
            <a:endParaRPr lang="en-US" sz="1400" dirty="0"/>
          </a:p>
          <a:p>
            <a:pPr marL="0" indent="0" algn="l">
              <a:lnSpc>
                <a:spcPct val="130000"/>
              </a:lnSpc>
              <a:buNone/>
            </a:pPr>
            <a:r>
              <a:rPr lang="en-US" sz="1400" dirty="0">
                <a:solidFill>
                  <a:srgbClr val="CADCFC"/>
                </a:solidFill>
                <a:latin typeface="Calibri" pitchFamily="34" charset="0"/>
                <a:ea typeface="Calibri" pitchFamily="34" charset="-122"/>
                <a:cs typeface="Calibri" pitchFamily="34" charset="-120"/>
              </a:rPr>
              <a:t>Instructor: Peter Yoon  |  May 7, 2026</a:t>
            </a:r>
            <a:endParaRPr lang="en-US" sz="1400" dirty="0"/>
          </a:p>
        </p:txBody>
      </p:sp>
      <p:sp>
        <p:nvSpPr>
          <p:cNvPr id="26" name="Shape 24"/>
          <p:cNvSpPr/>
          <p:nvPr/>
        </p:nvSpPr>
        <p:spPr>
          <a:xfrm>
            <a:off x="457200" y="4526280"/>
            <a:ext cx="521208" cy="320040"/>
          </a:xfrm>
          <a:prstGeom prst="roundRect">
            <a:avLst>
              <a:gd name="adj" fmla="val 14286"/>
            </a:avLst>
          </a:prstGeom>
          <a:solidFill>
            <a:srgbClr val="1C3A6E"/>
          </a:solidFill>
          <a:ln w="12700">
            <a:solidFill>
              <a:srgbClr val="3A86FF"/>
            </a:solidFill>
            <a:prstDash val="solid"/>
          </a:ln>
        </p:spPr>
        <p:txBody>
          <a:bodyPr/>
          <a:lstStyle/>
          <a:p>
            <a:endParaRPr lang="en-US"/>
          </a:p>
        </p:txBody>
      </p:sp>
      <p:sp>
        <p:nvSpPr>
          <p:cNvPr id="27" name="Text 25"/>
          <p:cNvSpPr/>
          <p:nvPr/>
        </p:nvSpPr>
        <p:spPr>
          <a:xfrm>
            <a:off x="457200" y="4526280"/>
            <a:ext cx="521208" cy="320040"/>
          </a:xfrm>
          <a:prstGeom prst="rect">
            <a:avLst/>
          </a:prstGeom>
          <a:noFill/>
          <a:ln/>
        </p:spPr>
        <p:txBody>
          <a:bodyPr wrap="square" rtlCol="0" anchor="ctr"/>
          <a:lstStyle/>
          <a:p>
            <a:pPr marL="0" indent="0" algn="ctr">
              <a:buNone/>
            </a:pPr>
            <a:r>
              <a:rPr lang="en-US" sz="1000" dirty="0">
                <a:solidFill>
                  <a:srgbClr val="4CC9F0"/>
                </a:solidFill>
                <a:latin typeface="Calibri" pitchFamily="34" charset="0"/>
                <a:ea typeface="Calibri" pitchFamily="34" charset="-122"/>
                <a:cs typeface="Calibri" pitchFamily="34" charset="-120"/>
              </a:rPr>
              <a:t>MPI</a:t>
            </a:r>
            <a:endParaRPr lang="en-US" sz="1000" dirty="0"/>
          </a:p>
        </p:txBody>
      </p:sp>
      <p:sp>
        <p:nvSpPr>
          <p:cNvPr id="28" name="Shape 26"/>
          <p:cNvSpPr/>
          <p:nvPr/>
        </p:nvSpPr>
        <p:spPr>
          <a:xfrm>
            <a:off x="1088136" y="4526280"/>
            <a:ext cx="1261872" cy="320040"/>
          </a:xfrm>
          <a:prstGeom prst="roundRect">
            <a:avLst>
              <a:gd name="adj" fmla="val 14286"/>
            </a:avLst>
          </a:prstGeom>
          <a:solidFill>
            <a:srgbClr val="1C3A6E"/>
          </a:solidFill>
          <a:ln w="12700">
            <a:solidFill>
              <a:srgbClr val="3A86FF"/>
            </a:solidFill>
            <a:prstDash val="solid"/>
          </a:ln>
        </p:spPr>
        <p:txBody>
          <a:bodyPr/>
          <a:lstStyle/>
          <a:p>
            <a:endParaRPr lang="en-US"/>
          </a:p>
        </p:txBody>
      </p:sp>
      <p:sp>
        <p:nvSpPr>
          <p:cNvPr id="29" name="Text 27"/>
          <p:cNvSpPr/>
          <p:nvPr/>
        </p:nvSpPr>
        <p:spPr>
          <a:xfrm>
            <a:off x="1088136" y="4526280"/>
            <a:ext cx="1261872" cy="320040"/>
          </a:xfrm>
          <a:prstGeom prst="rect">
            <a:avLst/>
          </a:prstGeom>
          <a:noFill/>
          <a:ln/>
        </p:spPr>
        <p:txBody>
          <a:bodyPr wrap="square" rtlCol="0" anchor="ctr"/>
          <a:lstStyle/>
          <a:p>
            <a:pPr marL="0" indent="0" algn="ctr">
              <a:buNone/>
            </a:pPr>
            <a:r>
              <a:rPr lang="en-US" sz="1000" dirty="0">
                <a:solidFill>
                  <a:srgbClr val="4CC9F0"/>
                </a:solidFill>
                <a:latin typeface="Calibri" pitchFamily="34" charset="0"/>
                <a:ea typeface="Calibri" pitchFamily="34" charset="-122"/>
                <a:cs typeface="Calibri" pitchFamily="34" charset="-120"/>
              </a:rPr>
              <a:t>Leapfrog KDK</a:t>
            </a:r>
            <a:endParaRPr lang="en-US" sz="1000" dirty="0"/>
          </a:p>
        </p:txBody>
      </p:sp>
      <p:sp>
        <p:nvSpPr>
          <p:cNvPr id="30" name="Shape 28"/>
          <p:cNvSpPr/>
          <p:nvPr/>
        </p:nvSpPr>
        <p:spPr>
          <a:xfrm>
            <a:off x="2459736" y="4526280"/>
            <a:ext cx="685800" cy="320040"/>
          </a:xfrm>
          <a:prstGeom prst="roundRect">
            <a:avLst>
              <a:gd name="adj" fmla="val 14286"/>
            </a:avLst>
          </a:prstGeom>
          <a:solidFill>
            <a:srgbClr val="1C3A6E"/>
          </a:solidFill>
          <a:ln w="12700">
            <a:solidFill>
              <a:srgbClr val="3A86FF"/>
            </a:solidFill>
            <a:prstDash val="solid"/>
          </a:ln>
        </p:spPr>
        <p:txBody>
          <a:bodyPr/>
          <a:lstStyle/>
          <a:p>
            <a:endParaRPr lang="en-US"/>
          </a:p>
        </p:txBody>
      </p:sp>
      <p:sp>
        <p:nvSpPr>
          <p:cNvPr id="31" name="Text 29"/>
          <p:cNvSpPr/>
          <p:nvPr/>
        </p:nvSpPr>
        <p:spPr>
          <a:xfrm>
            <a:off x="2459736" y="4526280"/>
            <a:ext cx="685800" cy="320040"/>
          </a:xfrm>
          <a:prstGeom prst="rect">
            <a:avLst/>
          </a:prstGeom>
          <a:noFill/>
          <a:ln/>
        </p:spPr>
        <p:txBody>
          <a:bodyPr wrap="square" rtlCol="0" anchor="ctr"/>
          <a:lstStyle/>
          <a:p>
            <a:pPr marL="0" indent="0" algn="ctr">
              <a:buNone/>
            </a:pPr>
            <a:r>
              <a:rPr lang="en-US" sz="1000" dirty="0">
                <a:solidFill>
                  <a:srgbClr val="4CC9F0"/>
                </a:solidFill>
                <a:latin typeface="Calibri" pitchFamily="34" charset="0"/>
                <a:ea typeface="Calibri" pitchFamily="34" charset="-122"/>
                <a:cs typeface="Calibri" pitchFamily="34" charset="-120"/>
              </a:rPr>
              <a:t>O(N²)</a:t>
            </a:r>
            <a:endParaRPr lang="en-US" sz="1000" dirty="0"/>
          </a:p>
        </p:txBody>
      </p:sp>
      <p:sp>
        <p:nvSpPr>
          <p:cNvPr id="32" name="Shape 30"/>
          <p:cNvSpPr/>
          <p:nvPr/>
        </p:nvSpPr>
        <p:spPr>
          <a:xfrm>
            <a:off x="3255264" y="4526280"/>
            <a:ext cx="685800" cy="320040"/>
          </a:xfrm>
          <a:prstGeom prst="roundRect">
            <a:avLst>
              <a:gd name="adj" fmla="val 14286"/>
            </a:avLst>
          </a:prstGeom>
          <a:solidFill>
            <a:srgbClr val="1C3A6E"/>
          </a:solidFill>
          <a:ln w="12700">
            <a:solidFill>
              <a:srgbClr val="3A86FF"/>
            </a:solidFill>
            <a:prstDash val="solid"/>
          </a:ln>
        </p:spPr>
        <p:txBody>
          <a:bodyPr/>
          <a:lstStyle/>
          <a:p>
            <a:endParaRPr lang="en-US"/>
          </a:p>
        </p:txBody>
      </p:sp>
      <p:sp>
        <p:nvSpPr>
          <p:cNvPr id="33" name="Text 31"/>
          <p:cNvSpPr/>
          <p:nvPr/>
        </p:nvSpPr>
        <p:spPr>
          <a:xfrm>
            <a:off x="3255264" y="4526280"/>
            <a:ext cx="685800" cy="320040"/>
          </a:xfrm>
          <a:prstGeom prst="rect">
            <a:avLst/>
          </a:prstGeom>
          <a:noFill/>
          <a:ln/>
        </p:spPr>
        <p:txBody>
          <a:bodyPr wrap="square" rtlCol="0" anchor="ctr"/>
          <a:lstStyle/>
          <a:p>
            <a:pPr marL="0" indent="0" algn="ctr">
              <a:buNone/>
            </a:pPr>
            <a:r>
              <a:rPr lang="en-US" sz="1000" dirty="0">
                <a:solidFill>
                  <a:srgbClr val="4CC9F0"/>
                </a:solidFill>
                <a:latin typeface="Calibri" pitchFamily="34" charset="0"/>
                <a:ea typeface="Calibri" pitchFamily="34" charset="-122"/>
                <a:cs typeface="Calibri" pitchFamily="34" charset="-120"/>
              </a:rPr>
              <a:t>SLURM</a:t>
            </a:r>
            <a:endParaRPr lang="en-US" sz="1000" dirty="0"/>
          </a:p>
        </p:txBody>
      </p:sp>
      <p:sp>
        <p:nvSpPr>
          <p:cNvPr id="34" name="Shape 32"/>
          <p:cNvSpPr/>
          <p:nvPr/>
        </p:nvSpPr>
        <p:spPr>
          <a:xfrm>
            <a:off x="4050792" y="4526280"/>
            <a:ext cx="1920240" cy="320040"/>
          </a:xfrm>
          <a:prstGeom prst="roundRect">
            <a:avLst>
              <a:gd name="adj" fmla="val 14286"/>
            </a:avLst>
          </a:prstGeom>
          <a:solidFill>
            <a:srgbClr val="1C3A6E"/>
          </a:solidFill>
          <a:ln w="12700">
            <a:solidFill>
              <a:srgbClr val="3A86FF"/>
            </a:solidFill>
            <a:prstDash val="solid"/>
          </a:ln>
        </p:spPr>
        <p:txBody>
          <a:bodyPr/>
          <a:lstStyle/>
          <a:p>
            <a:endParaRPr lang="en-US"/>
          </a:p>
        </p:txBody>
      </p:sp>
      <p:sp>
        <p:nvSpPr>
          <p:cNvPr id="35" name="Text 33"/>
          <p:cNvSpPr/>
          <p:nvPr/>
        </p:nvSpPr>
        <p:spPr>
          <a:xfrm>
            <a:off x="4050792" y="4526280"/>
            <a:ext cx="1920240" cy="320040"/>
          </a:xfrm>
          <a:prstGeom prst="rect">
            <a:avLst/>
          </a:prstGeom>
          <a:noFill/>
          <a:ln/>
        </p:spPr>
        <p:txBody>
          <a:bodyPr wrap="square" rtlCol="0" anchor="ctr"/>
          <a:lstStyle/>
          <a:p>
            <a:pPr marL="0" indent="0" algn="ctr">
              <a:buNone/>
            </a:pPr>
            <a:r>
              <a:rPr lang="en-US" sz="1000" dirty="0">
                <a:solidFill>
                  <a:srgbClr val="4CC9F0"/>
                </a:solidFill>
                <a:latin typeface="Calibri" pitchFamily="34" charset="0"/>
                <a:ea typeface="Calibri" pitchFamily="34" charset="-122"/>
                <a:cs typeface="Calibri" pitchFamily="34" charset="-120"/>
              </a:rPr>
              <a:t>Three Idiots Cluster</a:t>
            </a:r>
            <a:endParaRPr lang="en-US" sz="1000" dirty="0"/>
          </a:p>
        </p:txBody>
      </p:sp>
    </p:spTree>
    <p:extLst>
      <p:ext uri="{BB962C8B-B14F-4D97-AF65-F5344CB8AC3E}">
        <p14:creationId xmlns:p14="http://schemas.microsoft.com/office/powerpoint/2010/main" val="1048751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0"/>
            <a:ext cx="8229600" cy="502920"/>
          </a:xfrm>
          <a:prstGeom prst="rect">
            <a:avLst/>
          </a:prstGeom>
          <a:noFill/>
          <a:ln/>
        </p:spPr>
        <p:txBody>
          <a:bodyPr wrap="square" rtlCol="0" anchor="ctr"/>
          <a:lstStyle/>
          <a:p>
            <a:pPr marL="0" indent="0" algn="l">
              <a:buNone/>
            </a:pPr>
            <a:r>
              <a:rPr lang="en-US" sz="1300" b="1" kern="0" spc="400" dirty="0">
                <a:solidFill>
                  <a:srgbClr val="4CC9F0"/>
                </a:solidFill>
                <a:latin typeface="Calibri" pitchFamily="34" charset="0"/>
                <a:ea typeface="Calibri" pitchFamily="34" charset="-122"/>
                <a:cs typeface="Calibri" pitchFamily="34" charset="-120"/>
              </a:rPr>
              <a:t>PROBLEM OVERVIEW</a:t>
            </a:r>
            <a:endParaRPr lang="en-US" sz="1300" dirty="0"/>
          </a:p>
        </p:txBody>
      </p:sp>
      <p:sp>
        <p:nvSpPr>
          <p:cNvPr id="4" name="Text 2"/>
          <p:cNvSpPr/>
          <p:nvPr/>
        </p:nvSpPr>
        <p:spPr>
          <a:xfrm>
            <a:off x="365760" y="640080"/>
            <a:ext cx="8229600" cy="59436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N-body Gravitational Simulation</a:t>
            </a:r>
            <a:endParaRPr lang="en-US" sz="2800" dirty="0"/>
          </a:p>
        </p:txBody>
      </p:sp>
      <p:sp>
        <p:nvSpPr>
          <p:cNvPr id="5" name="Shape 3"/>
          <p:cNvSpPr/>
          <p:nvPr/>
        </p:nvSpPr>
        <p:spPr>
          <a:xfrm>
            <a:off x="365760" y="1417320"/>
            <a:ext cx="5120640" cy="804672"/>
          </a:xfrm>
          <a:prstGeom prst="rect">
            <a:avLst/>
          </a:prstGeom>
          <a:solidFill>
            <a:srgbClr val="EEF3FF"/>
          </a:solidFill>
          <a:ln w="12700">
            <a:solidFill>
              <a:srgbClr val="D0DEFF"/>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365760" y="1417320"/>
            <a:ext cx="64008" cy="804672"/>
          </a:xfrm>
          <a:prstGeom prst="rect">
            <a:avLst/>
          </a:prstGeom>
          <a:solidFill>
            <a:srgbClr val="3A86FF"/>
          </a:solidFill>
          <a:ln w="12700">
            <a:solidFill>
              <a:srgbClr val="3A86FF"/>
            </a:solidFill>
            <a:prstDash val="solid"/>
          </a:ln>
        </p:spPr>
        <p:txBody>
          <a:bodyPr/>
          <a:lstStyle/>
          <a:p>
            <a:endParaRPr lang="en-US"/>
          </a:p>
        </p:txBody>
      </p:sp>
      <p:sp>
        <p:nvSpPr>
          <p:cNvPr id="7" name="Text 5"/>
          <p:cNvSpPr/>
          <p:nvPr/>
        </p:nvSpPr>
        <p:spPr>
          <a:xfrm>
            <a:off x="548640" y="1453896"/>
            <a:ext cx="4754880" cy="256032"/>
          </a:xfrm>
          <a:prstGeom prst="rect">
            <a:avLst/>
          </a:prstGeom>
          <a:noFill/>
          <a:ln/>
        </p:spPr>
        <p:txBody>
          <a:bodyPr wrap="square" lIns="0" tIns="0" rIns="0" bIns="0" rtlCol="0" anchor="ctr"/>
          <a:lstStyle/>
          <a:p>
            <a:pPr marL="0" indent="0" algn="l">
              <a:buNone/>
            </a:pPr>
            <a:r>
              <a:rPr lang="en-US" sz="1200" b="1" dirty="0">
                <a:solidFill>
                  <a:srgbClr val="1A1A2E"/>
                </a:solidFill>
                <a:latin typeface="Calibri" pitchFamily="34" charset="0"/>
                <a:ea typeface="Calibri" pitchFamily="34" charset="-122"/>
                <a:cs typeface="Calibri" pitchFamily="34" charset="-120"/>
              </a:rPr>
              <a:t>The Problem</a:t>
            </a:r>
            <a:endParaRPr lang="en-US" sz="1200" dirty="0"/>
          </a:p>
        </p:txBody>
      </p:sp>
      <p:sp>
        <p:nvSpPr>
          <p:cNvPr id="8" name="Text 6"/>
          <p:cNvSpPr/>
          <p:nvPr/>
        </p:nvSpPr>
        <p:spPr>
          <a:xfrm>
            <a:off x="548640" y="1709928"/>
            <a:ext cx="4754880" cy="502920"/>
          </a:xfrm>
          <a:prstGeom prst="rect">
            <a:avLst/>
          </a:prstGeom>
          <a:noFill/>
          <a:ln/>
        </p:spPr>
        <p:txBody>
          <a:bodyPr wrap="square" lIns="0" tIns="0" rIns="0" bIns="0" rtlCol="0" anchor="ctr"/>
          <a:lstStyle/>
          <a:p>
            <a:pPr marL="0" indent="0" algn="l">
              <a:buNone/>
            </a:pPr>
            <a:r>
              <a:rPr lang="en-US" sz="1000" dirty="0">
                <a:solidFill>
                  <a:srgbClr val="4A5568"/>
                </a:solidFill>
                <a:latin typeface="Calibri" pitchFamily="34" charset="0"/>
                <a:ea typeface="Calibri" pitchFamily="34" charset="-122"/>
                <a:cs typeface="Calibri" pitchFamily="34" charset="-120"/>
              </a:rPr>
              <a:t>Simulate N particles moving under mutual gravitational attraction — each particle exerts force on every other. Classic in astrophysics: galaxy dynamics, planetary systems, dark matter halos.</a:t>
            </a:r>
            <a:endParaRPr lang="en-US" sz="1000" dirty="0"/>
          </a:p>
        </p:txBody>
      </p:sp>
      <p:sp>
        <p:nvSpPr>
          <p:cNvPr id="9" name="Shape 7"/>
          <p:cNvSpPr/>
          <p:nvPr/>
        </p:nvSpPr>
        <p:spPr>
          <a:xfrm>
            <a:off x="365760" y="2331720"/>
            <a:ext cx="5120640" cy="804672"/>
          </a:xfrm>
          <a:prstGeom prst="rect">
            <a:avLst/>
          </a:prstGeom>
          <a:solidFill>
            <a:srgbClr val="EEF3FF"/>
          </a:solidFill>
          <a:ln w="12700">
            <a:solidFill>
              <a:srgbClr val="D0DEFF"/>
            </a:solidFill>
            <a:prstDash val="solid"/>
          </a:ln>
          <a:effectLst>
            <a:outerShdw blurRad="101600" dist="38100" dir="8100000" algn="bl" rotWithShape="0">
              <a:srgbClr val="000000">
                <a:alpha val="10000"/>
              </a:srgbClr>
            </a:outerShdw>
          </a:effectLst>
        </p:spPr>
        <p:txBody>
          <a:bodyPr/>
          <a:lstStyle/>
          <a:p>
            <a:endParaRPr lang="en-US"/>
          </a:p>
        </p:txBody>
      </p:sp>
      <p:sp>
        <p:nvSpPr>
          <p:cNvPr id="10" name="Shape 8"/>
          <p:cNvSpPr/>
          <p:nvPr/>
        </p:nvSpPr>
        <p:spPr>
          <a:xfrm>
            <a:off x="365760" y="2331720"/>
            <a:ext cx="64008" cy="804672"/>
          </a:xfrm>
          <a:prstGeom prst="rect">
            <a:avLst/>
          </a:prstGeom>
          <a:solidFill>
            <a:srgbClr val="3A86FF"/>
          </a:solidFill>
          <a:ln w="12700">
            <a:solidFill>
              <a:srgbClr val="3A86FF"/>
            </a:solidFill>
            <a:prstDash val="solid"/>
          </a:ln>
        </p:spPr>
        <p:txBody>
          <a:bodyPr/>
          <a:lstStyle/>
          <a:p>
            <a:endParaRPr lang="en-US"/>
          </a:p>
        </p:txBody>
      </p:sp>
      <p:sp>
        <p:nvSpPr>
          <p:cNvPr id="11" name="Text 9"/>
          <p:cNvSpPr/>
          <p:nvPr/>
        </p:nvSpPr>
        <p:spPr>
          <a:xfrm>
            <a:off x="548640" y="2368296"/>
            <a:ext cx="4754880" cy="256032"/>
          </a:xfrm>
          <a:prstGeom prst="rect">
            <a:avLst/>
          </a:prstGeom>
          <a:noFill/>
          <a:ln/>
        </p:spPr>
        <p:txBody>
          <a:bodyPr wrap="square" lIns="0" tIns="0" rIns="0" bIns="0" rtlCol="0" anchor="ctr"/>
          <a:lstStyle/>
          <a:p>
            <a:pPr marL="0" indent="0" algn="l">
              <a:buNone/>
            </a:pPr>
            <a:r>
              <a:rPr lang="en-US" sz="1200" b="1" dirty="0">
                <a:solidFill>
                  <a:srgbClr val="1A1A2E"/>
                </a:solidFill>
                <a:latin typeface="Calibri" pitchFamily="34" charset="0"/>
                <a:ea typeface="Calibri" pitchFamily="34" charset="-122"/>
                <a:cs typeface="Calibri" pitchFamily="34" charset="-120"/>
              </a:rPr>
              <a:t>Computational Challenge</a:t>
            </a:r>
            <a:endParaRPr lang="en-US" sz="1200" dirty="0"/>
          </a:p>
        </p:txBody>
      </p:sp>
      <p:sp>
        <p:nvSpPr>
          <p:cNvPr id="12" name="Text 10"/>
          <p:cNvSpPr/>
          <p:nvPr/>
        </p:nvSpPr>
        <p:spPr>
          <a:xfrm>
            <a:off x="548640" y="2624328"/>
            <a:ext cx="4754880" cy="502920"/>
          </a:xfrm>
          <a:prstGeom prst="rect">
            <a:avLst/>
          </a:prstGeom>
          <a:noFill/>
          <a:ln/>
        </p:spPr>
        <p:txBody>
          <a:bodyPr wrap="square" lIns="0" tIns="0" rIns="0" bIns="0" rtlCol="0" anchor="ctr"/>
          <a:lstStyle/>
          <a:p>
            <a:pPr marL="0" indent="0" algn="l">
              <a:buNone/>
            </a:pPr>
            <a:r>
              <a:rPr lang="en-US" sz="1000" dirty="0">
                <a:solidFill>
                  <a:srgbClr val="4A5568"/>
                </a:solidFill>
                <a:latin typeface="Calibri" pitchFamily="34" charset="0"/>
                <a:ea typeface="Calibri" pitchFamily="34" charset="-122"/>
                <a:cs typeface="Calibri" pitchFamily="34" charset="-120"/>
              </a:rPr>
              <a:t>Naïve all-pairs force evaluation is O(N²) per timestep. At N = 9,600 and 10 steps, a serial run takes ~1 second. Scaling to millions of particles requires parallelism.</a:t>
            </a:r>
            <a:endParaRPr lang="en-US" sz="1000" dirty="0"/>
          </a:p>
        </p:txBody>
      </p:sp>
      <p:sp>
        <p:nvSpPr>
          <p:cNvPr id="13" name="Shape 11"/>
          <p:cNvSpPr/>
          <p:nvPr/>
        </p:nvSpPr>
        <p:spPr>
          <a:xfrm>
            <a:off x="365760" y="3246120"/>
            <a:ext cx="5120640" cy="804672"/>
          </a:xfrm>
          <a:prstGeom prst="rect">
            <a:avLst/>
          </a:prstGeom>
          <a:solidFill>
            <a:srgbClr val="EEF3FF"/>
          </a:solidFill>
          <a:ln w="12700">
            <a:solidFill>
              <a:srgbClr val="D0DEFF"/>
            </a:solidFill>
            <a:prstDash val="solid"/>
          </a:ln>
          <a:effectLst>
            <a:outerShdw blurRad="101600" dist="38100" dir="8100000" algn="bl" rotWithShape="0">
              <a:srgbClr val="000000">
                <a:alpha val="10000"/>
              </a:srgbClr>
            </a:outerShdw>
          </a:effectLst>
        </p:spPr>
        <p:txBody>
          <a:bodyPr/>
          <a:lstStyle/>
          <a:p>
            <a:endParaRPr lang="en-US"/>
          </a:p>
        </p:txBody>
      </p:sp>
      <p:sp>
        <p:nvSpPr>
          <p:cNvPr id="14" name="Shape 12"/>
          <p:cNvSpPr/>
          <p:nvPr/>
        </p:nvSpPr>
        <p:spPr>
          <a:xfrm>
            <a:off x="365760" y="3246120"/>
            <a:ext cx="64008" cy="804672"/>
          </a:xfrm>
          <a:prstGeom prst="rect">
            <a:avLst/>
          </a:prstGeom>
          <a:solidFill>
            <a:srgbClr val="3A86FF"/>
          </a:solidFill>
          <a:ln w="12700">
            <a:solidFill>
              <a:srgbClr val="3A86FF"/>
            </a:solidFill>
            <a:prstDash val="solid"/>
          </a:ln>
        </p:spPr>
        <p:txBody>
          <a:bodyPr/>
          <a:lstStyle/>
          <a:p>
            <a:endParaRPr lang="en-US"/>
          </a:p>
        </p:txBody>
      </p:sp>
      <p:sp>
        <p:nvSpPr>
          <p:cNvPr id="15" name="Text 13"/>
          <p:cNvSpPr/>
          <p:nvPr/>
        </p:nvSpPr>
        <p:spPr>
          <a:xfrm>
            <a:off x="548640" y="3282696"/>
            <a:ext cx="4754880" cy="256032"/>
          </a:xfrm>
          <a:prstGeom prst="rect">
            <a:avLst/>
          </a:prstGeom>
          <a:noFill/>
          <a:ln/>
        </p:spPr>
        <p:txBody>
          <a:bodyPr wrap="square" lIns="0" tIns="0" rIns="0" bIns="0" rtlCol="0" anchor="ctr"/>
          <a:lstStyle/>
          <a:p>
            <a:pPr marL="0" indent="0" algn="l">
              <a:buNone/>
            </a:pPr>
            <a:r>
              <a:rPr lang="en-US" sz="1200" b="1" dirty="0">
                <a:solidFill>
                  <a:srgbClr val="1A1A2E"/>
                </a:solidFill>
                <a:latin typeface="Calibri" pitchFamily="34" charset="0"/>
                <a:ea typeface="Calibri" pitchFamily="34" charset="-122"/>
                <a:cs typeface="Calibri" pitchFamily="34" charset="-120"/>
              </a:rPr>
              <a:t>Why MPI?</a:t>
            </a:r>
            <a:endParaRPr lang="en-US" sz="1200" dirty="0"/>
          </a:p>
        </p:txBody>
      </p:sp>
      <p:sp>
        <p:nvSpPr>
          <p:cNvPr id="16" name="Text 14"/>
          <p:cNvSpPr/>
          <p:nvPr/>
        </p:nvSpPr>
        <p:spPr>
          <a:xfrm>
            <a:off x="548640" y="3538728"/>
            <a:ext cx="4754880" cy="502920"/>
          </a:xfrm>
          <a:prstGeom prst="rect">
            <a:avLst/>
          </a:prstGeom>
          <a:noFill/>
          <a:ln/>
        </p:spPr>
        <p:txBody>
          <a:bodyPr wrap="square" lIns="0" tIns="0" rIns="0" bIns="0" rtlCol="0" anchor="ctr"/>
          <a:lstStyle/>
          <a:p>
            <a:pPr marL="0" indent="0" algn="l">
              <a:buNone/>
            </a:pPr>
            <a:r>
              <a:rPr lang="en-US" sz="1000" dirty="0">
                <a:solidFill>
                  <a:srgbClr val="4A5568"/>
                </a:solidFill>
                <a:latin typeface="Calibri" pitchFamily="34" charset="0"/>
                <a:ea typeface="Calibri" pitchFamily="34" charset="-122"/>
                <a:cs typeface="Calibri" pitchFamily="34" charset="-120"/>
              </a:rPr>
              <a:t>No shared memory across cluster nodes. Distributed-memory parallelism via MPI lets us exploit all 3 nodes and 24 cores of the Three Idiots cluster simultaneously.</a:t>
            </a:r>
            <a:endParaRPr lang="en-US" sz="1000" dirty="0"/>
          </a:p>
        </p:txBody>
      </p:sp>
      <p:sp>
        <p:nvSpPr>
          <p:cNvPr id="17" name="Shape 15"/>
          <p:cNvSpPr/>
          <p:nvPr/>
        </p:nvSpPr>
        <p:spPr>
          <a:xfrm>
            <a:off x="5760720" y="1417320"/>
            <a:ext cx="3017520" cy="1737360"/>
          </a:xfrm>
          <a:prstGeom prst="rect">
            <a:avLst/>
          </a:prstGeom>
          <a:solidFill>
            <a:srgbClr val="0D1B2A"/>
          </a:solidFill>
          <a:ln w="12700">
            <a:solidFill>
              <a:srgbClr val="16213E"/>
            </a:solidFill>
            <a:prstDash val="solid"/>
          </a:ln>
          <a:effectLst>
            <a:outerShdw blurRad="101600" dist="38100" dir="8100000" algn="bl" rotWithShape="0">
              <a:srgbClr val="000000">
                <a:alpha val="10000"/>
              </a:srgbClr>
            </a:outerShdw>
          </a:effectLst>
        </p:spPr>
        <p:txBody>
          <a:bodyPr/>
          <a:lstStyle/>
          <a:p>
            <a:endParaRPr lang="en-US"/>
          </a:p>
        </p:txBody>
      </p:sp>
      <p:sp>
        <p:nvSpPr>
          <p:cNvPr id="18" name="Text 16"/>
          <p:cNvSpPr/>
          <p:nvPr/>
        </p:nvSpPr>
        <p:spPr>
          <a:xfrm>
            <a:off x="5852160" y="1481328"/>
            <a:ext cx="2834640" cy="274320"/>
          </a:xfrm>
          <a:prstGeom prst="rect">
            <a:avLst/>
          </a:prstGeom>
          <a:noFill/>
          <a:ln/>
        </p:spPr>
        <p:txBody>
          <a:bodyPr wrap="square" rtlCol="0" anchor="ctr"/>
          <a:lstStyle/>
          <a:p>
            <a:pPr marL="0" indent="0" algn="ctr">
              <a:buNone/>
            </a:pPr>
            <a:r>
              <a:rPr lang="en-US" sz="1000" b="1" dirty="0">
                <a:solidFill>
                  <a:srgbClr val="4CC9F0"/>
                </a:solidFill>
                <a:latin typeface="Calibri" pitchFamily="34" charset="0"/>
                <a:ea typeface="Calibri" pitchFamily="34" charset="-122"/>
                <a:cs typeface="Calibri" pitchFamily="34" charset="-120"/>
              </a:rPr>
              <a:t>Softened Force Law</a:t>
            </a:r>
            <a:endParaRPr lang="en-US" sz="1000" dirty="0"/>
          </a:p>
        </p:txBody>
      </p:sp>
      <p:sp>
        <p:nvSpPr>
          <p:cNvPr id="19" name="Text 17"/>
          <p:cNvSpPr/>
          <p:nvPr/>
        </p:nvSpPr>
        <p:spPr>
          <a:xfrm>
            <a:off x="5852160" y="1783080"/>
            <a:ext cx="283464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Fᵢⱼ = G·mⱼ·(rⱼ − rᵢ)</a:t>
            </a:r>
            <a:endParaRPr lang="en-US" sz="1400" dirty="0"/>
          </a:p>
        </p:txBody>
      </p:sp>
      <p:sp>
        <p:nvSpPr>
          <p:cNvPr id="20" name="Text 18"/>
          <p:cNvSpPr/>
          <p:nvPr/>
        </p:nvSpPr>
        <p:spPr>
          <a:xfrm>
            <a:off x="5852160" y="2103120"/>
            <a:ext cx="2834640" cy="274320"/>
          </a:xfrm>
          <a:prstGeom prst="rect">
            <a:avLst/>
          </a:prstGeom>
          <a:noFill/>
          <a:ln/>
        </p:spPr>
        <p:txBody>
          <a:bodyPr wrap="square"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(|rⱼ − rᵢ|² + ε²)³⁄²</a:t>
            </a:r>
            <a:endParaRPr lang="en-US" sz="1300" dirty="0"/>
          </a:p>
        </p:txBody>
      </p:sp>
      <p:sp>
        <p:nvSpPr>
          <p:cNvPr id="21" name="Text 19"/>
          <p:cNvSpPr/>
          <p:nvPr/>
        </p:nvSpPr>
        <p:spPr>
          <a:xfrm>
            <a:off x="5852160" y="2468880"/>
            <a:ext cx="2834640" cy="228600"/>
          </a:xfrm>
          <a:prstGeom prst="rect">
            <a:avLst/>
          </a:prstGeom>
          <a:noFill/>
          <a:ln/>
        </p:spPr>
        <p:txBody>
          <a:bodyPr wrap="square" rtlCol="0" anchor="ctr"/>
          <a:lstStyle/>
          <a:p>
            <a:pPr marL="0" indent="0" algn="ctr">
              <a:buNone/>
            </a:pPr>
            <a:r>
              <a:rPr lang="en-US" sz="900" dirty="0">
                <a:solidFill>
                  <a:srgbClr val="F4A261"/>
                </a:solidFill>
                <a:latin typeface="Calibri" pitchFamily="34" charset="0"/>
                <a:ea typeface="Calibri" pitchFamily="34" charset="-122"/>
                <a:cs typeface="Calibri" pitchFamily="34" charset="-120"/>
              </a:rPr>
              <a:t>ε = 0.05  (Plummer softening)</a:t>
            </a:r>
            <a:endParaRPr lang="en-US" sz="900" dirty="0"/>
          </a:p>
        </p:txBody>
      </p:sp>
      <p:sp>
        <p:nvSpPr>
          <p:cNvPr id="22" name="Text 20"/>
          <p:cNvSpPr/>
          <p:nvPr/>
        </p:nvSpPr>
        <p:spPr>
          <a:xfrm>
            <a:off x="5852160" y="2697480"/>
            <a:ext cx="2834640" cy="228600"/>
          </a:xfrm>
          <a:prstGeom prst="rect">
            <a:avLst/>
          </a:prstGeom>
          <a:noFill/>
          <a:ln/>
        </p:spPr>
        <p:txBody>
          <a:bodyPr wrap="square" rtlCol="0" anchor="ctr"/>
          <a:lstStyle/>
          <a:p>
            <a:pPr marL="0" indent="0" algn="ctr">
              <a:buNone/>
            </a:pPr>
            <a:r>
              <a:rPr lang="en-US" sz="900" dirty="0">
                <a:solidFill>
                  <a:srgbClr val="F4A261"/>
                </a:solidFill>
                <a:latin typeface="Calibri" pitchFamily="34" charset="0"/>
                <a:ea typeface="Calibri" pitchFamily="34" charset="-122"/>
                <a:cs typeface="Calibri" pitchFamily="34" charset="-120"/>
              </a:rPr>
              <a:t>G = 1.0  (N-body units)</a:t>
            </a:r>
            <a:endParaRPr lang="en-US" sz="900" dirty="0"/>
          </a:p>
        </p:txBody>
      </p:sp>
      <p:sp>
        <p:nvSpPr>
          <p:cNvPr id="23" name="Shape 21"/>
          <p:cNvSpPr/>
          <p:nvPr/>
        </p:nvSpPr>
        <p:spPr>
          <a:xfrm>
            <a:off x="5760720" y="3337560"/>
            <a:ext cx="941832" cy="914400"/>
          </a:xfrm>
          <a:prstGeom prst="rect">
            <a:avLst/>
          </a:prstGeom>
          <a:solidFill>
            <a:srgbClr val="EEF3FF"/>
          </a:solidFill>
          <a:ln w="12700">
            <a:solidFill>
              <a:srgbClr val="D0DEFF"/>
            </a:solidFill>
            <a:prstDash val="solid"/>
          </a:ln>
          <a:effectLst>
            <a:outerShdw blurRad="101600" dist="38100" dir="8100000" algn="bl" rotWithShape="0">
              <a:srgbClr val="000000">
                <a:alpha val="10000"/>
              </a:srgbClr>
            </a:outerShdw>
          </a:effectLst>
        </p:spPr>
        <p:txBody>
          <a:bodyPr/>
          <a:lstStyle/>
          <a:p>
            <a:endParaRPr lang="en-US"/>
          </a:p>
        </p:txBody>
      </p:sp>
      <p:sp>
        <p:nvSpPr>
          <p:cNvPr id="24" name="Text 22"/>
          <p:cNvSpPr/>
          <p:nvPr/>
        </p:nvSpPr>
        <p:spPr>
          <a:xfrm>
            <a:off x="5760720" y="3401568"/>
            <a:ext cx="941832" cy="411480"/>
          </a:xfrm>
          <a:prstGeom prst="rect">
            <a:avLst/>
          </a:prstGeom>
          <a:noFill/>
          <a:ln/>
        </p:spPr>
        <p:txBody>
          <a:bodyPr wrap="square" rtlCol="0" anchor="ctr"/>
          <a:lstStyle/>
          <a:p>
            <a:pPr marL="0" indent="0" algn="ctr">
              <a:buNone/>
            </a:pPr>
            <a:r>
              <a:rPr lang="en-US" sz="1800" b="1" dirty="0">
                <a:solidFill>
                  <a:srgbClr val="3A86FF"/>
                </a:solidFill>
                <a:latin typeface="Calibri" pitchFamily="34" charset="0"/>
                <a:ea typeface="Calibri" pitchFamily="34" charset="-122"/>
                <a:cs typeface="Calibri" pitchFamily="34" charset="-120"/>
              </a:rPr>
              <a:t>9,600</a:t>
            </a:r>
            <a:endParaRPr lang="en-US" sz="1800" dirty="0"/>
          </a:p>
        </p:txBody>
      </p:sp>
      <p:sp>
        <p:nvSpPr>
          <p:cNvPr id="25" name="Text 23"/>
          <p:cNvSpPr/>
          <p:nvPr/>
        </p:nvSpPr>
        <p:spPr>
          <a:xfrm>
            <a:off x="5760720" y="3794760"/>
            <a:ext cx="941832" cy="320040"/>
          </a:xfrm>
          <a:prstGeom prst="rect">
            <a:avLst/>
          </a:prstGeom>
          <a:noFill/>
          <a:ln/>
        </p:spPr>
        <p:txBody>
          <a:bodyPr wrap="square" rtlCol="0" anchor="ctr"/>
          <a:lstStyle/>
          <a:p>
            <a:pPr marL="0" indent="0" algn="ctr">
              <a:buNone/>
            </a:pPr>
            <a:r>
              <a:rPr lang="en-US" sz="900" dirty="0">
                <a:solidFill>
                  <a:srgbClr val="4A5568"/>
                </a:solidFill>
                <a:latin typeface="Calibri" pitchFamily="34" charset="0"/>
                <a:ea typeface="Calibri" pitchFamily="34" charset="-122"/>
                <a:cs typeface="Calibri" pitchFamily="34" charset="-120"/>
              </a:rPr>
              <a:t>Max particles</a:t>
            </a:r>
            <a:endParaRPr lang="en-US" sz="900" dirty="0"/>
          </a:p>
        </p:txBody>
      </p:sp>
      <p:sp>
        <p:nvSpPr>
          <p:cNvPr id="26" name="Shape 24"/>
          <p:cNvSpPr/>
          <p:nvPr/>
        </p:nvSpPr>
        <p:spPr>
          <a:xfrm>
            <a:off x="6766560" y="3337560"/>
            <a:ext cx="941832" cy="914400"/>
          </a:xfrm>
          <a:prstGeom prst="rect">
            <a:avLst/>
          </a:prstGeom>
          <a:solidFill>
            <a:srgbClr val="EEF3FF"/>
          </a:solidFill>
          <a:ln w="12700">
            <a:solidFill>
              <a:srgbClr val="D0DEFF"/>
            </a:solidFill>
            <a:prstDash val="solid"/>
          </a:ln>
          <a:effectLst>
            <a:outerShdw blurRad="101600" dist="38100" dir="8100000" algn="bl" rotWithShape="0">
              <a:srgbClr val="000000">
                <a:alpha val="10000"/>
              </a:srgbClr>
            </a:outerShdw>
          </a:effectLst>
        </p:spPr>
        <p:txBody>
          <a:bodyPr/>
          <a:lstStyle/>
          <a:p>
            <a:endParaRPr lang="en-US"/>
          </a:p>
        </p:txBody>
      </p:sp>
      <p:sp>
        <p:nvSpPr>
          <p:cNvPr id="27" name="Text 25"/>
          <p:cNvSpPr/>
          <p:nvPr/>
        </p:nvSpPr>
        <p:spPr>
          <a:xfrm>
            <a:off x="6766560" y="3401568"/>
            <a:ext cx="941832" cy="411480"/>
          </a:xfrm>
          <a:prstGeom prst="rect">
            <a:avLst/>
          </a:prstGeom>
          <a:noFill/>
          <a:ln/>
        </p:spPr>
        <p:txBody>
          <a:bodyPr wrap="square" rtlCol="0" anchor="ctr"/>
          <a:lstStyle/>
          <a:p>
            <a:pPr marL="0" indent="0" algn="ctr">
              <a:buNone/>
            </a:pPr>
            <a:r>
              <a:rPr lang="en-US" sz="1800" b="1" dirty="0">
                <a:solidFill>
                  <a:srgbClr val="3A86FF"/>
                </a:solidFill>
                <a:latin typeface="Calibri" pitchFamily="34" charset="0"/>
                <a:ea typeface="Calibri" pitchFamily="34" charset="-122"/>
                <a:cs typeface="Calibri" pitchFamily="34" charset="-120"/>
              </a:rPr>
              <a:t>O(N²)</a:t>
            </a:r>
            <a:endParaRPr lang="en-US" sz="1800" dirty="0"/>
          </a:p>
        </p:txBody>
      </p:sp>
      <p:sp>
        <p:nvSpPr>
          <p:cNvPr id="28" name="Text 26"/>
          <p:cNvSpPr/>
          <p:nvPr/>
        </p:nvSpPr>
        <p:spPr>
          <a:xfrm>
            <a:off x="6766560" y="3794760"/>
            <a:ext cx="941832" cy="320040"/>
          </a:xfrm>
          <a:prstGeom prst="rect">
            <a:avLst/>
          </a:prstGeom>
          <a:noFill/>
          <a:ln/>
        </p:spPr>
        <p:txBody>
          <a:bodyPr wrap="square" rtlCol="0" anchor="ctr"/>
          <a:lstStyle/>
          <a:p>
            <a:pPr marL="0" indent="0" algn="ctr">
              <a:buNone/>
            </a:pPr>
            <a:r>
              <a:rPr lang="en-US" sz="900" dirty="0">
                <a:solidFill>
                  <a:srgbClr val="4A5568"/>
                </a:solidFill>
                <a:latin typeface="Calibri" pitchFamily="34" charset="0"/>
                <a:ea typeface="Calibri" pitchFamily="34" charset="-122"/>
                <a:cs typeface="Calibri" pitchFamily="34" charset="-120"/>
              </a:rPr>
              <a:t>Per timestep</a:t>
            </a:r>
            <a:endParaRPr lang="en-US" sz="900" dirty="0"/>
          </a:p>
        </p:txBody>
      </p:sp>
      <p:sp>
        <p:nvSpPr>
          <p:cNvPr id="29" name="Shape 27"/>
          <p:cNvSpPr/>
          <p:nvPr/>
        </p:nvSpPr>
        <p:spPr>
          <a:xfrm>
            <a:off x="7772400" y="3337560"/>
            <a:ext cx="941832" cy="914400"/>
          </a:xfrm>
          <a:prstGeom prst="rect">
            <a:avLst/>
          </a:prstGeom>
          <a:solidFill>
            <a:srgbClr val="EEF3FF"/>
          </a:solidFill>
          <a:ln w="12700">
            <a:solidFill>
              <a:srgbClr val="D0DEFF"/>
            </a:solidFill>
            <a:prstDash val="solid"/>
          </a:ln>
          <a:effectLst>
            <a:outerShdw blurRad="101600" dist="38100" dir="8100000" algn="bl" rotWithShape="0">
              <a:srgbClr val="000000">
                <a:alpha val="10000"/>
              </a:srgbClr>
            </a:outerShdw>
          </a:effectLst>
        </p:spPr>
        <p:txBody>
          <a:bodyPr/>
          <a:lstStyle/>
          <a:p>
            <a:endParaRPr lang="en-US"/>
          </a:p>
        </p:txBody>
      </p:sp>
      <p:sp>
        <p:nvSpPr>
          <p:cNvPr id="30" name="Text 28"/>
          <p:cNvSpPr/>
          <p:nvPr/>
        </p:nvSpPr>
        <p:spPr>
          <a:xfrm>
            <a:off x="7772400" y="3401568"/>
            <a:ext cx="941832" cy="411480"/>
          </a:xfrm>
          <a:prstGeom prst="rect">
            <a:avLst/>
          </a:prstGeom>
          <a:noFill/>
          <a:ln/>
        </p:spPr>
        <p:txBody>
          <a:bodyPr wrap="square" rtlCol="0" anchor="ctr"/>
          <a:lstStyle/>
          <a:p>
            <a:pPr marL="0" indent="0" algn="ctr">
              <a:buNone/>
            </a:pPr>
            <a:r>
              <a:rPr lang="en-US" sz="1800" b="1" dirty="0">
                <a:solidFill>
                  <a:srgbClr val="3A86FF"/>
                </a:solidFill>
                <a:latin typeface="Calibri" pitchFamily="34" charset="0"/>
                <a:ea typeface="Calibri" pitchFamily="34" charset="-122"/>
                <a:cs typeface="Calibri" pitchFamily="34" charset="-120"/>
              </a:rPr>
              <a:t>3 nodes</a:t>
            </a:r>
            <a:endParaRPr lang="en-US" sz="1800" dirty="0"/>
          </a:p>
        </p:txBody>
      </p:sp>
      <p:sp>
        <p:nvSpPr>
          <p:cNvPr id="31" name="Text 29"/>
          <p:cNvSpPr/>
          <p:nvPr/>
        </p:nvSpPr>
        <p:spPr>
          <a:xfrm>
            <a:off x="7772400" y="3794760"/>
            <a:ext cx="941832" cy="320040"/>
          </a:xfrm>
          <a:prstGeom prst="rect">
            <a:avLst/>
          </a:prstGeom>
          <a:noFill/>
          <a:ln/>
        </p:spPr>
        <p:txBody>
          <a:bodyPr wrap="square" rtlCol="0" anchor="ctr"/>
          <a:lstStyle/>
          <a:p>
            <a:pPr marL="0" indent="0" algn="ctr">
              <a:buNone/>
            </a:pPr>
            <a:r>
              <a:rPr lang="en-US" sz="900" dirty="0">
                <a:solidFill>
                  <a:srgbClr val="4A5568"/>
                </a:solidFill>
                <a:latin typeface="Calibri" pitchFamily="34" charset="0"/>
                <a:ea typeface="Calibri" pitchFamily="34" charset="-122"/>
                <a:cs typeface="Calibri" pitchFamily="34" charset="-120"/>
              </a:rPr>
              <a:t>24 cores total</a:t>
            </a:r>
            <a:endParaRPr lang="en-US" sz="900" dirty="0"/>
          </a:p>
        </p:txBody>
      </p:sp>
    </p:spTree>
    <p:extLst>
      <p:ext uri="{BB962C8B-B14F-4D97-AF65-F5344CB8AC3E}">
        <p14:creationId xmlns:p14="http://schemas.microsoft.com/office/powerpoint/2010/main" val="3808228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0"/>
            <a:ext cx="8229600" cy="502920"/>
          </a:xfrm>
          <a:prstGeom prst="rect">
            <a:avLst/>
          </a:prstGeom>
          <a:noFill/>
          <a:ln/>
        </p:spPr>
        <p:txBody>
          <a:bodyPr wrap="square" rtlCol="0" anchor="ctr"/>
          <a:lstStyle/>
          <a:p>
            <a:pPr marL="0" indent="0">
              <a:buNone/>
            </a:pPr>
            <a:r>
              <a:rPr lang="en-US" sz="1300" b="1" kern="0" spc="400" dirty="0">
                <a:solidFill>
                  <a:srgbClr val="4CC9F0"/>
                </a:solidFill>
                <a:latin typeface="Calibri" pitchFamily="34" charset="0"/>
                <a:ea typeface="Calibri" pitchFamily="34" charset="-122"/>
                <a:cs typeface="Calibri" pitchFamily="34" charset="-120"/>
              </a:rPr>
              <a:t>IMPLEMENTATION</a:t>
            </a:r>
            <a:endParaRPr lang="en-US" sz="1300" dirty="0"/>
          </a:p>
        </p:txBody>
      </p:sp>
      <p:sp>
        <p:nvSpPr>
          <p:cNvPr id="4" name="Text 2"/>
          <p:cNvSpPr/>
          <p:nvPr/>
        </p:nvSpPr>
        <p:spPr>
          <a:xfrm>
            <a:off x="365760" y="640080"/>
            <a:ext cx="8229600" cy="50292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Algorithm &amp; Parallel Design</a:t>
            </a:r>
            <a:endParaRPr lang="en-US" sz="2800" dirty="0"/>
          </a:p>
        </p:txBody>
      </p:sp>
      <p:sp>
        <p:nvSpPr>
          <p:cNvPr id="5" name="Text 3"/>
          <p:cNvSpPr/>
          <p:nvPr/>
        </p:nvSpPr>
        <p:spPr>
          <a:xfrm>
            <a:off x="365760" y="1298448"/>
            <a:ext cx="4023360" cy="292608"/>
          </a:xfrm>
          <a:prstGeom prst="rect">
            <a:avLst/>
          </a:prstGeom>
          <a:noFill/>
          <a:ln/>
        </p:spPr>
        <p:txBody>
          <a:bodyPr wrap="square" lIns="0" tIns="0" rIns="0" bIns="0"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Leapfrog (KDK) Integration</a:t>
            </a:r>
            <a:endParaRPr lang="en-US" sz="1300" dirty="0"/>
          </a:p>
        </p:txBody>
      </p:sp>
      <p:sp>
        <p:nvSpPr>
          <p:cNvPr id="6" name="Shape 4"/>
          <p:cNvSpPr/>
          <p:nvPr/>
        </p:nvSpPr>
        <p:spPr>
          <a:xfrm>
            <a:off x="365760" y="1709928"/>
            <a:ext cx="292608" cy="292608"/>
          </a:xfrm>
          <a:prstGeom prst="ellipse">
            <a:avLst/>
          </a:prstGeom>
          <a:solidFill>
            <a:srgbClr val="3A86FF"/>
          </a:solidFill>
          <a:ln w="12700">
            <a:solidFill>
              <a:srgbClr val="3A86FF"/>
            </a:solidFill>
            <a:prstDash val="solid"/>
          </a:ln>
        </p:spPr>
        <p:txBody>
          <a:bodyPr/>
          <a:lstStyle/>
          <a:p>
            <a:endParaRPr lang="en-US"/>
          </a:p>
        </p:txBody>
      </p:sp>
      <p:sp>
        <p:nvSpPr>
          <p:cNvPr id="7" name="Text 5"/>
          <p:cNvSpPr/>
          <p:nvPr/>
        </p:nvSpPr>
        <p:spPr>
          <a:xfrm>
            <a:off x="365760" y="1709928"/>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749808" y="1709928"/>
            <a:ext cx="1371600" cy="292608"/>
          </a:xfrm>
          <a:prstGeom prst="rect">
            <a:avLst/>
          </a:prstGeom>
          <a:noFill/>
          <a:ln/>
        </p:spPr>
        <p:txBody>
          <a:bodyPr wrap="square" lIns="0" tIns="0" rIns="0" bIns="0" rtlCol="0" anchor="ctr"/>
          <a:lstStyle/>
          <a:p>
            <a:pPr marL="0" indent="0" algn="l">
              <a:buNone/>
            </a:pPr>
            <a:r>
              <a:rPr lang="en-US" sz="1100" b="1" dirty="0">
                <a:solidFill>
                  <a:srgbClr val="1A1A2E"/>
                </a:solidFill>
                <a:latin typeface="Calibri" pitchFamily="34" charset="0"/>
                <a:ea typeface="Calibri" pitchFamily="34" charset="-122"/>
                <a:cs typeface="Calibri" pitchFamily="34" charset="-120"/>
              </a:rPr>
              <a:t>Half-kick</a:t>
            </a:r>
            <a:endParaRPr lang="en-US" sz="1100" dirty="0"/>
          </a:p>
        </p:txBody>
      </p:sp>
      <p:sp>
        <p:nvSpPr>
          <p:cNvPr id="9" name="Text 7"/>
          <p:cNvSpPr/>
          <p:nvPr/>
        </p:nvSpPr>
        <p:spPr>
          <a:xfrm>
            <a:off x="2212848" y="1709928"/>
            <a:ext cx="2103120" cy="292608"/>
          </a:xfrm>
          <a:prstGeom prst="rect">
            <a:avLst/>
          </a:prstGeom>
          <a:noFill/>
          <a:ln/>
        </p:spPr>
        <p:txBody>
          <a:bodyPr wrap="square" lIns="0" tIns="0" rIns="0" bIns="0" rtlCol="0" anchor="ctr"/>
          <a:lstStyle/>
          <a:p>
            <a:pPr marL="0" indent="0" algn="l">
              <a:buNone/>
            </a:pPr>
            <a:r>
              <a:rPr lang="en-US" sz="950" dirty="0">
                <a:solidFill>
                  <a:srgbClr val="4A5568"/>
                </a:solidFill>
                <a:latin typeface="Calibri" pitchFamily="34" charset="0"/>
                <a:ea typeface="Calibri" pitchFamily="34" charset="-122"/>
                <a:cs typeface="Calibri" pitchFamily="34" charset="-120"/>
              </a:rPr>
              <a:t>v += (F/m)·Δt/2</a:t>
            </a:r>
            <a:endParaRPr lang="en-US" sz="950" dirty="0"/>
          </a:p>
        </p:txBody>
      </p:sp>
      <p:sp>
        <p:nvSpPr>
          <p:cNvPr id="10" name="Shape 8"/>
          <p:cNvSpPr/>
          <p:nvPr/>
        </p:nvSpPr>
        <p:spPr>
          <a:xfrm>
            <a:off x="512064" y="2002536"/>
            <a:ext cx="0" cy="155448"/>
          </a:xfrm>
          <a:prstGeom prst="line">
            <a:avLst/>
          </a:prstGeom>
          <a:noFill/>
          <a:ln w="12700">
            <a:solidFill>
              <a:srgbClr val="CCCCCC"/>
            </a:solidFill>
            <a:prstDash val="solid"/>
          </a:ln>
        </p:spPr>
        <p:txBody>
          <a:bodyPr/>
          <a:lstStyle/>
          <a:p>
            <a:endParaRPr lang="en-US"/>
          </a:p>
        </p:txBody>
      </p:sp>
      <p:sp>
        <p:nvSpPr>
          <p:cNvPr id="11" name="Shape 9"/>
          <p:cNvSpPr/>
          <p:nvPr/>
        </p:nvSpPr>
        <p:spPr>
          <a:xfrm>
            <a:off x="365760" y="2176272"/>
            <a:ext cx="292608" cy="292608"/>
          </a:xfrm>
          <a:prstGeom prst="ellipse">
            <a:avLst/>
          </a:prstGeom>
          <a:solidFill>
            <a:srgbClr val="F4A261"/>
          </a:solidFill>
          <a:ln w="12700">
            <a:solidFill>
              <a:srgbClr val="F4A261"/>
            </a:solidFill>
            <a:prstDash val="solid"/>
          </a:ln>
        </p:spPr>
        <p:txBody>
          <a:bodyPr/>
          <a:lstStyle/>
          <a:p>
            <a:endParaRPr lang="en-US"/>
          </a:p>
        </p:txBody>
      </p:sp>
      <p:sp>
        <p:nvSpPr>
          <p:cNvPr id="12" name="Text 10"/>
          <p:cNvSpPr/>
          <p:nvPr/>
        </p:nvSpPr>
        <p:spPr>
          <a:xfrm>
            <a:off x="365760" y="2176272"/>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749808" y="2176272"/>
            <a:ext cx="1371600" cy="292608"/>
          </a:xfrm>
          <a:prstGeom prst="rect">
            <a:avLst/>
          </a:prstGeom>
          <a:noFill/>
          <a:ln/>
        </p:spPr>
        <p:txBody>
          <a:bodyPr wrap="square" lIns="0" tIns="0" rIns="0" bIns="0" rtlCol="0" anchor="ctr"/>
          <a:lstStyle/>
          <a:p>
            <a:pPr marL="0" indent="0" algn="l">
              <a:buNone/>
            </a:pPr>
            <a:r>
              <a:rPr lang="en-US" sz="1100" b="1" dirty="0">
                <a:solidFill>
                  <a:srgbClr val="1A1A2E"/>
                </a:solidFill>
                <a:latin typeface="Calibri" pitchFamily="34" charset="0"/>
                <a:ea typeface="Calibri" pitchFamily="34" charset="-122"/>
                <a:cs typeface="Calibri" pitchFamily="34" charset="-120"/>
              </a:rPr>
              <a:t>Drift</a:t>
            </a:r>
            <a:endParaRPr lang="en-US" sz="1100" dirty="0"/>
          </a:p>
        </p:txBody>
      </p:sp>
      <p:sp>
        <p:nvSpPr>
          <p:cNvPr id="14" name="Text 12"/>
          <p:cNvSpPr/>
          <p:nvPr/>
        </p:nvSpPr>
        <p:spPr>
          <a:xfrm>
            <a:off x="2212848" y="2176272"/>
            <a:ext cx="2103120" cy="292608"/>
          </a:xfrm>
          <a:prstGeom prst="rect">
            <a:avLst/>
          </a:prstGeom>
          <a:noFill/>
          <a:ln/>
        </p:spPr>
        <p:txBody>
          <a:bodyPr wrap="square" lIns="0" tIns="0" rIns="0" bIns="0" rtlCol="0" anchor="ctr"/>
          <a:lstStyle/>
          <a:p>
            <a:pPr marL="0" indent="0" algn="l">
              <a:buNone/>
            </a:pPr>
            <a:r>
              <a:rPr lang="en-US" sz="950" dirty="0">
                <a:solidFill>
                  <a:srgbClr val="4A5568"/>
                </a:solidFill>
                <a:latin typeface="Calibri" pitchFamily="34" charset="0"/>
                <a:ea typeface="Calibri" pitchFamily="34" charset="-122"/>
                <a:cs typeface="Calibri" pitchFamily="34" charset="-120"/>
              </a:rPr>
              <a:t>x += v·Δt</a:t>
            </a:r>
            <a:endParaRPr lang="en-US" sz="950" dirty="0"/>
          </a:p>
        </p:txBody>
      </p:sp>
      <p:sp>
        <p:nvSpPr>
          <p:cNvPr id="15" name="Shape 13"/>
          <p:cNvSpPr/>
          <p:nvPr/>
        </p:nvSpPr>
        <p:spPr>
          <a:xfrm>
            <a:off x="512064" y="2468880"/>
            <a:ext cx="0" cy="155448"/>
          </a:xfrm>
          <a:prstGeom prst="line">
            <a:avLst/>
          </a:prstGeom>
          <a:noFill/>
          <a:ln w="12700">
            <a:solidFill>
              <a:srgbClr val="CCCCCC"/>
            </a:solidFill>
            <a:prstDash val="solid"/>
          </a:ln>
        </p:spPr>
        <p:txBody>
          <a:bodyPr/>
          <a:lstStyle/>
          <a:p>
            <a:endParaRPr lang="en-US"/>
          </a:p>
        </p:txBody>
      </p:sp>
      <p:sp>
        <p:nvSpPr>
          <p:cNvPr id="16" name="Shape 14"/>
          <p:cNvSpPr/>
          <p:nvPr/>
        </p:nvSpPr>
        <p:spPr>
          <a:xfrm>
            <a:off x="365760" y="2642616"/>
            <a:ext cx="292608" cy="292608"/>
          </a:xfrm>
          <a:prstGeom prst="ellipse">
            <a:avLst/>
          </a:prstGeom>
          <a:solidFill>
            <a:srgbClr val="6366F1"/>
          </a:solidFill>
          <a:ln w="12700">
            <a:solidFill>
              <a:srgbClr val="6366F1"/>
            </a:solidFill>
            <a:prstDash val="solid"/>
          </a:ln>
        </p:spPr>
        <p:txBody>
          <a:bodyPr/>
          <a:lstStyle/>
          <a:p>
            <a:endParaRPr lang="en-US"/>
          </a:p>
        </p:txBody>
      </p:sp>
      <p:sp>
        <p:nvSpPr>
          <p:cNvPr id="17" name="Text 15"/>
          <p:cNvSpPr/>
          <p:nvPr/>
        </p:nvSpPr>
        <p:spPr>
          <a:xfrm>
            <a:off x="365760" y="2642616"/>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749808" y="2642616"/>
            <a:ext cx="1371600" cy="292608"/>
          </a:xfrm>
          <a:prstGeom prst="rect">
            <a:avLst/>
          </a:prstGeom>
          <a:noFill/>
          <a:ln/>
        </p:spPr>
        <p:txBody>
          <a:bodyPr wrap="square" lIns="0" tIns="0" rIns="0" bIns="0" rtlCol="0" anchor="ctr"/>
          <a:lstStyle/>
          <a:p>
            <a:pPr marL="0" indent="0" algn="l">
              <a:buNone/>
            </a:pPr>
            <a:r>
              <a:rPr lang="en-US" sz="1100" b="1" dirty="0">
                <a:solidFill>
                  <a:srgbClr val="1A1A2E"/>
                </a:solidFill>
                <a:latin typeface="Calibri" pitchFamily="34" charset="0"/>
                <a:ea typeface="Calibri" pitchFamily="34" charset="-122"/>
                <a:cs typeface="Calibri" pitchFamily="34" charset="-120"/>
              </a:rPr>
              <a:t>Allgatherv×3</a:t>
            </a:r>
            <a:endParaRPr lang="en-US" sz="1100" dirty="0"/>
          </a:p>
        </p:txBody>
      </p:sp>
      <p:sp>
        <p:nvSpPr>
          <p:cNvPr id="19" name="Text 17"/>
          <p:cNvSpPr/>
          <p:nvPr/>
        </p:nvSpPr>
        <p:spPr>
          <a:xfrm>
            <a:off x="2212848" y="2642616"/>
            <a:ext cx="2103120" cy="292608"/>
          </a:xfrm>
          <a:prstGeom prst="rect">
            <a:avLst/>
          </a:prstGeom>
          <a:noFill/>
          <a:ln/>
        </p:spPr>
        <p:txBody>
          <a:bodyPr wrap="square" lIns="0" tIns="0" rIns="0" bIns="0" rtlCol="0" anchor="ctr"/>
          <a:lstStyle/>
          <a:p>
            <a:pPr marL="0" indent="0" algn="l">
              <a:buNone/>
            </a:pPr>
            <a:r>
              <a:rPr lang="en-US" sz="950" dirty="0">
                <a:solidFill>
                  <a:srgbClr val="4A5568"/>
                </a:solidFill>
                <a:latin typeface="Calibri" pitchFamily="34" charset="0"/>
                <a:ea typeface="Calibri" pitchFamily="34" charset="-122"/>
                <a:cs typeface="Calibri" pitchFamily="34" charset="-120"/>
              </a:rPr>
              <a:t>Sync all positions across P ranks</a:t>
            </a:r>
            <a:endParaRPr lang="en-US" sz="950" dirty="0"/>
          </a:p>
        </p:txBody>
      </p:sp>
      <p:sp>
        <p:nvSpPr>
          <p:cNvPr id="20" name="Shape 18"/>
          <p:cNvSpPr/>
          <p:nvPr/>
        </p:nvSpPr>
        <p:spPr>
          <a:xfrm>
            <a:off x="512064" y="2935224"/>
            <a:ext cx="0" cy="155448"/>
          </a:xfrm>
          <a:prstGeom prst="line">
            <a:avLst/>
          </a:prstGeom>
          <a:noFill/>
          <a:ln w="12700">
            <a:solidFill>
              <a:srgbClr val="CCCCCC"/>
            </a:solidFill>
            <a:prstDash val="solid"/>
          </a:ln>
        </p:spPr>
        <p:txBody>
          <a:bodyPr/>
          <a:lstStyle/>
          <a:p>
            <a:endParaRPr lang="en-US"/>
          </a:p>
        </p:txBody>
      </p:sp>
      <p:sp>
        <p:nvSpPr>
          <p:cNvPr id="21" name="Shape 19"/>
          <p:cNvSpPr/>
          <p:nvPr/>
        </p:nvSpPr>
        <p:spPr>
          <a:xfrm>
            <a:off x="365760" y="3108960"/>
            <a:ext cx="292608" cy="292608"/>
          </a:xfrm>
          <a:prstGeom prst="ellipse">
            <a:avLst/>
          </a:prstGeom>
          <a:solidFill>
            <a:srgbClr val="10B981"/>
          </a:solidFill>
          <a:ln w="12700">
            <a:solidFill>
              <a:srgbClr val="10B981"/>
            </a:solidFill>
            <a:prstDash val="solid"/>
          </a:ln>
        </p:spPr>
        <p:txBody>
          <a:bodyPr/>
          <a:lstStyle/>
          <a:p>
            <a:endParaRPr lang="en-US"/>
          </a:p>
        </p:txBody>
      </p:sp>
      <p:sp>
        <p:nvSpPr>
          <p:cNvPr id="22" name="Text 20"/>
          <p:cNvSpPr/>
          <p:nvPr/>
        </p:nvSpPr>
        <p:spPr>
          <a:xfrm>
            <a:off x="365760" y="3108960"/>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1"/>
          <p:cNvSpPr/>
          <p:nvPr/>
        </p:nvSpPr>
        <p:spPr>
          <a:xfrm>
            <a:off x="749808" y="3108960"/>
            <a:ext cx="1371600" cy="292608"/>
          </a:xfrm>
          <a:prstGeom prst="rect">
            <a:avLst/>
          </a:prstGeom>
          <a:noFill/>
          <a:ln/>
        </p:spPr>
        <p:txBody>
          <a:bodyPr wrap="square" lIns="0" tIns="0" rIns="0" bIns="0" rtlCol="0" anchor="ctr"/>
          <a:lstStyle/>
          <a:p>
            <a:pPr marL="0" indent="0" algn="l">
              <a:buNone/>
            </a:pPr>
            <a:r>
              <a:rPr lang="en-US" sz="1100" b="1" dirty="0">
                <a:solidFill>
                  <a:srgbClr val="1A1A2E"/>
                </a:solidFill>
                <a:latin typeface="Calibri" pitchFamily="34" charset="0"/>
                <a:ea typeface="Calibri" pitchFamily="34" charset="-122"/>
                <a:cs typeface="Calibri" pitchFamily="34" charset="-120"/>
              </a:rPr>
              <a:t>Force eval</a:t>
            </a:r>
            <a:endParaRPr lang="en-US" sz="1100" dirty="0"/>
          </a:p>
        </p:txBody>
      </p:sp>
      <p:sp>
        <p:nvSpPr>
          <p:cNvPr id="24" name="Text 22"/>
          <p:cNvSpPr/>
          <p:nvPr/>
        </p:nvSpPr>
        <p:spPr>
          <a:xfrm>
            <a:off x="2212848" y="3108960"/>
            <a:ext cx="2103120" cy="292608"/>
          </a:xfrm>
          <a:prstGeom prst="rect">
            <a:avLst/>
          </a:prstGeom>
          <a:noFill/>
          <a:ln/>
        </p:spPr>
        <p:txBody>
          <a:bodyPr wrap="square" lIns="0" tIns="0" rIns="0" bIns="0" rtlCol="0" anchor="ctr"/>
          <a:lstStyle/>
          <a:p>
            <a:pPr marL="0" indent="0" algn="l">
              <a:buNone/>
            </a:pPr>
            <a:r>
              <a:rPr lang="en-US" sz="950" dirty="0">
                <a:solidFill>
                  <a:srgbClr val="4A5568"/>
                </a:solidFill>
                <a:latin typeface="Calibri" pitchFamily="34" charset="0"/>
                <a:ea typeface="Calibri" pitchFamily="34" charset="-122"/>
                <a:cs typeface="Calibri" pitchFamily="34" charset="-120"/>
              </a:rPr>
              <a:t>F = G·Σ mⱼ·(rⱼ−rᵢ) / (r²+ε²)^{3/2}</a:t>
            </a:r>
            <a:endParaRPr lang="en-US" sz="950" dirty="0"/>
          </a:p>
        </p:txBody>
      </p:sp>
      <p:sp>
        <p:nvSpPr>
          <p:cNvPr id="25" name="Shape 23"/>
          <p:cNvSpPr/>
          <p:nvPr/>
        </p:nvSpPr>
        <p:spPr>
          <a:xfrm>
            <a:off x="512064" y="3401568"/>
            <a:ext cx="0" cy="155448"/>
          </a:xfrm>
          <a:prstGeom prst="line">
            <a:avLst/>
          </a:prstGeom>
          <a:noFill/>
          <a:ln w="12700">
            <a:solidFill>
              <a:srgbClr val="CCCCCC"/>
            </a:solidFill>
            <a:prstDash val="solid"/>
          </a:ln>
        </p:spPr>
        <p:txBody>
          <a:bodyPr/>
          <a:lstStyle/>
          <a:p>
            <a:endParaRPr lang="en-US"/>
          </a:p>
        </p:txBody>
      </p:sp>
      <p:sp>
        <p:nvSpPr>
          <p:cNvPr id="26" name="Shape 24"/>
          <p:cNvSpPr/>
          <p:nvPr/>
        </p:nvSpPr>
        <p:spPr>
          <a:xfrm>
            <a:off x="365760" y="3575304"/>
            <a:ext cx="292608" cy="292608"/>
          </a:xfrm>
          <a:prstGeom prst="ellipse">
            <a:avLst/>
          </a:prstGeom>
          <a:solidFill>
            <a:srgbClr val="3A86FF"/>
          </a:solidFill>
          <a:ln w="12700">
            <a:solidFill>
              <a:srgbClr val="3A86FF"/>
            </a:solidFill>
            <a:prstDash val="solid"/>
          </a:ln>
        </p:spPr>
        <p:txBody>
          <a:bodyPr/>
          <a:lstStyle/>
          <a:p>
            <a:endParaRPr lang="en-US"/>
          </a:p>
        </p:txBody>
      </p:sp>
      <p:sp>
        <p:nvSpPr>
          <p:cNvPr id="27" name="Text 25"/>
          <p:cNvSpPr/>
          <p:nvPr/>
        </p:nvSpPr>
        <p:spPr>
          <a:xfrm>
            <a:off x="365760" y="3575304"/>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8" name="Text 26"/>
          <p:cNvSpPr/>
          <p:nvPr/>
        </p:nvSpPr>
        <p:spPr>
          <a:xfrm>
            <a:off x="749808" y="3575304"/>
            <a:ext cx="1371600" cy="292608"/>
          </a:xfrm>
          <a:prstGeom prst="rect">
            <a:avLst/>
          </a:prstGeom>
          <a:noFill/>
          <a:ln/>
        </p:spPr>
        <p:txBody>
          <a:bodyPr wrap="square" lIns="0" tIns="0" rIns="0" bIns="0" rtlCol="0" anchor="ctr"/>
          <a:lstStyle/>
          <a:p>
            <a:pPr marL="0" indent="0" algn="l">
              <a:buNone/>
            </a:pPr>
            <a:r>
              <a:rPr lang="en-US" sz="1100" b="1" dirty="0">
                <a:solidFill>
                  <a:srgbClr val="1A1A2E"/>
                </a:solidFill>
                <a:latin typeface="Calibri" pitchFamily="34" charset="0"/>
                <a:ea typeface="Calibri" pitchFamily="34" charset="-122"/>
                <a:cs typeface="Calibri" pitchFamily="34" charset="-120"/>
              </a:rPr>
              <a:t>Half-kick</a:t>
            </a:r>
            <a:endParaRPr lang="en-US" sz="1100" dirty="0"/>
          </a:p>
        </p:txBody>
      </p:sp>
      <p:sp>
        <p:nvSpPr>
          <p:cNvPr id="29" name="Text 27"/>
          <p:cNvSpPr/>
          <p:nvPr/>
        </p:nvSpPr>
        <p:spPr>
          <a:xfrm>
            <a:off x="2212848" y="3575304"/>
            <a:ext cx="2103120" cy="292608"/>
          </a:xfrm>
          <a:prstGeom prst="rect">
            <a:avLst/>
          </a:prstGeom>
          <a:noFill/>
          <a:ln/>
        </p:spPr>
        <p:txBody>
          <a:bodyPr wrap="square" lIns="0" tIns="0" rIns="0" bIns="0" rtlCol="0" anchor="ctr"/>
          <a:lstStyle/>
          <a:p>
            <a:pPr marL="0" indent="0" algn="l">
              <a:buNone/>
            </a:pPr>
            <a:r>
              <a:rPr lang="en-US" sz="950" dirty="0">
                <a:solidFill>
                  <a:srgbClr val="4A5568"/>
                </a:solidFill>
                <a:latin typeface="Calibri" pitchFamily="34" charset="0"/>
                <a:ea typeface="Calibri" pitchFamily="34" charset="-122"/>
                <a:cs typeface="Calibri" pitchFamily="34" charset="-120"/>
              </a:rPr>
              <a:t>v += (F/m)·Δt/2</a:t>
            </a:r>
            <a:endParaRPr lang="en-US" sz="950" dirty="0"/>
          </a:p>
        </p:txBody>
      </p:sp>
      <p:sp>
        <p:nvSpPr>
          <p:cNvPr id="30" name="Text 28"/>
          <p:cNvSpPr/>
          <p:nvPr/>
        </p:nvSpPr>
        <p:spPr>
          <a:xfrm>
            <a:off x="4572000" y="1298448"/>
            <a:ext cx="4206240" cy="292608"/>
          </a:xfrm>
          <a:prstGeom prst="rect">
            <a:avLst/>
          </a:prstGeom>
          <a:noFill/>
          <a:ln/>
        </p:spPr>
        <p:txBody>
          <a:bodyPr wrap="square" lIns="0" tIns="0" rIns="0" bIns="0"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MPI Decomposition</a:t>
            </a:r>
            <a:endParaRPr lang="en-US" sz="1300" dirty="0"/>
          </a:p>
        </p:txBody>
      </p:sp>
      <p:sp>
        <p:nvSpPr>
          <p:cNvPr id="31" name="Shape 29"/>
          <p:cNvSpPr/>
          <p:nvPr/>
        </p:nvSpPr>
        <p:spPr>
          <a:xfrm>
            <a:off x="4572000" y="1691640"/>
            <a:ext cx="1005840" cy="347472"/>
          </a:xfrm>
          <a:prstGeom prst="rect">
            <a:avLst/>
          </a:prstGeom>
          <a:solidFill>
            <a:srgbClr val="3A86FF"/>
          </a:solidFill>
          <a:ln w="12700">
            <a:solidFill>
              <a:srgbClr val="3A86FF"/>
            </a:solidFill>
            <a:prstDash val="solid"/>
          </a:ln>
        </p:spPr>
        <p:txBody>
          <a:bodyPr/>
          <a:lstStyle/>
          <a:p>
            <a:endParaRPr lang="en-US"/>
          </a:p>
        </p:txBody>
      </p:sp>
      <p:sp>
        <p:nvSpPr>
          <p:cNvPr id="32" name="Text 30"/>
          <p:cNvSpPr/>
          <p:nvPr/>
        </p:nvSpPr>
        <p:spPr>
          <a:xfrm>
            <a:off x="4572000" y="1691640"/>
            <a:ext cx="1005840"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Rank 0</a:t>
            </a:r>
            <a:endParaRPr lang="en-US" sz="900" dirty="0"/>
          </a:p>
        </p:txBody>
      </p:sp>
      <p:sp>
        <p:nvSpPr>
          <p:cNvPr id="33" name="Shape 31"/>
          <p:cNvSpPr/>
          <p:nvPr/>
        </p:nvSpPr>
        <p:spPr>
          <a:xfrm>
            <a:off x="5669280" y="1691640"/>
            <a:ext cx="2286000" cy="347472"/>
          </a:xfrm>
          <a:prstGeom prst="rect">
            <a:avLst/>
          </a:prstGeom>
          <a:solidFill>
            <a:srgbClr val="EEF3FF"/>
          </a:solidFill>
          <a:ln w="19050">
            <a:solidFill>
              <a:srgbClr val="3A86FF"/>
            </a:solidFill>
            <a:prstDash val="solid"/>
          </a:ln>
        </p:spPr>
        <p:txBody>
          <a:bodyPr/>
          <a:lstStyle/>
          <a:p>
            <a:endParaRPr lang="en-US"/>
          </a:p>
        </p:txBody>
      </p:sp>
      <p:sp>
        <p:nvSpPr>
          <p:cNvPr id="34" name="Text 32"/>
          <p:cNvSpPr/>
          <p:nvPr/>
        </p:nvSpPr>
        <p:spPr>
          <a:xfrm>
            <a:off x="5669280" y="1691640"/>
            <a:ext cx="2286000" cy="347472"/>
          </a:xfrm>
          <a:prstGeom prst="rect">
            <a:avLst/>
          </a:prstGeom>
          <a:noFill/>
          <a:ln/>
        </p:spPr>
        <p:txBody>
          <a:bodyPr wrap="square" rtlCol="0" anchor="ctr"/>
          <a:lstStyle/>
          <a:p>
            <a:pPr marL="0" indent="0" algn="ctr">
              <a:buNone/>
            </a:pPr>
            <a:r>
              <a:rPr lang="en-US" sz="950" dirty="0">
                <a:solidFill>
                  <a:srgbClr val="1A1A2E"/>
                </a:solidFill>
                <a:latin typeface="Calibri" pitchFamily="34" charset="0"/>
                <a:ea typeface="Calibri" pitchFamily="34" charset="-122"/>
                <a:cs typeface="Calibri" pitchFamily="34" charset="-120"/>
              </a:rPr>
              <a:t>Particles [0·N/P … 1·N/P)</a:t>
            </a:r>
            <a:endParaRPr lang="en-US" sz="950" dirty="0"/>
          </a:p>
        </p:txBody>
      </p:sp>
      <p:sp>
        <p:nvSpPr>
          <p:cNvPr id="35" name="Text 33"/>
          <p:cNvSpPr/>
          <p:nvPr/>
        </p:nvSpPr>
        <p:spPr>
          <a:xfrm>
            <a:off x="8001000" y="1691640"/>
            <a:ext cx="1097280" cy="347472"/>
          </a:xfrm>
          <a:prstGeom prst="rect">
            <a:avLst/>
          </a:prstGeom>
          <a:noFill/>
          <a:ln/>
        </p:spPr>
        <p:txBody>
          <a:bodyPr wrap="square" rtlCol="0" anchor="ctr"/>
          <a:lstStyle/>
          <a:p>
            <a:pPr marL="0" indent="0" algn="l">
              <a:buNone/>
            </a:pPr>
            <a:r>
              <a:rPr lang="en-US" sz="800" dirty="0">
                <a:solidFill>
                  <a:srgbClr val="4A5568"/>
                </a:solidFill>
                <a:latin typeface="Calibri" pitchFamily="34" charset="0"/>
                <a:ea typeface="Calibri" pitchFamily="34" charset="-122"/>
                <a:cs typeface="Calibri" pitchFamily="34" charset="-120"/>
              </a:rPr>
              <a:t>⟵ local forces ⟶</a:t>
            </a:r>
            <a:endParaRPr lang="en-US" sz="800" dirty="0"/>
          </a:p>
        </p:txBody>
      </p:sp>
      <p:sp>
        <p:nvSpPr>
          <p:cNvPr id="36" name="Shape 34"/>
          <p:cNvSpPr/>
          <p:nvPr/>
        </p:nvSpPr>
        <p:spPr>
          <a:xfrm>
            <a:off x="4572000" y="2194560"/>
            <a:ext cx="1005840" cy="347472"/>
          </a:xfrm>
          <a:prstGeom prst="rect">
            <a:avLst/>
          </a:prstGeom>
          <a:solidFill>
            <a:srgbClr val="6366F1"/>
          </a:solidFill>
          <a:ln w="12700">
            <a:solidFill>
              <a:srgbClr val="6366F1"/>
            </a:solidFill>
            <a:prstDash val="solid"/>
          </a:ln>
        </p:spPr>
        <p:txBody>
          <a:bodyPr/>
          <a:lstStyle/>
          <a:p>
            <a:endParaRPr lang="en-US"/>
          </a:p>
        </p:txBody>
      </p:sp>
      <p:sp>
        <p:nvSpPr>
          <p:cNvPr id="37" name="Text 35"/>
          <p:cNvSpPr/>
          <p:nvPr/>
        </p:nvSpPr>
        <p:spPr>
          <a:xfrm>
            <a:off x="4572000" y="2194560"/>
            <a:ext cx="1005840"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Rank 1</a:t>
            </a:r>
            <a:endParaRPr lang="en-US" sz="900" dirty="0"/>
          </a:p>
        </p:txBody>
      </p:sp>
      <p:sp>
        <p:nvSpPr>
          <p:cNvPr id="38" name="Shape 36"/>
          <p:cNvSpPr/>
          <p:nvPr/>
        </p:nvSpPr>
        <p:spPr>
          <a:xfrm>
            <a:off x="5669280" y="2194560"/>
            <a:ext cx="2286000" cy="347472"/>
          </a:xfrm>
          <a:prstGeom prst="rect">
            <a:avLst/>
          </a:prstGeom>
          <a:solidFill>
            <a:srgbClr val="EEF3FF"/>
          </a:solidFill>
          <a:ln w="19050">
            <a:solidFill>
              <a:srgbClr val="6366F1"/>
            </a:solidFill>
            <a:prstDash val="solid"/>
          </a:ln>
        </p:spPr>
        <p:txBody>
          <a:bodyPr/>
          <a:lstStyle/>
          <a:p>
            <a:endParaRPr lang="en-US"/>
          </a:p>
        </p:txBody>
      </p:sp>
      <p:sp>
        <p:nvSpPr>
          <p:cNvPr id="39" name="Text 37"/>
          <p:cNvSpPr/>
          <p:nvPr/>
        </p:nvSpPr>
        <p:spPr>
          <a:xfrm>
            <a:off x="5669280" y="2194560"/>
            <a:ext cx="2286000" cy="347472"/>
          </a:xfrm>
          <a:prstGeom prst="rect">
            <a:avLst/>
          </a:prstGeom>
          <a:noFill/>
          <a:ln/>
        </p:spPr>
        <p:txBody>
          <a:bodyPr wrap="square" rtlCol="0" anchor="ctr"/>
          <a:lstStyle/>
          <a:p>
            <a:pPr marL="0" indent="0" algn="ctr">
              <a:buNone/>
            </a:pPr>
            <a:r>
              <a:rPr lang="en-US" sz="950" dirty="0">
                <a:solidFill>
                  <a:srgbClr val="1A1A2E"/>
                </a:solidFill>
                <a:latin typeface="Calibri" pitchFamily="34" charset="0"/>
                <a:ea typeface="Calibri" pitchFamily="34" charset="-122"/>
                <a:cs typeface="Calibri" pitchFamily="34" charset="-120"/>
              </a:rPr>
              <a:t>Particles [1·N/P … 2·N/P)</a:t>
            </a:r>
            <a:endParaRPr lang="en-US" sz="950" dirty="0"/>
          </a:p>
        </p:txBody>
      </p:sp>
      <p:sp>
        <p:nvSpPr>
          <p:cNvPr id="40" name="Text 38"/>
          <p:cNvSpPr/>
          <p:nvPr/>
        </p:nvSpPr>
        <p:spPr>
          <a:xfrm>
            <a:off x="8001000" y="2194560"/>
            <a:ext cx="1097280" cy="347472"/>
          </a:xfrm>
          <a:prstGeom prst="rect">
            <a:avLst/>
          </a:prstGeom>
          <a:noFill/>
          <a:ln/>
        </p:spPr>
        <p:txBody>
          <a:bodyPr wrap="square" rtlCol="0" anchor="ctr"/>
          <a:lstStyle/>
          <a:p>
            <a:pPr marL="0" indent="0" algn="l">
              <a:buNone/>
            </a:pPr>
            <a:r>
              <a:rPr lang="en-US" sz="800" dirty="0">
                <a:solidFill>
                  <a:srgbClr val="4A5568"/>
                </a:solidFill>
                <a:latin typeface="Calibri" pitchFamily="34" charset="0"/>
                <a:ea typeface="Calibri" pitchFamily="34" charset="-122"/>
                <a:cs typeface="Calibri" pitchFamily="34" charset="-120"/>
              </a:rPr>
              <a:t>⟵ local forces ⟶</a:t>
            </a:r>
            <a:endParaRPr lang="en-US" sz="800" dirty="0"/>
          </a:p>
        </p:txBody>
      </p:sp>
      <p:sp>
        <p:nvSpPr>
          <p:cNvPr id="41" name="Shape 39"/>
          <p:cNvSpPr/>
          <p:nvPr/>
        </p:nvSpPr>
        <p:spPr>
          <a:xfrm>
            <a:off x="4572000" y="2697480"/>
            <a:ext cx="1005840" cy="347472"/>
          </a:xfrm>
          <a:prstGeom prst="rect">
            <a:avLst/>
          </a:prstGeom>
          <a:solidFill>
            <a:srgbClr val="10B981"/>
          </a:solidFill>
          <a:ln w="12700">
            <a:solidFill>
              <a:srgbClr val="10B981"/>
            </a:solidFill>
            <a:prstDash val="solid"/>
          </a:ln>
        </p:spPr>
        <p:txBody>
          <a:bodyPr/>
          <a:lstStyle/>
          <a:p>
            <a:endParaRPr lang="en-US"/>
          </a:p>
        </p:txBody>
      </p:sp>
      <p:sp>
        <p:nvSpPr>
          <p:cNvPr id="42" name="Text 40"/>
          <p:cNvSpPr/>
          <p:nvPr/>
        </p:nvSpPr>
        <p:spPr>
          <a:xfrm>
            <a:off x="4572000" y="2697480"/>
            <a:ext cx="1005840"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Rank 2</a:t>
            </a:r>
            <a:endParaRPr lang="en-US" sz="900" dirty="0"/>
          </a:p>
        </p:txBody>
      </p:sp>
      <p:sp>
        <p:nvSpPr>
          <p:cNvPr id="43" name="Shape 41"/>
          <p:cNvSpPr/>
          <p:nvPr/>
        </p:nvSpPr>
        <p:spPr>
          <a:xfrm>
            <a:off x="5669280" y="2697480"/>
            <a:ext cx="2286000" cy="347472"/>
          </a:xfrm>
          <a:prstGeom prst="rect">
            <a:avLst/>
          </a:prstGeom>
          <a:solidFill>
            <a:srgbClr val="EEF3FF"/>
          </a:solidFill>
          <a:ln w="19050">
            <a:solidFill>
              <a:srgbClr val="10B981"/>
            </a:solidFill>
            <a:prstDash val="solid"/>
          </a:ln>
        </p:spPr>
        <p:txBody>
          <a:bodyPr/>
          <a:lstStyle/>
          <a:p>
            <a:endParaRPr lang="en-US"/>
          </a:p>
        </p:txBody>
      </p:sp>
      <p:sp>
        <p:nvSpPr>
          <p:cNvPr id="44" name="Text 42"/>
          <p:cNvSpPr/>
          <p:nvPr/>
        </p:nvSpPr>
        <p:spPr>
          <a:xfrm>
            <a:off x="5669280" y="2697480"/>
            <a:ext cx="2286000" cy="347472"/>
          </a:xfrm>
          <a:prstGeom prst="rect">
            <a:avLst/>
          </a:prstGeom>
          <a:noFill/>
          <a:ln/>
        </p:spPr>
        <p:txBody>
          <a:bodyPr wrap="square" rtlCol="0" anchor="ctr"/>
          <a:lstStyle/>
          <a:p>
            <a:pPr marL="0" indent="0" algn="ctr">
              <a:buNone/>
            </a:pPr>
            <a:r>
              <a:rPr lang="en-US" sz="950" dirty="0">
                <a:solidFill>
                  <a:srgbClr val="1A1A2E"/>
                </a:solidFill>
                <a:latin typeface="Calibri" pitchFamily="34" charset="0"/>
                <a:ea typeface="Calibri" pitchFamily="34" charset="-122"/>
                <a:cs typeface="Calibri" pitchFamily="34" charset="-120"/>
              </a:rPr>
              <a:t>Particles [2·N/P … 3·N/P)</a:t>
            </a:r>
            <a:endParaRPr lang="en-US" sz="950" dirty="0"/>
          </a:p>
        </p:txBody>
      </p:sp>
      <p:sp>
        <p:nvSpPr>
          <p:cNvPr id="45" name="Text 43"/>
          <p:cNvSpPr/>
          <p:nvPr/>
        </p:nvSpPr>
        <p:spPr>
          <a:xfrm>
            <a:off x="8001000" y="2697480"/>
            <a:ext cx="1097280" cy="347472"/>
          </a:xfrm>
          <a:prstGeom prst="rect">
            <a:avLst/>
          </a:prstGeom>
          <a:noFill/>
          <a:ln/>
        </p:spPr>
        <p:txBody>
          <a:bodyPr wrap="square" rtlCol="0" anchor="ctr"/>
          <a:lstStyle/>
          <a:p>
            <a:pPr marL="0" indent="0" algn="l">
              <a:buNone/>
            </a:pPr>
            <a:r>
              <a:rPr lang="en-US" sz="800" dirty="0">
                <a:solidFill>
                  <a:srgbClr val="4A5568"/>
                </a:solidFill>
                <a:latin typeface="Calibri" pitchFamily="34" charset="0"/>
                <a:ea typeface="Calibri" pitchFamily="34" charset="-122"/>
                <a:cs typeface="Calibri" pitchFamily="34" charset="-120"/>
              </a:rPr>
              <a:t>⟵ local forces ⟶</a:t>
            </a:r>
            <a:endParaRPr lang="en-US" sz="800" dirty="0"/>
          </a:p>
        </p:txBody>
      </p:sp>
      <p:sp>
        <p:nvSpPr>
          <p:cNvPr id="46" name="Shape 44"/>
          <p:cNvSpPr/>
          <p:nvPr/>
        </p:nvSpPr>
        <p:spPr>
          <a:xfrm>
            <a:off x="4572000" y="3200400"/>
            <a:ext cx="1005840" cy="347472"/>
          </a:xfrm>
          <a:prstGeom prst="rect">
            <a:avLst/>
          </a:prstGeom>
          <a:solidFill>
            <a:srgbClr val="F4A261"/>
          </a:solidFill>
          <a:ln w="12700">
            <a:solidFill>
              <a:srgbClr val="F4A261"/>
            </a:solidFill>
            <a:prstDash val="solid"/>
          </a:ln>
        </p:spPr>
        <p:txBody>
          <a:bodyPr/>
          <a:lstStyle/>
          <a:p>
            <a:endParaRPr lang="en-US"/>
          </a:p>
        </p:txBody>
      </p:sp>
      <p:sp>
        <p:nvSpPr>
          <p:cNvPr id="47" name="Text 45"/>
          <p:cNvSpPr/>
          <p:nvPr/>
        </p:nvSpPr>
        <p:spPr>
          <a:xfrm>
            <a:off x="4572000" y="3200400"/>
            <a:ext cx="1005840"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Rank 3 … P-1</a:t>
            </a:r>
            <a:endParaRPr lang="en-US" sz="900" dirty="0"/>
          </a:p>
        </p:txBody>
      </p:sp>
      <p:sp>
        <p:nvSpPr>
          <p:cNvPr id="48" name="Shape 46"/>
          <p:cNvSpPr/>
          <p:nvPr/>
        </p:nvSpPr>
        <p:spPr>
          <a:xfrm>
            <a:off x="5669280" y="3200400"/>
            <a:ext cx="2286000" cy="347472"/>
          </a:xfrm>
          <a:prstGeom prst="rect">
            <a:avLst/>
          </a:prstGeom>
          <a:solidFill>
            <a:srgbClr val="EEF3FF"/>
          </a:solidFill>
          <a:ln w="19050">
            <a:solidFill>
              <a:srgbClr val="F4A261"/>
            </a:solidFill>
            <a:prstDash val="solid"/>
          </a:ln>
        </p:spPr>
        <p:txBody>
          <a:bodyPr/>
          <a:lstStyle/>
          <a:p>
            <a:endParaRPr lang="en-US"/>
          </a:p>
        </p:txBody>
      </p:sp>
      <p:sp>
        <p:nvSpPr>
          <p:cNvPr id="49" name="Text 47"/>
          <p:cNvSpPr/>
          <p:nvPr/>
        </p:nvSpPr>
        <p:spPr>
          <a:xfrm>
            <a:off x="5669280" y="3200400"/>
            <a:ext cx="2286000" cy="347472"/>
          </a:xfrm>
          <a:prstGeom prst="rect">
            <a:avLst/>
          </a:prstGeom>
          <a:noFill/>
          <a:ln/>
        </p:spPr>
        <p:txBody>
          <a:bodyPr wrap="square" rtlCol="0" anchor="ctr"/>
          <a:lstStyle/>
          <a:p>
            <a:pPr marL="0" indent="0" algn="ctr">
              <a:buNone/>
            </a:pPr>
            <a:r>
              <a:rPr lang="en-US" sz="950" dirty="0">
                <a:solidFill>
                  <a:srgbClr val="1A1A2E"/>
                </a:solidFill>
                <a:latin typeface="Calibri" pitchFamily="34" charset="0"/>
                <a:ea typeface="Calibri" pitchFamily="34" charset="-122"/>
                <a:cs typeface="Calibri" pitchFamily="34" charset="-120"/>
              </a:rPr>
              <a:t>Particles [3·N/P … 4·N/P)</a:t>
            </a:r>
            <a:endParaRPr lang="en-US" sz="950" dirty="0"/>
          </a:p>
        </p:txBody>
      </p:sp>
      <p:sp>
        <p:nvSpPr>
          <p:cNvPr id="50" name="Text 48"/>
          <p:cNvSpPr/>
          <p:nvPr/>
        </p:nvSpPr>
        <p:spPr>
          <a:xfrm>
            <a:off x="8001000" y="3200400"/>
            <a:ext cx="1097280" cy="347472"/>
          </a:xfrm>
          <a:prstGeom prst="rect">
            <a:avLst/>
          </a:prstGeom>
          <a:noFill/>
          <a:ln/>
        </p:spPr>
        <p:txBody>
          <a:bodyPr wrap="square" rtlCol="0" anchor="ctr"/>
          <a:lstStyle/>
          <a:p>
            <a:pPr marL="0" indent="0" algn="l">
              <a:buNone/>
            </a:pPr>
            <a:r>
              <a:rPr lang="en-US" sz="800" dirty="0">
                <a:solidFill>
                  <a:srgbClr val="4A5568"/>
                </a:solidFill>
                <a:latin typeface="Calibri" pitchFamily="34" charset="0"/>
                <a:ea typeface="Calibri" pitchFamily="34" charset="-122"/>
                <a:cs typeface="Calibri" pitchFamily="34" charset="-120"/>
              </a:rPr>
              <a:t>⟵ local forces ⟶</a:t>
            </a:r>
            <a:endParaRPr lang="en-US" sz="800" dirty="0"/>
          </a:p>
        </p:txBody>
      </p:sp>
      <p:sp>
        <p:nvSpPr>
          <p:cNvPr id="51" name="Shape 49"/>
          <p:cNvSpPr/>
          <p:nvPr/>
        </p:nvSpPr>
        <p:spPr>
          <a:xfrm>
            <a:off x="4572000" y="3749040"/>
            <a:ext cx="4206240" cy="685800"/>
          </a:xfrm>
          <a:prstGeom prst="rect">
            <a:avLst/>
          </a:prstGeom>
          <a:solidFill>
            <a:srgbClr val="0D1B2A"/>
          </a:solidFill>
          <a:ln w="19050">
            <a:solidFill>
              <a:srgbClr val="3A86FF"/>
            </a:solidFill>
            <a:prstDash val="solid"/>
          </a:ln>
          <a:effectLst>
            <a:outerShdw blurRad="101600" dist="38100" dir="8100000" algn="bl" rotWithShape="0">
              <a:srgbClr val="000000">
                <a:alpha val="10000"/>
              </a:srgbClr>
            </a:outerShdw>
          </a:effectLst>
        </p:spPr>
        <p:txBody>
          <a:bodyPr/>
          <a:lstStyle/>
          <a:p>
            <a:endParaRPr lang="en-US"/>
          </a:p>
        </p:txBody>
      </p:sp>
      <p:sp>
        <p:nvSpPr>
          <p:cNvPr id="52" name="Text 50"/>
          <p:cNvSpPr/>
          <p:nvPr/>
        </p:nvSpPr>
        <p:spPr>
          <a:xfrm>
            <a:off x="4663440" y="3767328"/>
            <a:ext cx="4023360" cy="640080"/>
          </a:xfrm>
          <a:prstGeom prst="rect">
            <a:avLst/>
          </a:prstGeom>
          <a:noFill/>
          <a:ln/>
        </p:spPr>
        <p:txBody>
          <a:bodyPr wrap="square" rtlCol="0" anchor="ctr"/>
          <a:lstStyle/>
          <a:p>
            <a:pPr marL="0" indent="0" algn="l">
              <a:buNone/>
            </a:pPr>
            <a:r>
              <a:rPr lang="en-US" sz="1050" b="1" dirty="0">
                <a:solidFill>
                  <a:srgbClr val="4CC9F0"/>
                </a:solidFill>
                <a:latin typeface="Calibri" pitchFamily="34" charset="0"/>
                <a:ea typeface="Calibri" pitchFamily="34" charset="-122"/>
                <a:cs typeface="Calibri" pitchFamily="34" charset="-120"/>
              </a:rPr>
              <a:t>MPI_Allgatherv ×3  (x, y, z positions)
</a:t>
            </a:r>
            <a:endParaRPr lang="en-US" sz="1050" dirty="0"/>
          </a:p>
          <a:p>
            <a:pPr marL="0" indent="0" algn="l">
              <a:buNone/>
            </a:pPr>
            <a:r>
              <a:rPr lang="en-US" sz="1050" dirty="0">
                <a:solidFill>
                  <a:srgbClr val="CADCFC"/>
                </a:solidFill>
                <a:latin typeface="Calibri" pitchFamily="34" charset="0"/>
                <a:ea typeface="Calibri" pitchFamily="34" charset="-122"/>
                <a:cs typeface="Calibri" pitchFamily="34" charset="-120"/>
              </a:rPr>
              <a:t>3 collective calls per timestep  ·  O(N) data per call  ·  Δt = 0.01</a:t>
            </a:r>
            <a:endParaRPr lang="en-US" sz="1050" dirty="0"/>
          </a:p>
        </p:txBody>
      </p:sp>
    </p:spTree>
    <p:extLst>
      <p:ext uri="{BB962C8B-B14F-4D97-AF65-F5344CB8AC3E}">
        <p14:creationId xmlns:p14="http://schemas.microsoft.com/office/powerpoint/2010/main" val="1639565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0"/>
            <a:ext cx="8229600" cy="502920"/>
          </a:xfrm>
          <a:prstGeom prst="rect">
            <a:avLst/>
          </a:prstGeom>
          <a:noFill/>
          <a:ln/>
        </p:spPr>
        <p:txBody>
          <a:bodyPr wrap="square" rtlCol="0" anchor="ctr"/>
          <a:lstStyle/>
          <a:p>
            <a:pPr marL="0" indent="0">
              <a:buNone/>
            </a:pPr>
            <a:r>
              <a:rPr lang="en-US" sz="1300" b="1" kern="0" spc="400" dirty="0">
                <a:solidFill>
                  <a:srgbClr val="4CC9F0"/>
                </a:solidFill>
                <a:latin typeface="Calibri" pitchFamily="34" charset="0"/>
                <a:ea typeface="Calibri" pitchFamily="34" charset="-122"/>
                <a:cs typeface="Calibri" pitchFamily="34" charset="-120"/>
              </a:rPr>
              <a:t>EXPERIMENTAL SETUP</a:t>
            </a:r>
            <a:endParaRPr lang="en-US" sz="1300" dirty="0"/>
          </a:p>
        </p:txBody>
      </p:sp>
      <p:sp>
        <p:nvSpPr>
          <p:cNvPr id="4" name="Text 2"/>
          <p:cNvSpPr/>
          <p:nvPr/>
        </p:nvSpPr>
        <p:spPr>
          <a:xfrm>
            <a:off x="365760" y="640080"/>
            <a:ext cx="8229600" cy="50292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Cluster Configuration &amp; Study Design</a:t>
            </a:r>
            <a:endParaRPr lang="en-US" sz="2800" dirty="0"/>
          </a:p>
        </p:txBody>
      </p:sp>
      <p:sp>
        <p:nvSpPr>
          <p:cNvPr id="5" name="Shape 3"/>
          <p:cNvSpPr/>
          <p:nvPr/>
        </p:nvSpPr>
        <p:spPr>
          <a:xfrm>
            <a:off x="365760" y="1389888"/>
            <a:ext cx="2103120" cy="685800"/>
          </a:xfrm>
          <a:prstGeom prst="rect">
            <a:avLst/>
          </a:prstGeom>
          <a:solidFill>
            <a:srgbClr val="EEF3FF"/>
          </a:solidFill>
          <a:ln w="12700">
            <a:solidFill>
              <a:srgbClr val="D0DEFF"/>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365760" y="1389888"/>
            <a:ext cx="64008" cy="685800"/>
          </a:xfrm>
          <a:prstGeom prst="rect">
            <a:avLst/>
          </a:prstGeom>
          <a:solidFill>
            <a:srgbClr val="3A86FF"/>
          </a:solidFill>
          <a:ln w="12700">
            <a:solidFill>
              <a:srgbClr val="3A86FF"/>
            </a:solidFill>
            <a:prstDash val="solid"/>
          </a:ln>
        </p:spPr>
        <p:txBody>
          <a:bodyPr/>
          <a:lstStyle/>
          <a:p>
            <a:endParaRPr lang="en-US"/>
          </a:p>
        </p:txBody>
      </p:sp>
      <p:sp>
        <p:nvSpPr>
          <p:cNvPr id="7" name="Text 5"/>
          <p:cNvSpPr/>
          <p:nvPr/>
        </p:nvSpPr>
        <p:spPr>
          <a:xfrm>
            <a:off x="502920" y="1444752"/>
            <a:ext cx="1920240" cy="256032"/>
          </a:xfrm>
          <a:prstGeom prst="rect">
            <a:avLst/>
          </a:prstGeom>
          <a:noFill/>
          <a:ln/>
        </p:spPr>
        <p:txBody>
          <a:bodyPr wrap="square" lIns="0" tIns="0" rIns="0" bIns="0" rtlCol="0" anchor="ctr"/>
          <a:lstStyle/>
          <a:p>
            <a:pPr marL="0" indent="0" algn="l">
              <a:buNone/>
            </a:pPr>
            <a:r>
              <a:rPr lang="en-US" sz="900" dirty="0">
                <a:solidFill>
                  <a:srgbClr val="4A5568"/>
                </a:solidFill>
                <a:latin typeface="Calibri" pitchFamily="34" charset="0"/>
                <a:ea typeface="Calibri" pitchFamily="34" charset="-122"/>
                <a:cs typeface="Calibri" pitchFamily="34" charset="-120"/>
              </a:rPr>
              <a:t>Cluster Name</a:t>
            </a:r>
            <a:endParaRPr lang="en-US" sz="900" dirty="0"/>
          </a:p>
        </p:txBody>
      </p:sp>
      <p:sp>
        <p:nvSpPr>
          <p:cNvPr id="8" name="Text 6"/>
          <p:cNvSpPr/>
          <p:nvPr/>
        </p:nvSpPr>
        <p:spPr>
          <a:xfrm>
            <a:off x="502920" y="1691640"/>
            <a:ext cx="1920240" cy="292608"/>
          </a:xfrm>
          <a:prstGeom prst="rect">
            <a:avLst/>
          </a:prstGeom>
          <a:noFill/>
          <a:ln/>
        </p:spPr>
        <p:txBody>
          <a:bodyPr wrap="square" lIns="0" tIns="0" rIns="0" bIns="0" rtlCol="0" anchor="ctr"/>
          <a:lstStyle/>
          <a:p>
            <a:pPr marL="0" indent="0" algn="l">
              <a:buNone/>
            </a:pPr>
            <a:r>
              <a:rPr lang="en-US" sz="1300" b="1" dirty="0">
                <a:solidFill>
                  <a:srgbClr val="1A1A2E"/>
                </a:solidFill>
                <a:latin typeface="Calibri" pitchFamily="34" charset="0"/>
                <a:ea typeface="Calibri" pitchFamily="34" charset="-122"/>
                <a:cs typeface="Calibri" pitchFamily="34" charset="-120"/>
              </a:rPr>
              <a:t>Three Idiots</a:t>
            </a:r>
            <a:endParaRPr lang="en-US" sz="1300" dirty="0"/>
          </a:p>
        </p:txBody>
      </p:sp>
      <p:sp>
        <p:nvSpPr>
          <p:cNvPr id="9" name="Shape 7"/>
          <p:cNvSpPr/>
          <p:nvPr/>
        </p:nvSpPr>
        <p:spPr>
          <a:xfrm>
            <a:off x="2578608" y="1389888"/>
            <a:ext cx="2103120" cy="685800"/>
          </a:xfrm>
          <a:prstGeom prst="rect">
            <a:avLst/>
          </a:prstGeom>
          <a:solidFill>
            <a:srgbClr val="EEF3FF"/>
          </a:solidFill>
          <a:ln w="12700">
            <a:solidFill>
              <a:srgbClr val="D0DEFF"/>
            </a:solidFill>
            <a:prstDash val="solid"/>
          </a:ln>
          <a:effectLst>
            <a:outerShdw blurRad="101600" dist="38100" dir="8100000" algn="bl" rotWithShape="0">
              <a:srgbClr val="000000">
                <a:alpha val="10000"/>
              </a:srgbClr>
            </a:outerShdw>
          </a:effectLst>
        </p:spPr>
        <p:txBody>
          <a:bodyPr/>
          <a:lstStyle/>
          <a:p>
            <a:endParaRPr lang="en-US"/>
          </a:p>
        </p:txBody>
      </p:sp>
      <p:sp>
        <p:nvSpPr>
          <p:cNvPr id="10" name="Shape 8"/>
          <p:cNvSpPr/>
          <p:nvPr/>
        </p:nvSpPr>
        <p:spPr>
          <a:xfrm>
            <a:off x="2578608" y="1389888"/>
            <a:ext cx="64008" cy="685800"/>
          </a:xfrm>
          <a:prstGeom prst="rect">
            <a:avLst/>
          </a:prstGeom>
          <a:solidFill>
            <a:srgbClr val="6366F1"/>
          </a:solidFill>
          <a:ln w="12700">
            <a:solidFill>
              <a:srgbClr val="6366F1"/>
            </a:solidFill>
            <a:prstDash val="solid"/>
          </a:ln>
        </p:spPr>
        <p:txBody>
          <a:bodyPr/>
          <a:lstStyle/>
          <a:p>
            <a:endParaRPr lang="en-US"/>
          </a:p>
        </p:txBody>
      </p:sp>
      <p:sp>
        <p:nvSpPr>
          <p:cNvPr id="11" name="Text 9"/>
          <p:cNvSpPr/>
          <p:nvPr/>
        </p:nvSpPr>
        <p:spPr>
          <a:xfrm>
            <a:off x="2715768" y="1444752"/>
            <a:ext cx="1920240" cy="256032"/>
          </a:xfrm>
          <a:prstGeom prst="rect">
            <a:avLst/>
          </a:prstGeom>
          <a:noFill/>
          <a:ln/>
        </p:spPr>
        <p:txBody>
          <a:bodyPr wrap="square" lIns="0" tIns="0" rIns="0" bIns="0" rtlCol="0" anchor="ctr"/>
          <a:lstStyle/>
          <a:p>
            <a:pPr marL="0" indent="0" algn="l">
              <a:buNone/>
            </a:pPr>
            <a:r>
              <a:rPr lang="en-US" sz="900" dirty="0">
                <a:solidFill>
                  <a:srgbClr val="4A5568"/>
                </a:solidFill>
                <a:latin typeface="Calibri" pitchFamily="34" charset="0"/>
                <a:ea typeface="Calibri" pitchFamily="34" charset="-122"/>
                <a:cs typeface="Calibri" pitchFamily="34" charset="-120"/>
              </a:rPr>
              <a:t>Nodes</a:t>
            </a:r>
            <a:endParaRPr lang="en-US" sz="900" dirty="0"/>
          </a:p>
        </p:txBody>
      </p:sp>
      <p:sp>
        <p:nvSpPr>
          <p:cNvPr id="12" name="Text 10"/>
          <p:cNvSpPr/>
          <p:nvPr/>
        </p:nvSpPr>
        <p:spPr>
          <a:xfrm>
            <a:off x="2715768" y="1691640"/>
            <a:ext cx="1920240" cy="292608"/>
          </a:xfrm>
          <a:prstGeom prst="rect">
            <a:avLst/>
          </a:prstGeom>
          <a:noFill/>
          <a:ln/>
        </p:spPr>
        <p:txBody>
          <a:bodyPr wrap="square" lIns="0" tIns="0" rIns="0" bIns="0" rtlCol="0" anchor="ctr"/>
          <a:lstStyle/>
          <a:p>
            <a:pPr marL="0" indent="0" algn="l">
              <a:buNone/>
            </a:pPr>
            <a:r>
              <a:rPr lang="en-US" sz="1300" b="1" dirty="0">
                <a:solidFill>
                  <a:srgbClr val="1A1A2E"/>
                </a:solidFill>
                <a:latin typeface="Calibri" pitchFamily="34" charset="0"/>
                <a:ea typeface="Calibri" pitchFamily="34" charset="-122"/>
                <a:cs typeface="Calibri" pitchFamily="34" charset="-120"/>
              </a:rPr>
              <a:t>3 nodes</a:t>
            </a:r>
            <a:endParaRPr lang="en-US" sz="1300" dirty="0"/>
          </a:p>
        </p:txBody>
      </p:sp>
      <p:sp>
        <p:nvSpPr>
          <p:cNvPr id="13" name="Shape 11"/>
          <p:cNvSpPr/>
          <p:nvPr/>
        </p:nvSpPr>
        <p:spPr>
          <a:xfrm>
            <a:off x="365760" y="2185416"/>
            <a:ext cx="2103120" cy="685800"/>
          </a:xfrm>
          <a:prstGeom prst="rect">
            <a:avLst/>
          </a:prstGeom>
          <a:solidFill>
            <a:srgbClr val="EEF3FF"/>
          </a:solidFill>
          <a:ln w="12700">
            <a:solidFill>
              <a:srgbClr val="D0DEFF"/>
            </a:solidFill>
            <a:prstDash val="solid"/>
          </a:ln>
          <a:effectLst>
            <a:outerShdw blurRad="101600" dist="38100" dir="8100000" algn="bl" rotWithShape="0">
              <a:srgbClr val="000000">
                <a:alpha val="10000"/>
              </a:srgbClr>
            </a:outerShdw>
          </a:effectLst>
        </p:spPr>
        <p:txBody>
          <a:bodyPr/>
          <a:lstStyle/>
          <a:p>
            <a:endParaRPr lang="en-US"/>
          </a:p>
        </p:txBody>
      </p:sp>
      <p:sp>
        <p:nvSpPr>
          <p:cNvPr id="14" name="Shape 12"/>
          <p:cNvSpPr/>
          <p:nvPr/>
        </p:nvSpPr>
        <p:spPr>
          <a:xfrm>
            <a:off x="365760" y="2185416"/>
            <a:ext cx="64008" cy="685800"/>
          </a:xfrm>
          <a:prstGeom prst="rect">
            <a:avLst/>
          </a:prstGeom>
          <a:solidFill>
            <a:srgbClr val="10B981"/>
          </a:solidFill>
          <a:ln w="12700">
            <a:solidFill>
              <a:srgbClr val="10B981"/>
            </a:solidFill>
            <a:prstDash val="solid"/>
          </a:ln>
        </p:spPr>
        <p:txBody>
          <a:bodyPr/>
          <a:lstStyle/>
          <a:p>
            <a:endParaRPr lang="en-US"/>
          </a:p>
        </p:txBody>
      </p:sp>
      <p:sp>
        <p:nvSpPr>
          <p:cNvPr id="15" name="Text 13"/>
          <p:cNvSpPr/>
          <p:nvPr/>
        </p:nvSpPr>
        <p:spPr>
          <a:xfrm>
            <a:off x="502920" y="2240280"/>
            <a:ext cx="1920240" cy="256032"/>
          </a:xfrm>
          <a:prstGeom prst="rect">
            <a:avLst/>
          </a:prstGeom>
          <a:noFill/>
          <a:ln/>
        </p:spPr>
        <p:txBody>
          <a:bodyPr wrap="square" lIns="0" tIns="0" rIns="0" bIns="0" rtlCol="0" anchor="ctr"/>
          <a:lstStyle/>
          <a:p>
            <a:pPr marL="0" indent="0" algn="l">
              <a:buNone/>
            </a:pPr>
            <a:r>
              <a:rPr lang="en-US" sz="900" dirty="0">
                <a:solidFill>
                  <a:srgbClr val="4A5568"/>
                </a:solidFill>
                <a:latin typeface="Calibri" pitchFamily="34" charset="0"/>
                <a:ea typeface="Calibri" pitchFamily="34" charset="-122"/>
                <a:cs typeface="Calibri" pitchFamily="34" charset="-120"/>
              </a:rPr>
              <a:t>Total Cores</a:t>
            </a:r>
            <a:endParaRPr lang="en-US" sz="900" dirty="0"/>
          </a:p>
        </p:txBody>
      </p:sp>
      <p:sp>
        <p:nvSpPr>
          <p:cNvPr id="16" name="Text 14"/>
          <p:cNvSpPr/>
          <p:nvPr/>
        </p:nvSpPr>
        <p:spPr>
          <a:xfrm>
            <a:off x="502920" y="2487168"/>
            <a:ext cx="1920240" cy="292608"/>
          </a:xfrm>
          <a:prstGeom prst="rect">
            <a:avLst/>
          </a:prstGeom>
          <a:noFill/>
          <a:ln/>
        </p:spPr>
        <p:txBody>
          <a:bodyPr wrap="square" lIns="0" tIns="0" rIns="0" bIns="0" rtlCol="0" anchor="ctr"/>
          <a:lstStyle/>
          <a:p>
            <a:pPr marL="0" indent="0" algn="l">
              <a:buNone/>
            </a:pPr>
            <a:r>
              <a:rPr lang="en-US" sz="1300" b="1" dirty="0">
                <a:solidFill>
                  <a:srgbClr val="1A1A2E"/>
                </a:solidFill>
                <a:latin typeface="Calibri" pitchFamily="34" charset="0"/>
                <a:ea typeface="Calibri" pitchFamily="34" charset="-122"/>
                <a:cs typeface="Calibri" pitchFamily="34" charset="-120"/>
              </a:rPr>
              <a:t>24 MPI procs</a:t>
            </a:r>
            <a:endParaRPr lang="en-US" sz="1300" dirty="0"/>
          </a:p>
        </p:txBody>
      </p:sp>
      <p:sp>
        <p:nvSpPr>
          <p:cNvPr id="17" name="Shape 15"/>
          <p:cNvSpPr/>
          <p:nvPr/>
        </p:nvSpPr>
        <p:spPr>
          <a:xfrm>
            <a:off x="2578608" y="2185416"/>
            <a:ext cx="2103120" cy="685800"/>
          </a:xfrm>
          <a:prstGeom prst="rect">
            <a:avLst/>
          </a:prstGeom>
          <a:solidFill>
            <a:srgbClr val="EEF3FF"/>
          </a:solidFill>
          <a:ln w="12700">
            <a:solidFill>
              <a:srgbClr val="D0DEFF"/>
            </a:solidFill>
            <a:prstDash val="solid"/>
          </a:ln>
          <a:effectLst>
            <a:outerShdw blurRad="101600" dist="38100" dir="8100000" algn="bl" rotWithShape="0">
              <a:srgbClr val="000000">
                <a:alpha val="10000"/>
              </a:srgbClr>
            </a:outerShdw>
          </a:effectLst>
        </p:spPr>
        <p:txBody>
          <a:bodyPr/>
          <a:lstStyle/>
          <a:p>
            <a:endParaRPr lang="en-US"/>
          </a:p>
        </p:txBody>
      </p:sp>
      <p:sp>
        <p:nvSpPr>
          <p:cNvPr id="18" name="Shape 16"/>
          <p:cNvSpPr/>
          <p:nvPr/>
        </p:nvSpPr>
        <p:spPr>
          <a:xfrm>
            <a:off x="2578608" y="2185416"/>
            <a:ext cx="64008" cy="685800"/>
          </a:xfrm>
          <a:prstGeom prst="rect">
            <a:avLst/>
          </a:prstGeom>
          <a:solidFill>
            <a:srgbClr val="F4A261"/>
          </a:solidFill>
          <a:ln w="12700">
            <a:solidFill>
              <a:srgbClr val="F4A261"/>
            </a:solidFill>
            <a:prstDash val="solid"/>
          </a:ln>
        </p:spPr>
        <p:txBody>
          <a:bodyPr/>
          <a:lstStyle/>
          <a:p>
            <a:endParaRPr lang="en-US"/>
          </a:p>
        </p:txBody>
      </p:sp>
      <p:sp>
        <p:nvSpPr>
          <p:cNvPr id="19" name="Text 17"/>
          <p:cNvSpPr/>
          <p:nvPr/>
        </p:nvSpPr>
        <p:spPr>
          <a:xfrm>
            <a:off x="2715768" y="2240280"/>
            <a:ext cx="1920240" cy="256032"/>
          </a:xfrm>
          <a:prstGeom prst="rect">
            <a:avLst/>
          </a:prstGeom>
          <a:noFill/>
          <a:ln/>
        </p:spPr>
        <p:txBody>
          <a:bodyPr wrap="square" lIns="0" tIns="0" rIns="0" bIns="0" rtlCol="0" anchor="ctr"/>
          <a:lstStyle/>
          <a:p>
            <a:pPr marL="0" indent="0" algn="l">
              <a:buNone/>
            </a:pPr>
            <a:r>
              <a:rPr lang="en-US" sz="900" dirty="0">
                <a:solidFill>
                  <a:srgbClr val="4A5568"/>
                </a:solidFill>
                <a:latin typeface="Calibri" pitchFamily="34" charset="0"/>
                <a:ea typeface="Calibri" pitchFamily="34" charset="-122"/>
                <a:cs typeface="Calibri" pitchFamily="34" charset="-120"/>
              </a:rPr>
              <a:t>Fabric</a:t>
            </a:r>
            <a:endParaRPr lang="en-US" sz="900" dirty="0"/>
          </a:p>
        </p:txBody>
      </p:sp>
      <p:sp>
        <p:nvSpPr>
          <p:cNvPr id="20" name="Text 18"/>
          <p:cNvSpPr/>
          <p:nvPr/>
        </p:nvSpPr>
        <p:spPr>
          <a:xfrm>
            <a:off x="2715768" y="2487168"/>
            <a:ext cx="1920240" cy="292608"/>
          </a:xfrm>
          <a:prstGeom prst="rect">
            <a:avLst/>
          </a:prstGeom>
          <a:noFill/>
          <a:ln/>
        </p:spPr>
        <p:txBody>
          <a:bodyPr wrap="square" lIns="0" tIns="0" rIns="0" bIns="0" rtlCol="0" anchor="ctr"/>
          <a:lstStyle/>
          <a:p>
            <a:pPr marL="0" indent="0" algn="l">
              <a:buNone/>
            </a:pPr>
            <a:r>
              <a:rPr lang="en-US" sz="1300" b="1" dirty="0">
                <a:solidFill>
                  <a:srgbClr val="1A1A2E"/>
                </a:solidFill>
                <a:latin typeface="Calibri" pitchFamily="34" charset="0"/>
                <a:ea typeface="Calibri" pitchFamily="34" charset="-122"/>
                <a:cs typeface="Calibri" pitchFamily="34" charset="-120"/>
              </a:rPr>
              <a:t>TCP/IP 10.0.0.0/24</a:t>
            </a:r>
            <a:endParaRPr lang="en-US" sz="1300" dirty="0"/>
          </a:p>
        </p:txBody>
      </p:sp>
      <p:sp>
        <p:nvSpPr>
          <p:cNvPr id="21" name="Shape 19"/>
          <p:cNvSpPr/>
          <p:nvPr/>
        </p:nvSpPr>
        <p:spPr>
          <a:xfrm>
            <a:off x="365760" y="2980944"/>
            <a:ext cx="2103120" cy="685800"/>
          </a:xfrm>
          <a:prstGeom prst="rect">
            <a:avLst/>
          </a:prstGeom>
          <a:solidFill>
            <a:srgbClr val="EEF3FF"/>
          </a:solidFill>
          <a:ln w="12700">
            <a:solidFill>
              <a:srgbClr val="D0DEFF"/>
            </a:solidFill>
            <a:prstDash val="solid"/>
          </a:ln>
          <a:effectLst>
            <a:outerShdw blurRad="101600" dist="38100" dir="8100000" algn="bl" rotWithShape="0">
              <a:srgbClr val="000000">
                <a:alpha val="10000"/>
              </a:srgbClr>
            </a:outerShdw>
          </a:effectLst>
        </p:spPr>
        <p:txBody>
          <a:bodyPr/>
          <a:lstStyle/>
          <a:p>
            <a:endParaRPr lang="en-US"/>
          </a:p>
        </p:txBody>
      </p:sp>
      <p:sp>
        <p:nvSpPr>
          <p:cNvPr id="22" name="Shape 20"/>
          <p:cNvSpPr/>
          <p:nvPr/>
        </p:nvSpPr>
        <p:spPr>
          <a:xfrm>
            <a:off x="365760" y="2980944"/>
            <a:ext cx="64008" cy="685800"/>
          </a:xfrm>
          <a:prstGeom prst="rect">
            <a:avLst/>
          </a:prstGeom>
          <a:solidFill>
            <a:srgbClr val="EF4444"/>
          </a:solidFill>
          <a:ln w="12700">
            <a:solidFill>
              <a:srgbClr val="EF4444"/>
            </a:solidFill>
            <a:prstDash val="solid"/>
          </a:ln>
        </p:spPr>
        <p:txBody>
          <a:bodyPr/>
          <a:lstStyle/>
          <a:p>
            <a:endParaRPr lang="en-US"/>
          </a:p>
        </p:txBody>
      </p:sp>
      <p:sp>
        <p:nvSpPr>
          <p:cNvPr id="23" name="Text 21"/>
          <p:cNvSpPr/>
          <p:nvPr/>
        </p:nvSpPr>
        <p:spPr>
          <a:xfrm>
            <a:off x="502920" y="3035808"/>
            <a:ext cx="1920240" cy="256032"/>
          </a:xfrm>
          <a:prstGeom prst="rect">
            <a:avLst/>
          </a:prstGeom>
          <a:noFill/>
          <a:ln/>
        </p:spPr>
        <p:txBody>
          <a:bodyPr wrap="square" lIns="0" tIns="0" rIns="0" bIns="0" rtlCol="0" anchor="ctr"/>
          <a:lstStyle/>
          <a:p>
            <a:pPr marL="0" indent="0" algn="l">
              <a:buNone/>
            </a:pPr>
            <a:r>
              <a:rPr lang="en-US" sz="900" dirty="0">
                <a:solidFill>
                  <a:srgbClr val="4A5568"/>
                </a:solidFill>
                <a:latin typeface="Calibri" pitchFamily="34" charset="0"/>
                <a:ea typeface="Calibri" pitchFamily="34" charset="-122"/>
                <a:cs typeface="Calibri" pitchFamily="34" charset="-120"/>
              </a:rPr>
              <a:t>Scheduler</a:t>
            </a:r>
            <a:endParaRPr lang="en-US" sz="900" dirty="0"/>
          </a:p>
        </p:txBody>
      </p:sp>
      <p:sp>
        <p:nvSpPr>
          <p:cNvPr id="24" name="Text 22"/>
          <p:cNvSpPr/>
          <p:nvPr/>
        </p:nvSpPr>
        <p:spPr>
          <a:xfrm>
            <a:off x="502920" y="3282696"/>
            <a:ext cx="1920240" cy="292608"/>
          </a:xfrm>
          <a:prstGeom prst="rect">
            <a:avLst/>
          </a:prstGeom>
          <a:noFill/>
          <a:ln/>
        </p:spPr>
        <p:txBody>
          <a:bodyPr wrap="square" lIns="0" tIns="0" rIns="0" bIns="0" rtlCol="0" anchor="ctr"/>
          <a:lstStyle/>
          <a:p>
            <a:pPr marL="0" indent="0" algn="l">
              <a:buNone/>
            </a:pPr>
            <a:r>
              <a:rPr lang="en-US" sz="1300" b="1" dirty="0">
                <a:solidFill>
                  <a:srgbClr val="1A1A2E"/>
                </a:solidFill>
                <a:latin typeface="Calibri" pitchFamily="34" charset="0"/>
                <a:ea typeface="Calibri" pitchFamily="34" charset="-122"/>
                <a:cs typeface="Calibri" pitchFamily="34" charset="-120"/>
              </a:rPr>
              <a:t>SLURM + PMI2</a:t>
            </a:r>
            <a:endParaRPr lang="en-US" sz="1300" dirty="0"/>
          </a:p>
        </p:txBody>
      </p:sp>
      <p:sp>
        <p:nvSpPr>
          <p:cNvPr id="25" name="Shape 23"/>
          <p:cNvSpPr/>
          <p:nvPr/>
        </p:nvSpPr>
        <p:spPr>
          <a:xfrm>
            <a:off x="2578608" y="2980944"/>
            <a:ext cx="2103120" cy="685800"/>
          </a:xfrm>
          <a:prstGeom prst="rect">
            <a:avLst/>
          </a:prstGeom>
          <a:solidFill>
            <a:srgbClr val="EEF3FF"/>
          </a:solidFill>
          <a:ln w="12700">
            <a:solidFill>
              <a:srgbClr val="D0DEFF"/>
            </a:solidFill>
            <a:prstDash val="solid"/>
          </a:ln>
          <a:effectLst>
            <a:outerShdw blurRad="101600" dist="38100" dir="8100000" algn="bl" rotWithShape="0">
              <a:srgbClr val="000000">
                <a:alpha val="10000"/>
              </a:srgbClr>
            </a:outerShdw>
          </a:effectLst>
        </p:spPr>
        <p:txBody>
          <a:bodyPr/>
          <a:lstStyle/>
          <a:p>
            <a:endParaRPr lang="en-US"/>
          </a:p>
        </p:txBody>
      </p:sp>
      <p:sp>
        <p:nvSpPr>
          <p:cNvPr id="26" name="Shape 24"/>
          <p:cNvSpPr/>
          <p:nvPr/>
        </p:nvSpPr>
        <p:spPr>
          <a:xfrm>
            <a:off x="2578608" y="2980944"/>
            <a:ext cx="64008" cy="685800"/>
          </a:xfrm>
          <a:prstGeom prst="rect">
            <a:avLst/>
          </a:prstGeom>
          <a:solidFill>
            <a:srgbClr val="8B5CF6"/>
          </a:solidFill>
          <a:ln w="12700">
            <a:solidFill>
              <a:srgbClr val="8B5CF6"/>
            </a:solidFill>
            <a:prstDash val="solid"/>
          </a:ln>
        </p:spPr>
        <p:txBody>
          <a:bodyPr/>
          <a:lstStyle/>
          <a:p>
            <a:endParaRPr lang="en-US"/>
          </a:p>
        </p:txBody>
      </p:sp>
      <p:sp>
        <p:nvSpPr>
          <p:cNvPr id="27" name="Text 25"/>
          <p:cNvSpPr/>
          <p:nvPr/>
        </p:nvSpPr>
        <p:spPr>
          <a:xfrm>
            <a:off x="2715768" y="3035808"/>
            <a:ext cx="1920240" cy="256032"/>
          </a:xfrm>
          <a:prstGeom prst="rect">
            <a:avLst/>
          </a:prstGeom>
          <a:noFill/>
          <a:ln/>
        </p:spPr>
        <p:txBody>
          <a:bodyPr wrap="square" lIns="0" tIns="0" rIns="0" bIns="0" rtlCol="0" anchor="ctr"/>
          <a:lstStyle/>
          <a:p>
            <a:pPr marL="0" indent="0" algn="l">
              <a:buNone/>
            </a:pPr>
            <a:r>
              <a:rPr lang="en-US" sz="900" dirty="0">
                <a:solidFill>
                  <a:srgbClr val="4A5568"/>
                </a:solidFill>
                <a:latin typeface="Calibri" pitchFamily="34" charset="0"/>
                <a:ea typeface="Calibri" pitchFamily="34" charset="-122"/>
                <a:cs typeface="Calibri" pitchFamily="34" charset="-120"/>
              </a:rPr>
              <a:t>Compiler</a:t>
            </a:r>
            <a:endParaRPr lang="en-US" sz="900" dirty="0"/>
          </a:p>
        </p:txBody>
      </p:sp>
      <p:sp>
        <p:nvSpPr>
          <p:cNvPr id="28" name="Text 26"/>
          <p:cNvSpPr/>
          <p:nvPr/>
        </p:nvSpPr>
        <p:spPr>
          <a:xfrm>
            <a:off x="2715768" y="3282696"/>
            <a:ext cx="1920240" cy="292608"/>
          </a:xfrm>
          <a:prstGeom prst="rect">
            <a:avLst/>
          </a:prstGeom>
          <a:noFill/>
          <a:ln/>
        </p:spPr>
        <p:txBody>
          <a:bodyPr wrap="square" lIns="0" tIns="0" rIns="0" bIns="0" rtlCol="0" anchor="ctr"/>
          <a:lstStyle/>
          <a:p>
            <a:pPr marL="0" indent="0" algn="l">
              <a:buNone/>
            </a:pPr>
            <a:r>
              <a:rPr lang="en-US" sz="1300" b="1" dirty="0">
                <a:solidFill>
                  <a:srgbClr val="1A1A2E"/>
                </a:solidFill>
                <a:latin typeface="Calibri" pitchFamily="34" charset="0"/>
                <a:ea typeface="Calibri" pitchFamily="34" charset="-122"/>
                <a:cs typeface="Calibri" pitchFamily="34" charset="-120"/>
              </a:rPr>
              <a:t>Intel mpiicx -O3 -xHost</a:t>
            </a:r>
            <a:endParaRPr lang="en-US" sz="1300" dirty="0"/>
          </a:p>
        </p:txBody>
      </p:sp>
      <p:sp>
        <p:nvSpPr>
          <p:cNvPr id="29" name="Text 27"/>
          <p:cNvSpPr/>
          <p:nvPr/>
        </p:nvSpPr>
        <p:spPr>
          <a:xfrm>
            <a:off x="4754880" y="1325880"/>
            <a:ext cx="4023360" cy="292608"/>
          </a:xfrm>
          <a:prstGeom prst="rect">
            <a:avLst/>
          </a:prstGeom>
          <a:noFill/>
          <a:ln/>
        </p:spPr>
        <p:txBody>
          <a:bodyPr wrap="square" lIns="0" tIns="0" rIns="0" bIns="0"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Scaling Studies</a:t>
            </a:r>
            <a:endParaRPr lang="en-US" sz="1300" dirty="0"/>
          </a:p>
        </p:txBody>
      </p:sp>
      <p:graphicFrame>
        <p:nvGraphicFramePr>
          <p:cNvPr id="30" name="Table 0"/>
          <p:cNvGraphicFramePr>
            <a:graphicFrameLocks noGrp="1"/>
          </p:cNvGraphicFramePr>
          <p:nvPr/>
        </p:nvGraphicFramePr>
        <p:xfrm>
          <a:off x="4754880" y="1691640"/>
          <a:ext cx="3749040" cy="1737360"/>
        </p:xfrm>
        <a:graphic>
          <a:graphicData uri="http://schemas.openxmlformats.org/drawingml/2006/table">
            <a:tbl>
              <a:tblPr/>
              <a:tblGrid>
                <a:gridCol w="9144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47472">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Study</a:t>
                      </a:r>
                      <a:endParaRPr lang="en-US" sz="11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Particles (N)</a:t>
                      </a:r>
                      <a:endParaRPr lang="en-US" sz="11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Steps</a:t>
                      </a:r>
                      <a:endParaRPr lang="en-US" sz="11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 range</a:t>
                      </a:r>
                      <a:endParaRPr lang="en-US" sz="11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47472">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Strong</a:t>
                      </a:r>
                      <a:endParaRPr lang="en-US" sz="11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2,400</a:t>
                      </a:r>
                      <a:endParaRPr lang="en-US" sz="11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1 – 24</a:t>
                      </a:r>
                      <a:endParaRPr lang="en-US" sz="11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extLst>
                  <a:ext uri="{0D108BD9-81ED-4DB2-BD59-A6C34878D82A}">
                    <a16:rowId xmlns:a16="http://schemas.microsoft.com/office/drawing/2014/main" val="10001"/>
                  </a:ext>
                </a:extLst>
              </a:tr>
              <a:tr h="347472">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Strong</a:t>
                      </a:r>
                      <a:endParaRPr lang="en-US" sz="11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4,800</a:t>
                      </a:r>
                      <a:endParaRPr lang="en-US" sz="11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1 – 24</a:t>
                      </a:r>
                      <a:endParaRPr lang="en-US" sz="11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extLst>
                  <a:ext uri="{0D108BD9-81ED-4DB2-BD59-A6C34878D82A}">
                    <a16:rowId xmlns:a16="http://schemas.microsoft.com/office/drawing/2014/main" val="10002"/>
                  </a:ext>
                </a:extLst>
              </a:tr>
              <a:tr h="347472">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Strong</a:t>
                      </a:r>
                      <a:endParaRPr lang="en-US" sz="11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9,600</a:t>
                      </a:r>
                      <a:endParaRPr lang="en-US" sz="11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1 – 24</a:t>
                      </a:r>
                      <a:endParaRPr lang="en-US" sz="11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extLst>
                  <a:ext uri="{0D108BD9-81ED-4DB2-BD59-A6C34878D82A}">
                    <a16:rowId xmlns:a16="http://schemas.microsoft.com/office/drawing/2014/main" val="10003"/>
                  </a:ext>
                </a:extLst>
              </a:tr>
              <a:tr h="347472">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Weak</a:t>
                      </a:r>
                      <a:endParaRPr lang="en-US" sz="11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1,000 × P</a:t>
                      </a:r>
                      <a:endParaRPr lang="en-US" sz="11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1 – 24</a:t>
                      </a:r>
                      <a:endParaRPr lang="en-US" sz="11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extLst>
                  <a:ext uri="{0D108BD9-81ED-4DB2-BD59-A6C34878D82A}">
                    <a16:rowId xmlns:a16="http://schemas.microsoft.com/office/drawing/2014/main" val="10004"/>
                  </a:ext>
                </a:extLst>
              </a:tr>
            </a:tbl>
          </a:graphicData>
        </a:graphic>
      </p:graphicFrame>
      <p:sp>
        <p:nvSpPr>
          <p:cNvPr id="31" name="Shape 28"/>
          <p:cNvSpPr/>
          <p:nvPr/>
        </p:nvSpPr>
        <p:spPr>
          <a:xfrm>
            <a:off x="4754880" y="3703320"/>
            <a:ext cx="4023360" cy="777240"/>
          </a:xfrm>
          <a:prstGeom prst="rect">
            <a:avLst/>
          </a:prstGeom>
          <a:solidFill>
            <a:srgbClr val="EEF3FF"/>
          </a:solidFill>
          <a:ln w="12700">
            <a:solidFill>
              <a:srgbClr val="D0DEFF"/>
            </a:solidFill>
            <a:prstDash val="solid"/>
          </a:ln>
          <a:effectLst>
            <a:outerShdw blurRad="101600" dist="38100" dir="8100000" algn="bl" rotWithShape="0">
              <a:srgbClr val="000000">
                <a:alpha val="10000"/>
              </a:srgbClr>
            </a:outerShdw>
          </a:effectLst>
        </p:spPr>
        <p:txBody>
          <a:bodyPr/>
          <a:lstStyle/>
          <a:p>
            <a:endParaRPr lang="en-US"/>
          </a:p>
        </p:txBody>
      </p:sp>
      <p:sp>
        <p:nvSpPr>
          <p:cNvPr id="32" name="Text 29"/>
          <p:cNvSpPr/>
          <p:nvPr/>
        </p:nvSpPr>
        <p:spPr>
          <a:xfrm>
            <a:off x="4892040" y="3749040"/>
            <a:ext cx="3749040" cy="713232"/>
          </a:xfrm>
          <a:prstGeom prst="rect">
            <a:avLst/>
          </a:prstGeom>
          <a:noFill/>
          <a:ln/>
        </p:spPr>
        <p:txBody>
          <a:bodyPr wrap="square" rtlCol="0" anchor="ctr"/>
          <a:lstStyle/>
          <a:p>
            <a:pPr marL="0" indent="0" algn="l">
              <a:buNone/>
            </a:pPr>
            <a:r>
              <a:rPr lang="en-US" sz="1000" b="1" dirty="0">
                <a:solidFill>
                  <a:srgbClr val="1A1A2E"/>
                </a:solidFill>
                <a:latin typeface="Calibri" pitchFamily="34" charset="0"/>
                <a:ea typeface="Calibri" pitchFamily="34" charset="-122"/>
                <a:cs typeface="Calibri" pitchFamily="34" charset="-120"/>
              </a:rPr>
              <a:t>Methodology
</a:t>
            </a:r>
            <a:endParaRPr lang="en-US" sz="1000" dirty="0"/>
          </a:p>
          <a:p>
            <a:pPr marL="0" indent="0" algn="l">
              <a:buNone/>
            </a:pPr>
            <a:r>
              <a:rPr lang="en-US" sz="1000" dirty="0">
                <a:solidFill>
                  <a:srgbClr val="4A5568"/>
                </a:solidFill>
                <a:latin typeface="Calibri" pitchFamily="34" charset="0"/>
                <a:ea typeface="Calibri" pitchFamily="34" charset="-122"/>
                <a:cs typeface="Calibri" pitchFamily="34" charset="-120"/>
              </a:rPr>
              <a:t>3 trials per configuration  ·  median wall time reported</a:t>
            </a:r>
            <a:endParaRPr lang="en-US" sz="1000" dirty="0"/>
          </a:p>
          <a:p>
            <a:pPr marL="0" indent="0" algn="l">
              <a:buNone/>
            </a:pPr>
            <a:r>
              <a:rPr lang="en-US" sz="1000" dirty="0">
                <a:solidFill>
                  <a:srgbClr val="4A5568"/>
                </a:solidFill>
                <a:latin typeface="Calibri" pitchFamily="34" charset="0"/>
                <a:ea typeface="Calibri" pitchFamily="34" charset="-122"/>
                <a:cs typeface="Calibri" pitchFamily="34" charset="-120"/>
              </a:rPr>
              <a:t>MPI_Wtime() brackets simulation loop only</a:t>
            </a:r>
            <a:endParaRPr lang="en-US" sz="1000" dirty="0"/>
          </a:p>
          <a:p>
            <a:pPr marL="0" indent="0" algn="l">
              <a:buNone/>
            </a:pPr>
            <a:r>
              <a:rPr lang="en-US" sz="1000" dirty="0">
                <a:solidFill>
                  <a:srgbClr val="4A5568"/>
                </a:solidFill>
                <a:latin typeface="Calibri" pitchFamily="34" charset="0"/>
                <a:ea typeface="Calibri" pitchFamily="34" charset="-122"/>
                <a:cs typeface="Calibri" pitchFamily="34" charset="-120"/>
              </a:rPr>
              <a:t>Seed 42 for reproducibility</a:t>
            </a:r>
            <a:endParaRPr lang="en-US" sz="1000" dirty="0"/>
          </a:p>
        </p:txBody>
      </p:sp>
    </p:spTree>
    <p:extLst>
      <p:ext uri="{BB962C8B-B14F-4D97-AF65-F5344CB8AC3E}">
        <p14:creationId xmlns:p14="http://schemas.microsoft.com/office/powerpoint/2010/main" val="257966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0"/>
            <a:ext cx="8229600" cy="502920"/>
          </a:xfrm>
          <a:prstGeom prst="rect">
            <a:avLst/>
          </a:prstGeom>
          <a:noFill/>
          <a:ln/>
        </p:spPr>
        <p:txBody>
          <a:bodyPr wrap="square" rtlCol="0" anchor="ctr"/>
          <a:lstStyle/>
          <a:p>
            <a:pPr marL="0" indent="0">
              <a:buNone/>
            </a:pPr>
            <a:r>
              <a:rPr lang="en-US" sz="1300" b="1" kern="0" spc="400" dirty="0">
                <a:solidFill>
                  <a:srgbClr val="4CC9F0"/>
                </a:solidFill>
                <a:latin typeface="Calibri" pitchFamily="34" charset="0"/>
                <a:ea typeface="Calibri" pitchFamily="34" charset="-122"/>
                <a:cs typeface="Calibri" pitchFamily="34" charset="-120"/>
              </a:rPr>
              <a:t>STRONG SCALING</a:t>
            </a:r>
            <a:endParaRPr lang="en-US" sz="1300" dirty="0"/>
          </a:p>
        </p:txBody>
      </p:sp>
      <p:sp>
        <p:nvSpPr>
          <p:cNvPr id="4" name="Text 2"/>
          <p:cNvSpPr/>
          <p:nvPr/>
        </p:nvSpPr>
        <p:spPr>
          <a:xfrm>
            <a:off x="365760" y="621792"/>
            <a:ext cx="5943600" cy="457200"/>
          </a:xfrm>
          <a:prstGeom prst="rect">
            <a:avLst/>
          </a:prstGeom>
          <a:noFill/>
          <a:ln/>
        </p:spPr>
        <p:txBody>
          <a:bodyPr wrap="square" lIns="0" tIns="0" rIns="0" bIns="0" rtlCol="0" anchor="ctr"/>
          <a:lstStyle/>
          <a:p>
            <a:pPr marL="0" indent="0" algn="l">
              <a:buNone/>
            </a:pPr>
            <a:r>
              <a:rPr lang="en-US" sz="2400" b="1" dirty="0">
                <a:solidFill>
                  <a:srgbClr val="1A1A2E"/>
                </a:solidFill>
                <a:latin typeface="Calibri" pitchFamily="34" charset="0"/>
                <a:ea typeface="Calibri" pitchFamily="34" charset="-122"/>
                <a:cs typeface="Calibri" pitchFamily="34" charset="-120"/>
              </a:rPr>
              <a:t>Speedup S(P) = T(1) / T(P)</a:t>
            </a:r>
            <a:endParaRPr lang="en-US" sz="2400" dirty="0"/>
          </a:p>
        </p:txBody>
      </p:sp>
      <p:graphicFrame>
        <p:nvGraphicFramePr>
          <p:cNvPr id="5" name="Chart 0"/>
          <p:cNvGraphicFramePr/>
          <p:nvPr/>
        </p:nvGraphicFramePr>
        <p:xfrm>
          <a:off x="274320" y="1143000"/>
          <a:ext cx="566928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172200" y="1234440"/>
            <a:ext cx="2743200" cy="1024128"/>
          </a:xfrm>
          <a:prstGeom prst="rect">
            <a:avLst/>
          </a:prstGeom>
          <a:solidFill>
            <a:srgbClr val="EEF3FF"/>
          </a:solidFill>
          <a:ln w="12700">
            <a:solidFill>
              <a:srgbClr val="D0DEFF"/>
            </a:solidFill>
            <a:prstDash val="solid"/>
          </a:ln>
          <a:effectLst>
            <a:outerShdw blurRad="101600" dist="38100" dir="8100000" algn="bl" rotWithShape="0">
              <a:srgbClr val="000000">
                <a:alpha val="10000"/>
              </a:srgbClr>
            </a:outerShdw>
          </a:effectLst>
        </p:spPr>
        <p:txBody>
          <a:bodyPr/>
          <a:lstStyle/>
          <a:p>
            <a:endParaRPr lang="en-US"/>
          </a:p>
        </p:txBody>
      </p:sp>
      <p:sp>
        <p:nvSpPr>
          <p:cNvPr id="7" name="Shape 4"/>
          <p:cNvSpPr/>
          <p:nvPr/>
        </p:nvSpPr>
        <p:spPr>
          <a:xfrm>
            <a:off x="6172200" y="1234440"/>
            <a:ext cx="64008" cy="1024128"/>
          </a:xfrm>
          <a:prstGeom prst="rect">
            <a:avLst/>
          </a:prstGeom>
          <a:solidFill>
            <a:srgbClr val="F4A261"/>
          </a:solidFill>
          <a:ln w="12700">
            <a:solidFill>
              <a:srgbClr val="F4A261"/>
            </a:solidFill>
            <a:prstDash val="solid"/>
          </a:ln>
        </p:spPr>
        <p:txBody>
          <a:bodyPr/>
          <a:lstStyle/>
          <a:p>
            <a:endParaRPr lang="en-US"/>
          </a:p>
        </p:txBody>
      </p:sp>
      <p:sp>
        <p:nvSpPr>
          <p:cNvPr id="8" name="Text 5"/>
          <p:cNvSpPr/>
          <p:nvPr/>
        </p:nvSpPr>
        <p:spPr>
          <a:xfrm>
            <a:off x="6309360" y="1289304"/>
            <a:ext cx="2514600" cy="228600"/>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N = 2,400  ·  P=8</a:t>
            </a:r>
            <a:endParaRPr lang="en-US" sz="1000" dirty="0"/>
          </a:p>
        </p:txBody>
      </p:sp>
      <p:sp>
        <p:nvSpPr>
          <p:cNvPr id="9" name="Text 6"/>
          <p:cNvSpPr/>
          <p:nvPr/>
        </p:nvSpPr>
        <p:spPr>
          <a:xfrm>
            <a:off x="6309360" y="1536192"/>
            <a:ext cx="2514600" cy="292608"/>
          </a:xfrm>
          <a:prstGeom prst="rect">
            <a:avLst/>
          </a:prstGeom>
          <a:noFill/>
          <a:ln/>
        </p:spPr>
        <p:txBody>
          <a:bodyPr wrap="square" lIns="0" tIns="0" rIns="0" bIns="0" rtlCol="0" anchor="ctr"/>
          <a:lstStyle/>
          <a:p>
            <a:pPr marL="0" indent="0">
              <a:buNone/>
            </a:pPr>
            <a:r>
              <a:rPr lang="en-US" sz="1800" b="1" dirty="0">
                <a:solidFill>
                  <a:srgbClr val="F4A261"/>
                </a:solidFill>
                <a:latin typeface="Calibri" pitchFamily="34" charset="0"/>
                <a:ea typeface="Calibri" pitchFamily="34" charset="-122"/>
                <a:cs typeface="Calibri" pitchFamily="34" charset="-120"/>
              </a:rPr>
              <a:t>Peak: 1.92×</a:t>
            </a:r>
            <a:endParaRPr lang="en-US" sz="1800" dirty="0"/>
          </a:p>
        </p:txBody>
      </p:sp>
      <p:sp>
        <p:nvSpPr>
          <p:cNvPr id="10" name="Text 7"/>
          <p:cNvSpPr/>
          <p:nvPr/>
        </p:nvSpPr>
        <p:spPr>
          <a:xfrm>
            <a:off x="6309360" y="1837944"/>
            <a:ext cx="2514600" cy="347472"/>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N²/P compute swamped</a:t>
            </a:r>
            <a:endParaRPr lang="en-US" sz="950" dirty="0"/>
          </a:p>
          <a:p>
            <a:pPr marL="0" indent="0">
              <a:buNone/>
            </a:pPr>
            <a:r>
              <a:rPr lang="en-US" sz="950" dirty="0">
                <a:solidFill>
                  <a:srgbClr val="4A5568"/>
                </a:solidFill>
                <a:latin typeface="Calibri" pitchFamily="34" charset="0"/>
                <a:ea typeface="Calibri" pitchFamily="34" charset="-122"/>
                <a:cs typeface="Calibri" pitchFamily="34" charset="-120"/>
              </a:rPr>
              <a:t>by Allgatherv overhead</a:t>
            </a:r>
            <a:endParaRPr lang="en-US" sz="950" dirty="0"/>
          </a:p>
        </p:txBody>
      </p:sp>
      <p:sp>
        <p:nvSpPr>
          <p:cNvPr id="11" name="Shape 8"/>
          <p:cNvSpPr/>
          <p:nvPr/>
        </p:nvSpPr>
        <p:spPr>
          <a:xfrm>
            <a:off x="6172200" y="2377440"/>
            <a:ext cx="2743200" cy="1024128"/>
          </a:xfrm>
          <a:prstGeom prst="rect">
            <a:avLst/>
          </a:prstGeom>
          <a:solidFill>
            <a:srgbClr val="EEF3FF"/>
          </a:solidFill>
          <a:ln w="12700">
            <a:solidFill>
              <a:srgbClr val="D0DEFF"/>
            </a:solidFill>
            <a:prstDash val="solid"/>
          </a:ln>
          <a:effectLst>
            <a:outerShdw blurRad="101600" dist="38100" dir="8100000" algn="bl" rotWithShape="0">
              <a:srgbClr val="000000">
                <a:alpha val="10000"/>
              </a:srgbClr>
            </a:outerShdw>
          </a:effectLst>
        </p:spPr>
        <p:txBody>
          <a:bodyPr/>
          <a:lstStyle/>
          <a:p>
            <a:endParaRPr lang="en-US"/>
          </a:p>
        </p:txBody>
      </p:sp>
      <p:sp>
        <p:nvSpPr>
          <p:cNvPr id="12" name="Shape 9"/>
          <p:cNvSpPr/>
          <p:nvPr/>
        </p:nvSpPr>
        <p:spPr>
          <a:xfrm>
            <a:off x="6172200" y="2377440"/>
            <a:ext cx="64008" cy="1024128"/>
          </a:xfrm>
          <a:prstGeom prst="rect">
            <a:avLst/>
          </a:prstGeom>
          <a:solidFill>
            <a:srgbClr val="3A86FF"/>
          </a:solidFill>
          <a:ln w="12700">
            <a:solidFill>
              <a:srgbClr val="3A86FF"/>
            </a:solidFill>
            <a:prstDash val="solid"/>
          </a:ln>
        </p:spPr>
        <p:txBody>
          <a:bodyPr/>
          <a:lstStyle/>
          <a:p>
            <a:endParaRPr lang="en-US"/>
          </a:p>
        </p:txBody>
      </p:sp>
      <p:sp>
        <p:nvSpPr>
          <p:cNvPr id="13" name="Text 10"/>
          <p:cNvSpPr/>
          <p:nvPr/>
        </p:nvSpPr>
        <p:spPr>
          <a:xfrm>
            <a:off x="6309360" y="2432304"/>
            <a:ext cx="2514600" cy="228600"/>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N = 4,800  ·  P=12</a:t>
            </a:r>
            <a:endParaRPr lang="en-US" sz="1000" dirty="0"/>
          </a:p>
        </p:txBody>
      </p:sp>
      <p:sp>
        <p:nvSpPr>
          <p:cNvPr id="14" name="Text 11"/>
          <p:cNvSpPr/>
          <p:nvPr/>
        </p:nvSpPr>
        <p:spPr>
          <a:xfrm>
            <a:off x="6309360" y="2679192"/>
            <a:ext cx="2514600" cy="292608"/>
          </a:xfrm>
          <a:prstGeom prst="rect">
            <a:avLst/>
          </a:prstGeom>
          <a:noFill/>
          <a:ln/>
        </p:spPr>
        <p:txBody>
          <a:bodyPr wrap="square" lIns="0" tIns="0" rIns="0" bIns="0" rtlCol="0" anchor="ctr"/>
          <a:lstStyle/>
          <a:p>
            <a:pPr marL="0" indent="0">
              <a:buNone/>
            </a:pPr>
            <a:r>
              <a:rPr lang="en-US" sz="1800" b="1" dirty="0">
                <a:solidFill>
                  <a:srgbClr val="3A86FF"/>
                </a:solidFill>
                <a:latin typeface="Calibri" pitchFamily="34" charset="0"/>
                <a:ea typeface="Calibri" pitchFamily="34" charset="-122"/>
                <a:cs typeface="Calibri" pitchFamily="34" charset="-120"/>
              </a:rPr>
              <a:t>Peak: 4.11×</a:t>
            </a:r>
            <a:endParaRPr lang="en-US" sz="1800" dirty="0"/>
          </a:p>
        </p:txBody>
      </p:sp>
      <p:sp>
        <p:nvSpPr>
          <p:cNvPr id="15" name="Text 12"/>
          <p:cNvSpPr/>
          <p:nvPr/>
        </p:nvSpPr>
        <p:spPr>
          <a:xfrm>
            <a:off x="6309360" y="2980944"/>
            <a:ext cx="2514600" cy="347472"/>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Best speedup; comm still</a:t>
            </a:r>
            <a:endParaRPr lang="en-US" sz="950" dirty="0"/>
          </a:p>
          <a:p>
            <a:pPr marL="0" indent="0">
              <a:buNone/>
            </a:pPr>
            <a:r>
              <a:rPr lang="en-US" sz="950" dirty="0">
                <a:solidFill>
                  <a:srgbClr val="4A5568"/>
                </a:solidFill>
                <a:latin typeface="Calibri" pitchFamily="34" charset="0"/>
                <a:ea typeface="Calibri" pitchFamily="34" charset="-122"/>
                <a:cs typeface="Calibri" pitchFamily="34" charset="-120"/>
              </a:rPr>
              <a:t>manageable fraction</a:t>
            </a:r>
            <a:endParaRPr lang="en-US" sz="950" dirty="0"/>
          </a:p>
        </p:txBody>
      </p:sp>
      <p:sp>
        <p:nvSpPr>
          <p:cNvPr id="16" name="Shape 13"/>
          <p:cNvSpPr/>
          <p:nvPr/>
        </p:nvSpPr>
        <p:spPr>
          <a:xfrm>
            <a:off x="6172200" y="3520440"/>
            <a:ext cx="2743200" cy="1024128"/>
          </a:xfrm>
          <a:prstGeom prst="rect">
            <a:avLst/>
          </a:prstGeom>
          <a:solidFill>
            <a:srgbClr val="EEF3FF"/>
          </a:solidFill>
          <a:ln w="12700">
            <a:solidFill>
              <a:srgbClr val="D0DEFF"/>
            </a:solidFill>
            <a:prstDash val="solid"/>
          </a:ln>
          <a:effectLst>
            <a:outerShdw blurRad="101600" dist="38100" dir="8100000" algn="bl" rotWithShape="0">
              <a:srgbClr val="000000">
                <a:alpha val="10000"/>
              </a:srgbClr>
            </a:outerShdw>
          </a:effectLst>
        </p:spPr>
        <p:txBody>
          <a:bodyPr/>
          <a:lstStyle/>
          <a:p>
            <a:endParaRPr lang="en-US"/>
          </a:p>
        </p:txBody>
      </p:sp>
      <p:sp>
        <p:nvSpPr>
          <p:cNvPr id="17" name="Shape 14"/>
          <p:cNvSpPr/>
          <p:nvPr/>
        </p:nvSpPr>
        <p:spPr>
          <a:xfrm>
            <a:off x="6172200" y="3520440"/>
            <a:ext cx="64008" cy="1024128"/>
          </a:xfrm>
          <a:prstGeom prst="rect">
            <a:avLst/>
          </a:prstGeom>
          <a:solidFill>
            <a:srgbClr val="10B981"/>
          </a:solidFill>
          <a:ln w="12700">
            <a:solidFill>
              <a:srgbClr val="10B981"/>
            </a:solidFill>
            <a:prstDash val="solid"/>
          </a:ln>
        </p:spPr>
        <p:txBody>
          <a:bodyPr/>
          <a:lstStyle/>
          <a:p>
            <a:endParaRPr lang="en-US"/>
          </a:p>
        </p:txBody>
      </p:sp>
      <p:sp>
        <p:nvSpPr>
          <p:cNvPr id="18" name="Text 15"/>
          <p:cNvSpPr/>
          <p:nvPr/>
        </p:nvSpPr>
        <p:spPr>
          <a:xfrm>
            <a:off x="6309360" y="3575304"/>
            <a:ext cx="2514600" cy="228600"/>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N = 9,600  ·  P=12</a:t>
            </a:r>
            <a:endParaRPr lang="en-US" sz="1000" dirty="0"/>
          </a:p>
        </p:txBody>
      </p:sp>
      <p:sp>
        <p:nvSpPr>
          <p:cNvPr id="19" name="Text 16"/>
          <p:cNvSpPr/>
          <p:nvPr/>
        </p:nvSpPr>
        <p:spPr>
          <a:xfrm>
            <a:off x="6309360" y="3822192"/>
            <a:ext cx="2514600" cy="292608"/>
          </a:xfrm>
          <a:prstGeom prst="rect">
            <a:avLst/>
          </a:prstGeom>
          <a:noFill/>
          <a:ln/>
        </p:spPr>
        <p:txBody>
          <a:bodyPr wrap="square" lIns="0" tIns="0" rIns="0" bIns="0" rtlCol="0" anchor="ctr"/>
          <a:lstStyle/>
          <a:p>
            <a:pPr marL="0" indent="0">
              <a:buNone/>
            </a:pPr>
            <a:r>
              <a:rPr lang="en-US" sz="1800" b="1" dirty="0">
                <a:solidFill>
                  <a:srgbClr val="10B981"/>
                </a:solidFill>
                <a:latin typeface="Calibri" pitchFamily="34" charset="0"/>
                <a:ea typeface="Calibri" pitchFamily="34" charset="-122"/>
                <a:cs typeface="Calibri" pitchFamily="34" charset="-120"/>
              </a:rPr>
              <a:t>Peak: 6.57×</a:t>
            </a:r>
            <a:endParaRPr lang="en-US" sz="1800" dirty="0"/>
          </a:p>
        </p:txBody>
      </p:sp>
      <p:sp>
        <p:nvSpPr>
          <p:cNvPr id="20" name="Text 17"/>
          <p:cNvSpPr/>
          <p:nvPr/>
        </p:nvSpPr>
        <p:spPr>
          <a:xfrm>
            <a:off x="6309360" y="4123944"/>
            <a:ext cx="2514600" cy="347472"/>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Largest N — best strong</a:t>
            </a:r>
            <a:endParaRPr lang="en-US" sz="950" dirty="0"/>
          </a:p>
          <a:p>
            <a:pPr marL="0" indent="0">
              <a:buNone/>
            </a:pPr>
            <a:r>
              <a:rPr lang="en-US" sz="950" dirty="0">
                <a:solidFill>
                  <a:srgbClr val="4A5568"/>
                </a:solidFill>
                <a:latin typeface="Calibri" pitchFamily="34" charset="0"/>
                <a:ea typeface="Calibri" pitchFamily="34" charset="-122"/>
                <a:cs typeface="Calibri" pitchFamily="34" charset="-120"/>
              </a:rPr>
              <a:t>scaling efficiency</a:t>
            </a:r>
            <a:endParaRPr lang="en-US" sz="950" dirty="0"/>
          </a:p>
        </p:txBody>
      </p:sp>
      <p:sp>
        <p:nvSpPr>
          <p:cNvPr id="21" name="Shape 18"/>
          <p:cNvSpPr/>
          <p:nvPr/>
        </p:nvSpPr>
        <p:spPr>
          <a:xfrm>
            <a:off x="6172200" y="4572000"/>
            <a:ext cx="2743200" cy="411480"/>
          </a:xfrm>
          <a:prstGeom prst="rect">
            <a:avLst/>
          </a:prstGeom>
          <a:solidFill>
            <a:srgbClr val="0D1B2A"/>
          </a:solidFill>
          <a:ln w="12700">
            <a:solidFill>
              <a:srgbClr val="3A86FF"/>
            </a:solidFill>
            <a:prstDash val="solid"/>
          </a:ln>
        </p:spPr>
        <p:txBody>
          <a:bodyPr/>
          <a:lstStyle/>
          <a:p>
            <a:endParaRPr lang="en-US"/>
          </a:p>
        </p:txBody>
      </p:sp>
      <p:sp>
        <p:nvSpPr>
          <p:cNvPr id="22" name="Text 19"/>
          <p:cNvSpPr/>
          <p:nvPr/>
        </p:nvSpPr>
        <p:spPr>
          <a:xfrm>
            <a:off x="6236208" y="4590288"/>
            <a:ext cx="2606040" cy="365760"/>
          </a:xfrm>
          <a:prstGeom prst="rect">
            <a:avLst/>
          </a:prstGeom>
          <a:noFill/>
          <a:ln/>
        </p:spPr>
        <p:txBody>
          <a:bodyPr wrap="square" rtlCol="0" anchor="ctr"/>
          <a:lstStyle/>
          <a:p>
            <a:pPr marL="0" indent="0">
              <a:buNone/>
            </a:pPr>
            <a:r>
              <a:rPr lang="en-US" sz="900" dirty="0">
                <a:solidFill>
                  <a:srgbClr val="CADCFC"/>
                </a:solidFill>
                <a:latin typeface="Calibri" pitchFamily="34" charset="0"/>
                <a:ea typeface="Calibri" pitchFamily="34" charset="-122"/>
                <a:cs typeface="Calibri" pitchFamily="34" charset="-120"/>
              </a:rPr>
              <a:t>All curves flatten at P &gt; 12 — communication overhead dominates</a:t>
            </a:r>
            <a:endParaRPr lang="en-US" sz="900" dirty="0"/>
          </a:p>
        </p:txBody>
      </p:sp>
    </p:spTree>
    <p:extLst>
      <p:ext uri="{BB962C8B-B14F-4D97-AF65-F5344CB8AC3E}">
        <p14:creationId xmlns:p14="http://schemas.microsoft.com/office/powerpoint/2010/main" val="4263428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0"/>
            <a:ext cx="8229600" cy="502920"/>
          </a:xfrm>
          <a:prstGeom prst="rect">
            <a:avLst/>
          </a:prstGeom>
          <a:noFill/>
          <a:ln/>
        </p:spPr>
        <p:txBody>
          <a:bodyPr wrap="square" rtlCol="0" anchor="ctr"/>
          <a:lstStyle/>
          <a:p>
            <a:pPr marL="0" indent="0">
              <a:buNone/>
            </a:pPr>
            <a:r>
              <a:rPr lang="en-US" sz="1300" b="1" kern="0" spc="400" dirty="0">
                <a:solidFill>
                  <a:srgbClr val="4CC9F0"/>
                </a:solidFill>
                <a:latin typeface="Calibri" pitchFamily="34" charset="0"/>
                <a:ea typeface="Calibri" pitchFamily="34" charset="-122"/>
                <a:cs typeface="Calibri" pitchFamily="34" charset="-120"/>
              </a:rPr>
              <a:t>WEAK SCALING</a:t>
            </a:r>
            <a:endParaRPr lang="en-US" sz="1300" dirty="0"/>
          </a:p>
        </p:txBody>
      </p:sp>
      <p:sp>
        <p:nvSpPr>
          <p:cNvPr id="4" name="Text 2"/>
          <p:cNvSpPr/>
          <p:nvPr/>
        </p:nvSpPr>
        <p:spPr>
          <a:xfrm>
            <a:off x="365760" y="621792"/>
            <a:ext cx="8229600" cy="457200"/>
          </a:xfrm>
          <a:prstGeom prst="rect">
            <a:avLst/>
          </a:prstGeom>
          <a:noFill/>
          <a:ln/>
        </p:spPr>
        <p:txBody>
          <a:bodyPr wrap="square" lIns="0" tIns="0" rIns="0" bIns="0" rtlCol="0" anchor="ctr"/>
          <a:lstStyle/>
          <a:p>
            <a:pPr marL="0" indent="0" algn="l">
              <a:buNone/>
            </a:pPr>
            <a:r>
              <a:rPr lang="en-US" sz="2400" b="1" dirty="0">
                <a:solidFill>
                  <a:srgbClr val="1A1A2E"/>
                </a:solidFill>
                <a:latin typeface="Calibri" pitchFamily="34" charset="0"/>
                <a:ea typeface="Calibri" pitchFamily="34" charset="-122"/>
                <a:cs typeface="Calibri" pitchFamily="34" charset="-120"/>
              </a:rPr>
              <a:t>1,000 Particles Per Process  ·  50 Timesteps</a:t>
            </a:r>
            <a:endParaRPr lang="en-US" sz="2400" dirty="0"/>
          </a:p>
        </p:txBody>
      </p:sp>
      <p:graphicFrame>
        <p:nvGraphicFramePr>
          <p:cNvPr id="5" name="Chart 0"/>
          <p:cNvGraphicFramePr/>
          <p:nvPr/>
        </p:nvGraphicFramePr>
        <p:xfrm>
          <a:off x="274320" y="1143000"/>
          <a:ext cx="566928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172200" y="1261872"/>
            <a:ext cx="2743200" cy="1051560"/>
          </a:xfrm>
          <a:prstGeom prst="rect">
            <a:avLst/>
          </a:prstGeom>
          <a:solidFill>
            <a:srgbClr val="EEF3FF"/>
          </a:solidFill>
          <a:ln w="12700">
            <a:solidFill>
              <a:srgbClr val="D0DEFF"/>
            </a:solidFill>
            <a:prstDash val="solid"/>
          </a:ln>
          <a:effectLst>
            <a:outerShdw blurRad="101600" dist="38100" dir="8100000" algn="bl" rotWithShape="0">
              <a:srgbClr val="000000">
                <a:alpha val="10000"/>
              </a:srgbClr>
            </a:outerShdw>
          </a:effectLst>
        </p:spPr>
        <p:txBody>
          <a:bodyPr/>
          <a:lstStyle/>
          <a:p>
            <a:endParaRPr lang="en-US"/>
          </a:p>
        </p:txBody>
      </p:sp>
      <p:sp>
        <p:nvSpPr>
          <p:cNvPr id="7" name="Shape 4"/>
          <p:cNvSpPr/>
          <p:nvPr/>
        </p:nvSpPr>
        <p:spPr>
          <a:xfrm>
            <a:off x="6172200" y="1261872"/>
            <a:ext cx="64008" cy="1051560"/>
          </a:xfrm>
          <a:prstGeom prst="rect">
            <a:avLst/>
          </a:prstGeom>
          <a:solidFill>
            <a:srgbClr val="3A86FF"/>
          </a:solidFill>
          <a:ln w="12700">
            <a:solidFill>
              <a:srgbClr val="3A86FF"/>
            </a:solidFill>
            <a:prstDash val="solid"/>
          </a:ln>
        </p:spPr>
        <p:txBody>
          <a:bodyPr/>
          <a:lstStyle/>
          <a:p>
            <a:endParaRPr lang="en-US"/>
          </a:p>
        </p:txBody>
      </p:sp>
      <p:sp>
        <p:nvSpPr>
          <p:cNvPr id="8" name="Text 5"/>
          <p:cNvSpPr/>
          <p:nvPr/>
        </p:nvSpPr>
        <p:spPr>
          <a:xfrm>
            <a:off x="6309360" y="1316736"/>
            <a:ext cx="2514600" cy="256032"/>
          </a:xfrm>
          <a:prstGeom prst="rect">
            <a:avLst/>
          </a:prstGeom>
          <a:noFill/>
          <a:ln/>
        </p:spPr>
        <p:txBody>
          <a:bodyPr wrap="square" lIns="0" tIns="0" rIns="0" bIns="0" rtlCol="0" anchor="ctr"/>
          <a:lstStyle/>
          <a:p>
            <a:pPr marL="0" indent="0">
              <a:buNone/>
            </a:pPr>
            <a:r>
              <a:rPr lang="en-US" sz="1050" b="1" dirty="0">
                <a:solidFill>
                  <a:srgbClr val="1A1A2E"/>
                </a:solidFill>
                <a:latin typeface="Calibri" pitchFamily="34" charset="0"/>
                <a:ea typeface="Calibri" pitchFamily="34" charset="-122"/>
                <a:cs typeface="Calibri" pitchFamily="34" charset="-120"/>
              </a:rPr>
              <a:t>O(N²) Complexity</a:t>
            </a:r>
            <a:endParaRPr lang="en-US" sz="1050" dirty="0"/>
          </a:p>
        </p:txBody>
      </p:sp>
      <p:sp>
        <p:nvSpPr>
          <p:cNvPr id="9" name="Text 6"/>
          <p:cNvSpPr/>
          <p:nvPr/>
        </p:nvSpPr>
        <p:spPr>
          <a:xfrm>
            <a:off x="6309360" y="1591056"/>
            <a:ext cx="2514600" cy="658368"/>
          </a:xfrm>
          <a:prstGeom prst="rect">
            <a:avLst/>
          </a:prstGeom>
          <a:noFill/>
          <a:ln/>
        </p:spPr>
        <p:txBody>
          <a:bodyPr wrap="square" lIns="0" tIns="0" rIns="0" bIns="0" rtlCol="0" anchor="ctr"/>
          <a:lstStyle/>
          <a:p>
            <a:pPr marL="0" indent="0">
              <a:buNone/>
            </a:pPr>
            <a:r>
              <a:rPr lang="en-US" sz="920" dirty="0">
                <a:solidFill>
                  <a:srgbClr val="4A5568"/>
                </a:solidFill>
                <a:latin typeface="Calibri" pitchFamily="34" charset="0"/>
                <a:ea typeface="Calibri" pitchFamily="34" charset="-122"/>
                <a:cs typeface="Calibri" pitchFamily="34" charset="-120"/>
              </a:rPr>
              <a:t>Even perfect weak scaling can't give constant time: each process computes O(N/P × N) = O(N) forces as N grows. Normalized time grows as O(P).</a:t>
            </a:r>
            <a:endParaRPr lang="en-US" sz="920" dirty="0"/>
          </a:p>
        </p:txBody>
      </p:sp>
      <p:sp>
        <p:nvSpPr>
          <p:cNvPr id="10" name="Shape 7"/>
          <p:cNvSpPr/>
          <p:nvPr/>
        </p:nvSpPr>
        <p:spPr>
          <a:xfrm>
            <a:off x="6172200" y="2432304"/>
            <a:ext cx="2743200" cy="1051560"/>
          </a:xfrm>
          <a:prstGeom prst="rect">
            <a:avLst/>
          </a:prstGeom>
          <a:solidFill>
            <a:srgbClr val="EEF3FF"/>
          </a:solidFill>
          <a:ln w="12700">
            <a:solidFill>
              <a:srgbClr val="D0DEFF"/>
            </a:solidFill>
            <a:prstDash val="solid"/>
          </a:ln>
          <a:effectLst>
            <a:outerShdw blurRad="101600" dist="38100" dir="8100000" algn="bl" rotWithShape="0">
              <a:srgbClr val="000000">
                <a:alpha val="10000"/>
              </a:srgbClr>
            </a:outerShdw>
          </a:effectLst>
        </p:spPr>
        <p:txBody>
          <a:bodyPr/>
          <a:lstStyle/>
          <a:p>
            <a:endParaRPr lang="en-US"/>
          </a:p>
        </p:txBody>
      </p:sp>
      <p:sp>
        <p:nvSpPr>
          <p:cNvPr id="11" name="Shape 8"/>
          <p:cNvSpPr/>
          <p:nvPr/>
        </p:nvSpPr>
        <p:spPr>
          <a:xfrm>
            <a:off x="6172200" y="2432304"/>
            <a:ext cx="64008" cy="1051560"/>
          </a:xfrm>
          <a:prstGeom prst="rect">
            <a:avLst/>
          </a:prstGeom>
          <a:solidFill>
            <a:srgbClr val="EF4444"/>
          </a:solidFill>
          <a:ln w="12700">
            <a:solidFill>
              <a:srgbClr val="EF4444"/>
            </a:solidFill>
            <a:prstDash val="solid"/>
          </a:ln>
        </p:spPr>
        <p:txBody>
          <a:bodyPr/>
          <a:lstStyle/>
          <a:p>
            <a:endParaRPr lang="en-US"/>
          </a:p>
        </p:txBody>
      </p:sp>
      <p:sp>
        <p:nvSpPr>
          <p:cNvPr id="12" name="Text 9"/>
          <p:cNvSpPr/>
          <p:nvPr/>
        </p:nvSpPr>
        <p:spPr>
          <a:xfrm>
            <a:off x="6309360" y="2487168"/>
            <a:ext cx="2514600" cy="256032"/>
          </a:xfrm>
          <a:prstGeom prst="rect">
            <a:avLst/>
          </a:prstGeom>
          <a:noFill/>
          <a:ln/>
        </p:spPr>
        <p:txBody>
          <a:bodyPr wrap="square" lIns="0" tIns="0" rIns="0" bIns="0" rtlCol="0" anchor="ctr"/>
          <a:lstStyle/>
          <a:p>
            <a:pPr marL="0" indent="0">
              <a:buNone/>
            </a:pPr>
            <a:r>
              <a:rPr lang="en-US" sz="1050" b="1" dirty="0">
                <a:solidFill>
                  <a:srgbClr val="1A1A2E"/>
                </a:solidFill>
                <a:latin typeface="Calibri" pitchFamily="34" charset="0"/>
                <a:ea typeface="Calibri" pitchFamily="34" charset="-122"/>
                <a:cs typeface="Calibri" pitchFamily="34" charset="-120"/>
              </a:rPr>
              <a:t>P=16 Anomaly  (1.70s)</a:t>
            </a:r>
            <a:endParaRPr lang="en-US" sz="1050" dirty="0"/>
          </a:p>
        </p:txBody>
      </p:sp>
      <p:sp>
        <p:nvSpPr>
          <p:cNvPr id="13" name="Text 10"/>
          <p:cNvSpPr/>
          <p:nvPr/>
        </p:nvSpPr>
        <p:spPr>
          <a:xfrm>
            <a:off x="6309360" y="2761488"/>
            <a:ext cx="2514600" cy="658368"/>
          </a:xfrm>
          <a:prstGeom prst="rect">
            <a:avLst/>
          </a:prstGeom>
          <a:noFill/>
          <a:ln/>
        </p:spPr>
        <p:txBody>
          <a:bodyPr wrap="square" lIns="0" tIns="0" rIns="0" bIns="0" rtlCol="0" anchor="ctr"/>
          <a:lstStyle/>
          <a:p>
            <a:pPr marL="0" indent="0">
              <a:buNone/>
            </a:pPr>
            <a:r>
              <a:rPr lang="en-US" sz="920" dirty="0">
                <a:solidFill>
                  <a:srgbClr val="4A5568"/>
                </a:solidFill>
                <a:latin typeface="Calibri" pitchFamily="34" charset="0"/>
                <a:ea typeface="Calibri" pitchFamily="34" charset="-122"/>
                <a:cs typeface="Calibri" pitchFamily="34" charset="-120"/>
              </a:rPr>
              <a:t>Sharp spike at P=16 aligns with crossing the 2-node TCP boundary. Buffer saturation on the inter-node fabric inflates Allgatherv latency ~2×.</a:t>
            </a:r>
            <a:endParaRPr lang="en-US" sz="920" dirty="0"/>
          </a:p>
        </p:txBody>
      </p:sp>
      <p:sp>
        <p:nvSpPr>
          <p:cNvPr id="14" name="Shape 11"/>
          <p:cNvSpPr/>
          <p:nvPr/>
        </p:nvSpPr>
        <p:spPr>
          <a:xfrm>
            <a:off x="6172200" y="3602736"/>
            <a:ext cx="2743200" cy="1051560"/>
          </a:xfrm>
          <a:prstGeom prst="rect">
            <a:avLst/>
          </a:prstGeom>
          <a:solidFill>
            <a:srgbClr val="EEF3FF"/>
          </a:solidFill>
          <a:ln w="12700">
            <a:solidFill>
              <a:srgbClr val="D0DEFF"/>
            </a:solidFill>
            <a:prstDash val="solid"/>
          </a:ln>
          <a:effectLst>
            <a:outerShdw blurRad="101600" dist="38100" dir="8100000" algn="bl" rotWithShape="0">
              <a:srgbClr val="000000">
                <a:alpha val="10000"/>
              </a:srgbClr>
            </a:outerShdw>
          </a:effectLst>
        </p:spPr>
        <p:txBody>
          <a:bodyPr/>
          <a:lstStyle/>
          <a:p>
            <a:endParaRPr lang="en-US"/>
          </a:p>
        </p:txBody>
      </p:sp>
      <p:sp>
        <p:nvSpPr>
          <p:cNvPr id="15" name="Shape 12"/>
          <p:cNvSpPr/>
          <p:nvPr/>
        </p:nvSpPr>
        <p:spPr>
          <a:xfrm>
            <a:off x="6172200" y="3602736"/>
            <a:ext cx="64008" cy="1051560"/>
          </a:xfrm>
          <a:prstGeom prst="rect">
            <a:avLst/>
          </a:prstGeom>
          <a:solidFill>
            <a:srgbClr val="F4A261"/>
          </a:solidFill>
          <a:ln w="12700">
            <a:solidFill>
              <a:srgbClr val="F4A261"/>
            </a:solidFill>
            <a:prstDash val="solid"/>
          </a:ln>
        </p:spPr>
        <p:txBody>
          <a:bodyPr/>
          <a:lstStyle/>
          <a:p>
            <a:endParaRPr lang="en-US"/>
          </a:p>
        </p:txBody>
      </p:sp>
      <p:sp>
        <p:nvSpPr>
          <p:cNvPr id="16" name="Text 13"/>
          <p:cNvSpPr/>
          <p:nvPr/>
        </p:nvSpPr>
        <p:spPr>
          <a:xfrm>
            <a:off x="6309360" y="3657600"/>
            <a:ext cx="2514600" cy="256032"/>
          </a:xfrm>
          <a:prstGeom prst="rect">
            <a:avLst/>
          </a:prstGeom>
          <a:noFill/>
          <a:ln/>
        </p:spPr>
        <p:txBody>
          <a:bodyPr wrap="square" lIns="0" tIns="0" rIns="0" bIns="0" rtlCol="0" anchor="ctr"/>
          <a:lstStyle/>
          <a:p>
            <a:pPr marL="0" indent="0">
              <a:buNone/>
            </a:pPr>
            <a:r>
              <a:rPr lang="en-US" sz="1050" b="1" dirty="0">
                <a:solidFill>
                  <a:srgbClr val="1A1A2E"/>
                </a:solidFill>
                <a:latin typeface="Calibri" pitchFamily="34" charset="0"/>
                <a:ea typeface="Calibri" pitchFamily="34" charset="-122"/>
                <a:cs typeface="Calibri" pitchFamily="34" charset="-120"/>
              </a:rPr>
              <a:t>P=11 Dip  (0.77s)</a:t>
            </a:r>
            <a:endParaRPr lang="en-US" sz="1050" dirty="0"/>
          </a:p>
        </p:txBody>
      </p:sp>
      <p:sp>
        <p:nvSpPr>
          <p:cNvPr id="17" name="Text 14"/>
          <p:cNvSpPr/>
          <p:nvPr/>
        </p:nvSpPr>
        <p:spPr>
          <a:xfrm>
            <a:off x="6309360" y="3931920"/>
            <a:ext cx="2514600" cy="658368"/>
          </a:xfrm>
          <a:prstGeom prst="rect">
            <a:avLst/>
          </a:prstGeom>
          <a:noFill/>
          <a:ln/>
        </p:spPr>
        <p:txBody>
          <a:bodyPr wrap="square" lIns="0" tIns="0" rIns="0" bIns="0" rtlCol="0" anchor="ctr"/>
          <a:lstStyle/>
          <a:p>
            <a:pPr marL="0" indent="0">
              <a:buNone/>
            </a:pPr>
            <a:r>
              <a:rPr lang="en-US" sz="920" dirty="0">
                <a:solidFill>
                  <a:srgbClr val="4A5568"/>
                </a:solidFill>
                <a:latin typeface="Calibri" pitchFamily="34" charset="0"/>
                <a:ea typeface="Calibri" pitchFamily="34" charset="-122"/>
                <a:cs typeface="Calibri" pitchFamily="34" charset="-120"/>
              </a:rPr>
              <a:t>Temporary drop as SLURM packs rank assignment within one socket, reducing NUMA latency — disappears at P=12 when ranks spill across cores.</a:t>
            </a:r>
            <a:endParaRPr lang="en-US" sz="920" dirty="0"/>
          </a:p>
        </p:txBody>
      </p:sp>
    </p:spTree>
    <p:extLst>
      <p:ext uri="{BB962C8B-B14F-4D97-AF65-F5344CB8AC3E}">
        <p14:creationId xmlns:p14="http://schemas.microsoft.com/office/powerpoint/2010/main" val="1344517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0"/>
            <a:ext cx="8229600" cy="502920"/>
          </a:xfrm>
          <a:prstGeom prst="rect">
            <a:avLst/>
          </a:prstGeom>
          <a:noFill/>
          <a:ln/>
        </p:spPr>
        <p:txBody>
          <a:bodyPr wrap="square" rtlCol="0" anchor="ctr"/>
          <a:lstStyle/>
          <a:p>
            <a:pPr marL="0" indent="0">
              <a:buNone/>
            </a:pPr>
            <a:r>
              <a:rPr lang="en-US" sz="1300" b="1" kern="0" spc="400" dirty="0">
                <a:solidFill>
                  <a:srgbClr val="4CC9F0"/>
                </a:solidFill>
                <a:latin typeface="Calibri" pitchFamily="34" charset="0"/>
                <a:ea typeface="Calibri" pitchFamily="34" charset="-122"/>
                <a:cs typeface="Calibri" pitchFamily="34" charset="-120"/>
              </a:rPr>
              <a:t>AMDAHL'S LAW</a:t>
            </a:r>
            <a:endParaRPr lang="en-US" sz="1300" dirty="0"/>
          </a:p>
        </p:txBody>
      </p:sp>
      <p:sp>
        <p:nvSpPr>
          <p:cNvPr id="4" name="Text 2"/>
          <p:cNvSpPr/>
          <p:nvPr/>
        </p:nvSpPr>
        <p:spPr>
          <a:xfrm>
            <a:off x="365760" y="621792"/>
            <a:ext cx="8229600" cy="50292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Extracting the Serial Bottleneck</a:t>
            </a:r>
            <a:endParaRPr lang="en-US" sz="2800" dirty="0"/>
          </a:p>
        </p:txBody>
      </p:sp>
      <p:sp>
        <p:nvSpPr>
          <p:cNvPr id="5" name="Shape 3"/>
          <p:cNvSpPr/>
          <p:nvPr/>
        </p:nvSpPr>
        <p:spPr>
          <a:xfrm>
            <a:off x="365760" y="1298448"/>
            <a:ext cx="4114800" cy="1097280"/>
          </a:xfrm>
          <a:prstGeom prst="rect">
            <a:avLst/>
          </a:prstGeom>
          <a:solidFill>
            <a:srgbClr val="0D1B2A"/>
          </a:solidFill>
          <a:ln w="25400">
            <a:solidFill>
              <a:srgbClr val="3A86FF"/>
            </a:solidFill>
            <a:prstDash val="solid"/>
          </a:ln>
          <a:effectLst>
            <a:outerShdw blurRad="101600" dist="38100" dir="8100000" algn="bl" rotWithShape="0">
              <a:srgbClr val="000000">
                <a:alpha val="10000"/>
              </a:srgbClr>
            </a:outerShdw>
          </a:effectLst>
        </p:spPr>
        <p:txBody>
          <a:bodyPr/>
          <a:lstStyle/>
          <a:p>
            <a:endParaRPr lang="en-US"/>
          </a:p>
        </p:txBody>
      </p:sp>
      <p:sp>
        <p:nvSpPr>
          <p:cNvPr id="6" name="Text 4"/>
          <p:cNvSpPr/>
          <p:nvPr/>
        </p:nvSpPr>
        <p:spPr>
          <a:xfrm>
            <a:off x="457200" y="1389888"/>
            <a:ext cx="82296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S(P) =</a:t>
            </a:r>
            <a:endParaRPr lang="en-US" sz="1800" dirty="0"/>
          </a:p>
        </p:txBody>
      </p:sp>
      <p:sp>
        <p:nvSpPr>
          <p:cNvPr id="7" name="Text 5"/>
          <p:cNvSpPr/>
          <p:nvPr/>
        </p:nvSpPr>
        <p:spPr>
          <a:xfrm>
            <a:off x="1325880" y="1389888"/>
            <a:ext cx="2194560" cy="320040"/>
          </a:xfrm>
          <a:prstGeom prst="rect">
            <a:avLst/>
          </a:prstGeom>
          <a:noFill/>
          <a:ln/>
        </p:spPr>
        <p:txBody>
          <a:bodyPr wrap="square" lIns="0" tIns="0" rIns="0" bIns="0" rtlCol="0" anchor="ctr"/>
          <a:lstStyle/>
          <a:p>
            <a:pPr marL="0" indent="0" algn="ctr">
              <a:buNone/>
            </a:pPr>
            <a:r>
              <a:rPr lang="en-US" sz="1800" b="1" dirty="0">
                <a:solidFill>
                  <a:srgbClr val="4CC9F0"/>
                </a:solidFill>
                <a:latin typeface="Calibri" pitchFamily="34" charset="0"/>
                <a:ea typeface="Calibri" pitchFamily="34" charset="-122"/>
                <a:cs typeface="Calibri" pitchFamily="34" charset="-120"/>
              </a:rPr>
              <a:t>1</a:t>
            </a:r>
            <a:endParaRPr lang="en-US" sz="1800" dirty="0"/>
          </a:p>
        </p:txBody>
      </p:sp>
      <p:sp>
        <p:nvSpPr>
          <p:cNvPr id="8" name="Shape 6"/>
          <p:cNvSpPr/>
          <p:nvPr/>
        </p:nvSpPr>
        <p:spPr>
          <a:xfrm>
            <a:off x="1325880" y="1719072"/>
            <a:ext cx="2194560" cy="0"/>
          </a:xfrm>
          <a:prstGeom prst="line">
            <a:avLst/>
          </a:prstGeom>
          <a:noFill/>
          <a:ln w="19050">
            <a:solidFill>
              <a:srgbClr val="4CC9F0"/>
            </a:solidFill>
            <a:prstDash val="solid"/>
          </a:ln>
        </p:spPr>
        <p:txBody>
          <a:bodyPr/>
          <a:lstStyle/>
          <a:p>
            <a:endParaRPr lang="en-US"/>
          </a:p>
        </p:txBody>
      </p:sp>
      <p:sp>
        <p:nvSpPr>
          <p:cNvPr id="9" name="Text 7"/>
          <p:cNvSpPr/>
          <p:nvPr/>
        </p:nvSpPr>
        <p:spPr>
          <a:xfrm>
            <a:off x="1325880" y="1755648"/>
            <a:ext cx="2194560" cy="384048"/>
          </a:xfrm>
          <a:prstGeom prst="rect">
            <a:avLst/>
          </a:prstGeom>
          <a:noFill/>
          <a:ln/>
        </p:spPr>
        <p:txBody>
          <a:bodyPr wrap="square" rtlCol="0" anchor="ctr"/>
          <a:lstStyle/>
          <a:p>
            <a:pPr marL="0" indent="0" algn="ctr">
              <a:buNone/>
            </a:pPr>
            <a:r>
              <a:rPr lang="en-US" sz="1500" dirty="0">
                <a:solidFill>
                  <a:srgbClr val="F4A261"/>
                </a:solidFill>
                <a:latin typeface="Calibri" pitchFamily="34" charset="0"/>
                <a:ea typeface="Calibri" pitchFamily="34" charset="-122"/>
                <a:cs typeface="Calibri" pitchFamily="34" charset="-120"/>
              </a:rPr>
              <a:t>f  +  (1 − f) / P</a:t>
            </a:r>
            <a:endParaRPr lang="en-US" sz="1500" dirty="0"/>
          </a:p>
        </p:txBody>
      </p:sp>
      <p:sp>
        <p:nvSpPr>
          <p:cNvPr id="10" name="Text 8"/>
          <p:cNvSpPr/>
          <p:nvPr/>
        </p:nvSpPr>
        <p:spPr>
          <a:xfrm>
            <a:off x="457200" y="2423160"/>
            <a:ext cx="3840480" cy="228600"/>
          </a:xfrm>
          <a:prstGeom prst="rect">
            <a:avLst/>
          </a:prstGeom>
          <a:noFill/>
          <a:ln/>
        </p:spPr>
        <p:txBody>
          <a:bodyPr wrap="square"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f = serial fraction</a:t>
            </a:r>
            <a:endParaRPr lang="en-US" sz="1000" dirty="0"/>
          </a:p>
        </p:txBody>
      </p:sp>
      <p:graphicFrame>
        <p:nvGraphicFramePr>
          <p:cNvPr id="11" name="Table 0"/>
          <p:cNvGraphicFramePr>
            <a:graphicFrameLocks noGrp="1"/>
          </p:cNvGraphicFramePr>
          <p:nvPr/>
        </p:nvGraphicFramePr>
        <p:xfrm>
          <a:off x="365760" y="2651760"/>
          <a:ext cx="8412480" cy="1901952"/>
        </p:xfrm>
        <a:graphic>
          <a:graphicData uri="http://schemas.openxmlformats.org/drawingml/2006/table">
            <a:tbl>
              <a:tblPr/>
              <a:tblGrid>
                <a:gridCol w="22860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47548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Problem Size</a:t>
                      </a:r>
                      <a:endParaRPr lang="en-US" sz="13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0D1B2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Serial Fraction  f</a:t>
                      </a:r>
                      <a:endParaRPr lang="en-US" sz="13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0D1B2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Theoretical Max  1/f</a:t>
                      </a:r>
                      <a:endParaRPr lang="en-US" sz="13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0D1B2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Actual Max (P=24)</a:t>
                      </a:r>
                      <a:endParaRPr lang="en-US" sz="13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475488">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N = 2,400</a:t>
                      </a:r>
                      <a:endParaRPr lang="en-US" sz="13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300" b="1" dirty="0">
                          <a:solidFill>
                            <a:srgbClr val="EF4444"/>
                          </a:solidFill>
                          <a:latin typeface="Calibri" pitchFamily="34" charset="0"/>
                          <a:ea typeface="Calibri" pitchFamily="34" charset="-122"/>
                          <a:cs typeface="Calibri" pitchFamily="34" charset="-120"/>
                        </a:rPr>
                        <a:t>68%</a:t>
                      </a:r>
                      <a:endParaRPr lang="en-US" sz="13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300" b="1" dirty="0">
                          <a:solidFill>
                            <a:srgbClr val="1A1A2E"/>
                          </a:solidFill>
                          <a:latin typeface="Calibri" pitchFamily="34" charset="0"/>
                          <a:ea typeface="Calibri" pitchFamily="34" charset="-122"/>
                          <a:cs typeface="Calibri" pitchFamily="34" charset="-120"/>
                        </a:rPr>
                        <a:t>≈ 1.5×</a:t>
                      </a:r>
                      <a:endParaRPr lang="en-US" sz="13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300" b="1" dirty="0">
                          <a:solidFill>
                            <a:srgbClr val="EF4444"/>
                          </a:solidFill>
                          <a:latin typeface="Calibri" pitchFamily="34" charset="0"/>
                          <a:ea typeface="Calibri" pitchFamily="34" charset="-122"/>
                          <a:cs typeface="Calibri" pitchFamily="34" charset="-120"/>
                        </a:rPr>
                        <a:t>1.92×</a:t>
                      </a:r>
                      <a:endParaRPr lang="en-US" sz="13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extLst>
                  <a:ext uri="{0D108BD9-81ED-4DB2-BD59-A6C34878D82A}">
                    <a16:rowId xmlns:a16="http://schemas.microsoft.com/office/drawing/2014/main" val="10001"/>
                  </a:ext>
                </a:extLst>
              </a:tr>
              <a:tr h="475488">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N = 4,800</a:t>
                      </a:r>
                      <a:endParaRPr lang="en-US" sz="13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300" b="1" dirty="0">
                          <a:solidFill>
                            <a:srgbClr val="F4A261"/>
                          </a:solidFill>
                          <a:latin typeface="Calibri" pitchFamily="34" charset="0"/>
                          <a:ea typeface="Calibri" pitchFamily="34" charset="-122"/>
                          <a:cs typeface="Calibri" pitchFamily="34" charset="-120"/>
                        </a:rPr>
                        <a:t>28%</a:t>
                      </a:r>
                      <a:endParaRPr lang="en-US" sz="13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300" b="1" dirty="0">
                          <a:solidFill>
                            <a:srgbClr val="1A1A2E"/>
                          </a:solidFill>
                          <a:latin typeface="Calibri" pitchFamily="34" charset="0"/>
                          <a:ea typeface="Calibri" pitchFamily="34" charset="-122"/>
                          <a:cs typeface="Calibri" pitchFamily="34" charset="-120"/>
                        </a:rPr>
                        <a:t>≈ 3.6×</a:t>
                      </a:r>
                      <a:endParaRPr lang="en-US" sz="13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300" b="1" dirty="0">
                          <a:solidFill>
                            <a:srgbClr val="F4A261"/>
                          </a:solidFill>
                          <a:latin typeface="Calibri" pitchFamily="34" charset="0"/>
                          <a:ea typeface="Calibri" pitchFamily="34" charset="-122"/>
                          <a:cs typeface="Calibri" pitchFamily="34" charset="-120"/>
                        </a:rPr>
                        <a:t>4.11×</a:t>
                      </a:r>
                      <a:endParaRPr lang="en-US" sz="13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extLst>
                  <a:ext uri="{0D108BD9-81ED-4DB2-BD59-A6C34878D82A}">
                    <a16:rowId xmlns:a16="http://schemas.microsoft.com/office/drawing/2014/main" val="10002"/>
                  </a:ext>
                </a:extLst>
              </a:tr>
              <a:tr h="475488">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N = 9,600</a:t>
                      </a:r>
                      <a:endParaRPr lang="en-US" sz="13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300" b="1" dirty="0">
                          <a:solidFill>
                            <a:srgbClr val="10B981"/>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300" b="1" dirty="0">
                          <a:solidFill>
                            <a:srgbClr val="1A1A2E"/>
                          </a:solidFill>
                          <a:latin typeface="Calibri" pitchFamily="34" charset="0"/>
                          <a:ea typeface="Calibri" pitchFamily="34" charset="-122"/>
                          <a:cs typeface="Calibri" pitchFamily="34" charset="-120"/>
                        </a:rPr>
                        <a:t>≈ 6.7×</a:t>
                      </a:r>
                      <a:endParaRPr lang="en-US" sz="13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tc>
                  <a:txBody>
                    <a:bodyPr/>
                    <a:lstStyle/>
                    <a:p>
                      <a:pPr marL="0" indent="0" algn="ctr">
                        <a:buNone/>
                      </a:pPr>
                      <a:r>
                        <a:rPr lang="en-US" sz="1300" b="1" dirty="0">
                          <a:solidFill>
                            <a:srgbClr val="10B981"/>
                          </a:solidFill>
                          <a:latin typeface="Calibri" pitchFamily="34" charset="0"/>
                          <a:ea typeface="Calibri" pitchFamily="34" charset="-122"/>
                          <a:cs typeface="Calibri" pitchFamily="34" charset="-120"/>
                        </a:rPr>
                        <a:t>6.57×</a:t>
                      </a:r>
                      <a:endParaRPr lang="en-US" sz="1300" dirty="0">
                        <a:latin typeface="Calibri" charset="0"/>
                        <a:ea typeface="Calibri" charset="0"/>
                        <a:cs typeface="Calibri" charset="0"/>
                      </a:endParaRPr>
                    </a:p>
                  </a:txBody>
                  <a:tcPr anchor="ctr">
                    <a:lnL w="6350" cap="flat" cmpd="sng" algn="ctr">
                      <a:solidFill>
                        <a:srgbClr val="D0DEFF"/>
                      </a:solidFill>
                      <a:prstDash val="solid"/>
                      <a:round/>
                      <a:headEnd type="none" w="med" len="med"/>
                      <a:tailEnd type="none" w="med" len="med"/>
                    </a:lnL>
                    <a:lnR w="6350" cap="flat" cmpd="sng" algn="ctr">
                      <a:solidFill>
                        <a:srgbClr val="D0DEFF"/>
                      </a:solidFill>
                      <a:prstDash val="solid"/>
                      <a:round/>
                      <a:headEnd type="none" w="med" len="med"/>
                      <a:tailEnd type="none" w="med" len="med"/>
                    </a:lnR>
                    <a:lnT w="6350" cap="flat" cmpd="sng" algn="ctr">
                      <a:solidFill>
                        <a:srgbClr val="D0DEFF"/>
                      </a:solidFill>
                      <a:prstDash val="solid"/>
                      <a:round/>
                      <a:headEnd type="none" w="med" len="med"/>
                      <a:tailEnd type="none" w="med" len="med"/>
                    </a:lnT>
                    <a:lnB w="6350" cap="flat" cmpd="sng" algn="ctr">
                      <a:solidFill>
                        <a:srgbClr val="D0DEFF"/>
                      </a:solidFill>
                      <a:prstDash val="solid"/>
                      <a:round/>
                      <a:headEnd type="none" w="med" len="med"/>
                      <a:tailEnd type="none" w="med" len="med"/>
                    </a:lnB>
                    <a:solidFill>
                      <a:srgbClr val="FAFCFF"/>
                    </a:solidFill>
                  </a:tcPr>
                </a:tc>
                <a:extLst>
                  <a:ext uri="{0D108BD9-81ED-4DB2-BD59-A6C34878D82A}">
                    <a16:rowId xmlns:a16="http://schemas.microsoft.com/office/drawing/2014/main" val="10003"/>
                  </a:ext>
                </a:extLst>
              </a:tr>
            </a:tbl>
          </a:graphicData>
        </a:graphic>
      </p:graphicFrame>
      <p:sp>
        <p:nvSpPr>
          <p:cNvPr id="12" name="Shape 9"/>
          <p:cNvSpPr/>
          <p:nvPr/>
        </p:nvSpPr>
        <p:spPr>
          <a:xfrm>
            <a:off x="365760" y="4773168"/>
            <a:ext cx="8412480" cy="347472"/>
          </a:xfrm>
          <a:prstGeom prst="rect">
            <a:avLst/>
          </a:prstGeom>
          <a:solidFill>
            <a:srgbClr val="EEF3FF"/>
          </a:solidFill>
          <a:ln w="12700">
            <a:solidFill>
              <a:srgbClr val="3A86FF"/>
            </a:solidFill>
            <a:prstDash val="solid"/>
          </a:ln>
        </p:spPr>
        <p:txBody>
          <a:bodyPr/>
          <a:lstStyle/>
          <a:p>
            <a:endParaRPr lang="en-US"/>
          </a:p>
        </p:txBody>
      </p:sp>
      <p:sp>
        <p:nvSpPr>
          <p:cNvPr id="13" name="Text 10"/>
          <p:cNvSpPr/>
          <p:nvPr/>
        </p:nvSpPr>
        <p:spPr>
          <a:xfrm>
            <a:off x="457200" y="4782312"/>
            <a:ext cx="8229600" cy="329184"/>
          </a:xfrm>
          <a:prstGeom prst="rect">
            <a:avLst/>
          </a:prstGeom>
          <a:noFill/>
          <a:ln/>
        </p:spPr>
        <p:txBody>
          <a:bodyPr wrap="square" rtlCol="0" anchor="ctr"/>
          <a:lstStyle/>
          <a:p>
            <a:pPr marL="0" indent="0" algn="ctr">
              <a:buNone/>
            </a:pPr>
            <a:r>
              <a:rPr lang="en-US" sz="1100" dirty="0">
                <a:solidFill>
                  <a:srgbClr val="1A1A2E"/>
                </a:solidFill>
                <a:latin typeface="Calibri" pitchFamily="34" charset="0"/>
                <a:ea typeface="Calibri" pitchFamily="34" charset="-122"/>
                <a:cs typeface="Calibri" pitchFamily="34" charset="-120"/>
              </a:rPr>
              <a:t>Key insight: larger N ↓ serial fraction — Allgatherv overhead is fixed cost amortized over more compute work</a:t>
            </a:r>
            <a:endParaRPr lang="en-US" sz="1100" dirty="0"/>
          </a:p>
        </p:txBody>
      </p:sp>
    </p:spTree>
    <p:extLst>
      <p:ext uri="{BB962C8B-B14F-4D97-AF65-F5344CB8AC3E}">
        <p14:creationId xmlns:p14="http://schemas.microsoft.com/office/powerpoint/2010/main" val="3052299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274320" y="365760"/>
            <a:ext cx="45720" cy="45720"/>
          </a:xfrm>
          <a:prstGeom prst="ellipse">
            <a:avLst/>
          </a:prstGeom>
          <a:solidFill>
            <a:srgbClr val="CADCFC"/>
          </a:solidFill>
          <a:ln w="12700">
            <a:solidFill>
              <a:srgbClr val="CADCFC"/>
            </a:solidFill>
            <a:prstDash val="solid"/>
          </a:ln>
        </p:spPr>
        <p:txBody>
          <a:bodyPr/>
          <a:lstStyle/>
          <a:p>
            <a:endParaRPr lang="en-US"/>
          </a:p>
        </p:txBody>
      </p:sp>
      <p:sp>
        <p:nvSpPr>
          <p:cNvPr id="3" name="Shape 1"/>
          <p:cNvSpPr/>
          <p:nvPr/>
        </p:nvSpPr>
        <p:spPr>
          <a:xfrm>
            <a:off x="1097280" y="914400"/>
            <a:ext cx="45720" cy="45720"/>
          </a:xfrm>
          <a:prstGeom prst="ellipse">
            <a:avLst/>
          </a:prstGeom>
          <a:solidFill>
            <a:srgbClr val="CADCFC"/>
          </a:solidFill>
          <a:ln w="12700">
            <a:solidFill>
              <a:srgbClr val="CADCFC"/>
            </a:solidFill>
            <a:prstDash val="solid"/>
          </a:ln>
        </p:spPr>
        <p:txBody>
          <a:bodyPr/>
          <a:lstStyle/>
          <a:p>
            <a:endParaRPr lang="en-US"/>
          </a:p>
        </p:txBody>
      </p:sp>
      <p:sp>
        <p:nvSpPr>
          <p:cNvPr id="4" name="Shape 2"/>
          <p:cNvSpPr/>
          <p:nvPr/>
        </p:nvSpPr>
        <p:spPr>
          <a:xfrm>
            <a:off x="2560320" y="182880"/>
            <a:ext cx="45720" cy="45720"/>
          </a:xfrm>
          <a:prstGeom prst="ellipse">
            <a:avLst/>
          </a:prstGeom>
          <a:solidFill>
            <a:srgbClr val="CADCFC"/>
          </a:solidFill>
          <a:ln w="12700">
            <a:solidFill>
              <a:srgbClr val="CADCFC"/>
            </a:solidFill>
            <a:prstDash val="solid"/>
          </a:ln>
        </p:spPr>
        <p:txBody>
          <a:bodyPr/>
          <a:lstStyle/>
          <a:p>
            <a:endParaRPr lang="en-US"/>
          </a:p>
        </p:txBody>
      </p:sp>
      <p:sp>
        <p:nvSpPr>
          <p:cNvPr id="5" name="Shape 3"/>
          <p:cNvSpPr/>
          <p:nvPr/>
        </p:nvSpPr>
        <p:spPr>
          <a:xfrm>
            <a:off x="4114800" y="731520"/>
            <a:ext cx="45720" cy="45720"/>
          </a:xfrm>
          <a:prstGeom prst="ellipse">
            <a:avLst/>
          </a:prstGeom>
          <a:solidFill>
            <a:srgbClr val="CADCFC"/>
          </a:solidFill>
          <a:ln w="12700">
            <a:solidFill>
              <a:srgbClr val="CADCFC"/>
            </a:solidFill>
            <a:prstDash val="solid"/>
          </a:ln>
        </p:spPr>
        <p:txBody>
          <a:bodyPr/>
          <a:lstStyle/>
          <a:p>
            <a:endParaRPr lang="en-US"/>
          </a:p>
        </p:txBody>
      </p:sp>
      <p:sp>
        <p:nvSpPr>
          <p:cNvPr id="6" name="Shape 4"/>
          <p:cNvSpPr/>
          <p:nvPr/>
        </p:nvSpPr>
        <p:spPr>
          <a:xfrm>
            <a:off x="5669280" y="137160"/>
            <a:ext cx="45720" cy="45720"/>
          </a:xfrm>
          <a:prstGeom prst="ellipse">
            <a:avLst/>
          </a:prstGeom>
          <a:solidFill>
            <a:srgbClr val="CADCFC"/>
          </a:solidFill>
          <a:ln w="12700">
            <a:solidFill>
              <a:srgbClr val="CADCFC"/>
            </a:solidFill>
            <a:prstDash val="solid"/>
          </a:ln>
        </p:spPr>
        <p:txBody>
          <a:bodyPr/>
          <a:lstStyle/>
          <a:p>
            <a:endParaRPr lang="en-US"/>
          </a:p>
        </p:txBody>
      </p:sp>
      <p:sp>
        <p:nvSpPr>
          <p:cNvPr id="7" name="Shape 5"/>
          <p:cNvSpPr/>
          <p:nvPr/>
        </p:nvSpPr>
        <p:spPr>
          <a:xfrm>
            <a:off x="7132320" y="457200"/>
            <a:ext cx="45720" cy="45720"/>
          </a:xfrm>
          <a:prstGeom prst="ellipse">
            <a:avLst/>
          </a:prstGeom>
          <a:solidFill>
            <a:srgbClr val="CADCFC"/>
          </a:solidFill>
          <a:ln w="12700">
            <a:solidFill>
              <a:srgbClr val="CADCFC"/>
            </a:solidFill>
            <a:prstDash val="solid"/>
          </a:ln>
        </p:spPr>
        <p:txBody>
          <a:bodyPr/>
          <a:lstStyle/>
          <a:p>
            <a:endParaRPr lang="en-US"/>
          </a:p>
        </p:txBody>
      </p:sp>
      <p:sp>
        <p:nvSpPr>
          <p:cNvPr id="8" name="Shape 6"/>
          <p:cNvSpPr/>
          <p:nvPr/>
        </p:nvSpPr>
        <p:spPr>
          <a:xfrm>
            <a:off x="8229600" y="1005840"/>
            <a:ext cx="45720" cy="45720"/>
          </a:xfrm>
          <a:prstGeom prst="ellipse">
            <a:avLst/>
          </a:prstGeom>
          <a:solidFill>
            <a:srgbClr val="CADCFC"/>
          </a:solidFill>
          <a:ln w="12700">
            <a:solidFill>
              <a:srgbClr val="CADCFC"/>
            </a:solidFill>
            <a:prstDash val="solid"/>
          </a:ln>
        </p:spPr>
        <p:txBody>
          <a:bodyPr/>
          <a:lstStyle/>
          <a:p>
            <a:endParaRPr lang="en-US"/>
          </a:p>
        </p:txBody>
      </p:sp>
      <p:sp>
        <p:nvSpPr>
          <p:cNvPr id="9" name="Shape 7"/>
          <p:cNvSpPr/>
          <p:nvPr/>
        </p:nvSpPr>
        <p:spPr>
          <a:xfrm>
            <a:off x="731520" y="4389120"/>
            <a:ext cx="45720" cy="45720"/>
          </a:xfrm>
          <a:prstGeom prst="ellipse">
            <a:avLst/>
          </a:prstGeom>
          <a:solidFill>
            <a:srgbClr val="CADCFC"/>
          </a:solidFill>
          <a:ln w="12700">
            <a:solidFill>
              <a:srgbClr val="CADCFC"/>
            </a:solidFill>
            <a:prstDash val="solid"/>
          </a:ln>
        </p:spPr>
        <p:txBody>
          <a:bodyPr/>
          <a:lstStyle/>
          <a:p>
            <a:endParaRPr lang="en-US"/>
          </a:p>
        </p:txBody>
      </p:sp>
      <p:sp>
        <p:nvSpPr>
          <p:cNvPr id="10" name="Shape 8"/>
          <p:cNvSpPr/>
          <p:nvPr/>
        </p:nvSpPr>
        <p:spPr>
          <a:xfrm>
            <a:off x="1828800" y="4572000"/>
            <a:ext cx="45720" cy="45720"/>
          </a:xfrm>
          <a:prstGeom prst="ellipse">
            <a:avLst/>
          </a:prstGeom>
          <a:solidFill>
            <a:srgbClr val="CADCFC"/>
          </a:solidFill>
          <a:ln w="12700">
            <a:solidFill>
              <a:srgbClr val="CADCFC"/>
            </a:solidFill>
            <a:prstDash val="solid"/>
          </a:ln>
        </p:spPr>
        <p:txBody>
          <a:bodyPr/>
          <a:lstStyle/>
          <a:p>
            <a:endParaRPr lang="en-US"/>
          </a:p>
        </p:txBody>
      </p:sp>
      <p:sp>
        <p:nvSpPr>
          <p:cNvPr id="11" name="Shape 9"/>
          <p:cNvSpPr/>
          <p:nvPr/>
        </p:nvSpPr>
        <p:spPr>
          <a:xfrm>
            <a:off x="3657600" y="4206240"/>
            <a:ext cx="45720" cy="45720"/>
          </a:xfrm>
          <a:prstGeom prst="ellipse">
            <a:avLst/>
          </a:prstGeom>
          <a:solidFill>
            <a:srgbClr val="CADCFC"/>
          </a:solidFill>
          <a:ln w="12700">
            <a:solidFill>
              <a:srgbClr val="CADCFC"/>
            </a:solidFill>
            <a:prstDash val="solid"/>
          </a:ln>
        </p:spPr>
        <p:txBody>
          <a:bodyPr/>
          <a:lstStyle/>
          <a:p>
            <a:endParaRPr lang="en-US"/>
          </a:p>
        </p:txBody>
      </p:sp>
      <p:sp>
        <p:nvSpPr>
          <p:cNvPr id="12" name="Shape 10"/>
          <p:cNvSpPr/>
          <p:nvPr/>
        </p:nvSpPr>
        <p:spPr>
          <a:xfrm>
            <a:off x="5029200" y="4754880"/>
            <a:ext cx="45720" cy="45720"/>
          </a:xfrm>
          <a:prstGeom prst="ellipse">
            <a:avLst/>
          </a:prstGeom>
          <a:solidFill>
            <a:srgbClr val="CADCFC"/>
          </a:solidFill>
          <a:ln w="12700">
            <a:solidFill>
              <a:srgbClr val="CADCFC"/>
            </a:solidFill>
            <a:prstDash val="solid"/>
          </a:ln>
        </p:spPr>
        <p:txBody>
          <a:bodyPr/>
          <a:lstStyle/>
          <a:p>
            <a:endParaRPr lang="en-US"/>
          </a:p>
        </p:txBody>
      </p:sp>
      <p:sp>
        <p:nvSpPr>
          <p:cNvPr id="13" name="Shape 11"/>
          <p:cNvSpPr/>
          <p:nvPr/>
        </p:nvSpPr>
        <p:spPr>
          <a:xfrm>
            <a:off x="6583680" y="4480560"/>
            <a:ext cx="45720" cy="45720"/>
          </a:xfrm>
          <a:prstGeom prst="ellipse">
            <a:avLst/>
          </a:prstGeom>
          <a:solidFill>
            <a:srgbClr val="CADCFC"/>
          </a:solidFill>
          <a:ln w="12700">
            <a:solidFill>
              <a:srgbClr val="CADCFC"/>
            </a:solidFill>
            <a:prstDash val="solid"/>
          </a:ln>
        </p:spPr>
        <p:txBody>
          <a:bodyPr/>
          <a:lstStyle/>
          <a:p>
            <a:endParaRPr lang="en-US"/>
          </a:p>
        </p:txBody>
      </p:sp>
      <p:sp>
        <p:nvSpPr>
          <p:cNvPr id="14" name="Shape 12"/>
          <p:cNvSpPr/>
          <p:nvPr/>
        </p:nvSpPr>
        <p:spPr>
          <a:xfrm>
            <a:off x="8412480" y="4937760"/>
            <a:ext cx="45720" cy="45720"/>
          </a:xfrm>
          <a:prstGeom prst="ellipse">
            <a:avLst/>
          </a:prstGeom>
          <a:solidFill>
            <a:srgbClr val="CADCFC"/>
          </a:solidFill>
          <a:ln w="12700">
            <a:solidFill>
              <a:srgbClr val="CADCFC"/>
            </a:solidFill>
            <a:prstDash val="solid"/>
          </a:ln>
        </p:spPr>
        <p:txBody>
          <a:bodyPr/>
          <a:lstStyle/>
          <a:p>
            <a:endParaRPr lang="en-US"/>
          </a:p>
        </p:txBody>
      </p:sp>
      <p:sp>
        <p:nvSpPr>
          <p:cNvPr id="15" name="Shape 13"/>
          <p:cNvSpPr/>
          <p:nvPr/>
        </p:nvSpPr>
        <p:spPr>
          <a:xfrm>
            <a:off x="1371600" y="2560320"/>
            <a:ext cx="45720" cy="45720"/>
          </a:xfrm>
          <a:prstGeom prst="ellipse">
            <a:avLst/>
          </a:prstGeom>
          <a:solidFill>
            <a:srgbClr val="CADCFC"/>
          </a:solidFill>
          <a:ln w="12700">
            <a:solidFill>
              <a:srgbClr val="CADCFC"/>
            </a:solidFill>
            <a:prstDash val="solid"/>
          </a:ln>
        </p:spPr>
        <p:txBody>
          <a:bodyPr/>
          <a:lstStyle/>
          <a:p>
            <a:endParaRPr lang="en-US"/>
          </a:p>
        </p:txBody>
      </p:sp>
      <p:sp>
        <p:nvSpPr>
          <p:cNvPr id="16" name="Shape 14"/>
          <p:cNvSpPr/>
          <p:nvPr/>
        </p:nvSpPr>
        <p:spPr>
          <a:xfrm>
            <a:off x="7772400" y="2011680"/>
            <a:ext cx="45720" cy="45720"/>
          </a:xfrm>
          <a:prstGeom prst="ellipse">
            <a:avLst/>
          </a:prstGeom>
          <a:solidFill>
            <a:srgbClr val="CADCFC"/>
          </a:solidFill>
          <a:ln w="12700">
            <a:solidFill>
              <a:srgbClr val="CADCFC"/>
            </a:solidFill>
            <a:prstDash val="solid"/>
          </a:ln>
        </p:spPr>
        <p:txBody>
          <a:bodyPr/>
          <a:lstStyle/>
          <a:p>
            <a:endParaRPr lang="en-US"/>
          </a:p>
        </p:txBody>
      </p:sp>
      <p:sp>
        <p:nvSpPr>
          <p:cNvPr id="17" name="Shape 15"/>
          <p:cNvSpPr/>
          <p:nvPr/>
        </p:nvSpPr>
        <p:spPr>
          <a:xfrm>
            <a:off x="8595360" y="3200400"/>
            <a:ext cx="45720" cy="45720"/>
          </a:xfrm>
          <a:prstGeom prst="ellipse">
            <a:avLst/>
          </a:prstGeom>
          <a:solidFill>
            <a:srgbClr val="CADCFC"/>
          </a:solidFill>
          <a:ln w="12700">
            <a:solidFill>
              <a:srgbClr val="CADCFC"/>
            </a:solidFill>
            <a:prstDash val="solid"/>
          </a:ln>
        </p:spPr>
        <p:txBody>
          <a:bodyPr/>
          <a:lstStyle/>
          <a:p>
            <a:endParaRPr lang="en-US"/>
          </a:p>
        </p:txBody>
      </p:sp>
      <p:sp>
        <p:nvSpPr>
          <p:cNvPr id="18" name="Shape 16"/>
          <p:cNvSpPr/>
          <p:nvPr/>
        </p:nvSpPr>
        <p:spPr>
          <a:xfrm>
            <a:off x="3200400" y="3474720"/>
            <a:ext cx="45720" cy="45720"/>
          </a:xfrm>
          <a:prstGeom prst="ellipse">
            <a:avLst/>
          </a:prstGeom>
          <a:solidFill>
            <a:srgbClr val="CADCFC"/>
          </a:solidFill>
          <a:ln w="12700">
            <a:solidFill>
              <a:srgbClr val="CADCFC"/>
            </a:solidFill>
            <a:prstDash val="solid"/>
          </a:ln>
        </p:spPr>
        <p:txBody>
          <a:bodyPr/>
          <a:lstStyle/>
          <a:p>
            <a:endParaRPr lang="en-US"/>
          </a:p>
        </p:txBody>
      </p:sp>
      <p:sp>
        <p:nvSpPr>
          <p:cNvPr id="19" name="Text 17"/>
          <p:cNvSpPr/>
          <p:nvPr/>
        </p:nvSpPr>
        <p:spPr>
          <a:xfrm>
            <a:off x="457200" y="365760"/>
            <a:ext cx="82296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Conclusions &amp; Takeaways</a:t>
            </a:r>
            <a:endParaRPr lang="en-US" sz="3000" dirty="0"/>
          </a:p>
        </p:txBody>
      </p:sp>
      <p:sp>
        <p:nvSpPr>
          <p:cNvPr id="20" name="Shape 18"/>
          <p:cNvSpPr/>
          <p:nvPr/>
        </p:nvSpPr>
        <p:spPr>
          <a:xfrm>
            <a:off x="457200" y="960120"/>
            <a:ext cx="2743200" cy="36576"/>
          </a:xfrm>
          <a:prstGeom prst="rect">
            <a:avLst/>
          </a:prstGeom>
          <a:solidFill>
            <a:srgbClr val="F4A261"/>
          </a:solidFill>
          <a:ln w="12700">
            <a:solidFill>
              <a:srgbClr val="F4A261"/>
            </a:solidFill>
            <a:prstDash val="solid"/>
          </a:ln>
        </p:spPr>
        <p:txBody>
          <a:bodyPr/>
          <a:lstStyle/>
          <a:p>
            <a:endParaRPr lang="en-US"/>
          </a:p>
        </p:txBody>
      </p:sp>
      <p:sp>
        <p:nvSpPr>
          <p:cNvPr id="21" name="Shape 19"/>
          <p:cNvSpPr/>
          <p:nvPr/>
        </p:nvSpPr>
        <p:spPr>
          <a:xfrm>
            <a:off x="457200" y="1143000"/>
            <a:ext cx="8229600" cy="804672"/>
          </a:xfrm>
          <a:prstGeom prst="rect">
            <a:avLst/>
          </a:prstGeom>
          <a:solidFill>
            <a:srgbClr val="132035"/>
          </a:solidFill>
          <a:ln w="12700">
            <a:solidFill>
              <a:srgbClr val="2A3F5F"/>
            </a:solidFill>
            <a:prstDash val="solid"/>
          </a:ln>
        </p:spPr>
        <p:txBody>
          <a:bodyPr/>
          <a:lstStyle/>
          <a:p>
            <a:endParaRPr lang="en-US"/>
          </a:p>
        </p:txBody>
      </p:sp>
      <p:sp>
        <p:nvSpPr>
          <p:cNvPr id="22" name="Shape 20"/>
          <p:cNvSpPr/>
          <p:nvPr/>
        </p:nvSpPr>
        <p:spPr>
          <a:xfrm>
            <a:off x="457200" y="1143000"/>
            <a:ext cx="64008" cy="804672"/>
          </a:xfrm>
          <a:prstGeom prst="rect">
            <a:avLst/>
          </a:prstGeom>
          <a:solidFill>
            <a:srgbClr val="3A86FF"/>
          </a:solidFill>
          <a:ln w="12700">
            <a:solidFill>
              <a:srgbClr val="3A86FF"/>
            </a:solidFill>
            <a:prstDash val="solid"/>
          </a:ln>
        </p:spPr>
        <p:txBody>
          <a:bodyPr/>
          <a:lstStyle/>
          <a:p>
            <a:endParaRPr lang="en-US"/>
          </a:p>
        </p:txBody>
      </p:sp>
      <p:sp>
        <p:nvSpPr>
          <p:cNvPr id="23" name="Shape 21"/>
          <p:cNvSpPr/>
          <p:nvPr/>
        </p:nvSpPr>
        <p:spPr>
          <a:xfrm>
            <a:off x="621792" y="1316736"/>
            <a:ext cx="411480" cy="411480"/>
          </a:xfrm>
          <a:prstGeom prst="ellipse">
            <a:avLst/>
          </a:prstGeom>
          <a:solidFill>
            <a:srgbClr val="3A86FF"/>
          </a:solidFill>
          <a:ln w="12700">
            <a:solidFill>
              <a:srgbClr val="3A86FF"/>
            </a:solidFill>
            <a:prstDash val="solid"/>
          </a:ln>
        </p:spPr>
        <p:txBody>
          <a:bodyPr/>
          <a:lstStyle/>
          <a:p>
            <a:endParaRPr lang="en-US"/>
          </a:p>
        </p:txBody>
      </p:sp>
      <p:sp>
        <p:nvSpPr>
          <p:cNvPr id="24" name="Text 22"/>
          <p:cNvSpPr/>
          <p:nvPr/>
        </p:nvSpPr>
        <p:spPr>
          <a:xfrm>
            <a:off x="621792" y="1316736"/>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SS</a:t>
            </a:r>
            <a:endParaRPr lang="en-US" sz="1100" dirty="0"/>
          </a:p>
        </p:txBody>
      </p:sp>
      <p:sp>
        <p:nvSpPr>
          <p:cNvPr id="25" name="Text 23"/>
          <p:cNvSpPr/>
          <p:nvPr/>
        </p:nvSpPr>
        <p:spPr>
          <a:xfrm>
            <a:off x="1143000" y="1207008"/>
            <a:ext cx="2011680" cy="274320"/>
          </a:xfrm>
          <a:prstGeom prst="rect">
            <a:avLst/>
          </a:prstGeom>
          <a:noFill/>
          <a:ln/>
        </p:spPr>
        <p:txBody>
          <a:bodyPr wrap="square" lIns="0" tIns="0" rIns="0" bIns="0" rtlCol="0" anchor="ctr"/>
          <a:lstStyle/>
          <a:p>
            <a:pPr marL="0" indent="0" algn="l">
              <a:buNone/>
            </a:pPr>
            <a:r>
              <a:rPr lang="en-US" sz="1100" b="1" dirty="0">
                <a:solidFill>
                  <a:srgbClr val="4CC9F0"/>
                </a:solidFill>
                <a:latin typeface="Calibri" pitchFamily="34" charset="0"/>
                <a:ea typeface="Calibri" pitchFamily="34" charset="-122"/>
                <a:cs typeface="Calibri" pitchFamily="34" charset="-120"/>
              </a:rPr>
              <a:t>Strong Scaling</a:t>
            </a:r>
            <a:endParaRPr lang="en-US" sz="1100" dirty="0"/>
          </a:p>
        </p:txBody>
      </p:sp>
      <p:sp>
        <p:nvSpPr>
          <p:cNvPr id="26" name="Text 24"/>
          <p:cNvSpPr/>
          <p:nvPr/>
        </p:nvSpPr>
        <p:spPr>
          <a:xfrm>
            <a:off x="1143000" y="1481328"/>
            <a:ext cx="7388352" cy="411480"/>
          </a:xfrm>
          <a:prstGeom prst="rect">
            <a:avLst/>
          </a:prstGeom>
          <a:noFill/>
          <a:ln/>
        </p:spPr>
        <p:txBody>
          <a:bodyPr wrap="square" lIns="0" tIns="0" rIns="0" bIns="0" rtlCol="0" anchor="ctr"/>
          <a:lstStyle/>
          <a:p>
            <a:pPr marL="0" indent="0" algn="l">
              <a:buNone/>
            </a:pPr>
            <a:r>
              <a:rPr lang="en-US" sz="1050" dirty="0">
                <a:solidFill>
                  <a:srgbClr val="CADCFC"/>
                </a:solidFill>
                <a:latin typeface="Calibri" pitchFamily="34" charset="0"/>
                <a:ea typeface="Calibri" pitchFamily="34" charset="-122"/>
                <a:cs typeface="Calibri" pitchFamily="34" charset="-120"/>
              </a:rPr>
              <a:t>Speedup plateaus at P ≈ 12 for all N. Larger problem sizes achieve better peak speedup: 6.57× at N=9,600 vs. only 1.92× at N=2,400.</a:t>
            </a:r>
            <a:endParaRPr lang="en-US" sz="1050" dirty="0"/>
          </a:p>
        </p:txBody>
      </p:sp>
      <p:sp>
        <p:nvSpPr>
          <p:cNvPr id="27" name="Shape 25"/>
          <p:cNvSpPr/>
          <p:nvPr/>
        </p:nvSpPr>
        <p:spPr>
          <a:xfrm>
            <a:off x="457200" y="2048256"/>
            <a:ext cx="8229600" cy="804672"/>
          </a:xfrm>
          <a:prstGeom prst="rect">
            <a:avLst/>
          </a:prstGeom>
          <a:solidFill>
            <a:srgbClr val="132035"/>
          </a:solidFill>
          <a:ln w="12700">
            <a:solidFill>
              <a:srgbClr val="2A3F5F"/>
            </a:solidFill>
            <a:prstDash val="solid"/>
          </a:ln>
        </p:spPr>
        <p:txBody>
          <a:bodyPr/>
          <a:lstStyle/>
          <a:p>
            <a:endParaRPr lang="en-US"/>
          </a:p>
        </p:txBody>
      </p:sp>
      <p:sp>
        <p:nvSpPr>
          <p:cNvPr id="28" name="Shape 26"/>
          <p:cNvSpPr/>
          <p:nvPr/>
        </p:nvSpPr>
        <p:spPr>
          <a:xfrm>
            <a:off x="457200" y="2048256"/>
            <a:ext cx="64008" cy="804672"/>
          </a:xfrm>
          <a:prstGeom prst="rect">
            <a:avLst/>
          </a:prstGeom>
          <a:solidFill>
            <a:srgbClr val="4CC9F0"/>
          </a:solidFill>
          <a:ln w="12700">
            <a:solidFill>
              <a:srgbClr val="4CC9F0"/>
            </a:solidFill>
            <a:prstDash val="solid"/>
          </a:ln>
        </p:spPr>
        <p:txBody>
          <a:bodyPr/>
          <a:lstStyle/>
          <a:p>
            <a:endParaRPr lang="en-US"/>
          </a:p>
        </p:txBody>
      </p:sp>
      <p:sp>
        <p:nvSpPr>
          <p:cNvPr id="29" name="Shape 27"/>
          <p:cNvSpPr/>
          <p:nvPr/>
        </p:nvSpPr>
        <p:spPr>
          <a:xfrm>
            <a:off x="621792" y="2221992"/>
            <a:ext cx="411480" cy="411480"/>
          </a:xfrm>
          <a:prstGeom prst="ellipse">
            <a:avLst/>
          </a:prstGeom>
          <a:solidFill>
            <a:srgbClr val="4CC9F0"/>
          </a:solidFill>
          <a:ln w="12700">
            <a:solidFill>
              <a:srgbClr val="4CC9F0"/>
            </a:solidFill>
            <a:prstDash val="solid"/>
          </a:ln>
        </p:spPr>
        <p:txBody>
          <a:bodyPr/>
          <a:lstStyle/>
          <a:p>
            <a:endParaRPr lang="en-US"/>
          </a:p>
        </p:txBody>
      </p:sp>
      <p:sp>
        <p:nvSpPr>
          <p:cNvPr id="30" name="Text 28"/>
          <p:cNvSpPr/>
          <p:nvPr/>
        </p:nvSpPr>
        <p:spPr>
          <a:xfrm>
            <a:off x="621792" y="222199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WS</a:t>
            </a:r>
            <a:endParaRPr lang="en-US" sz="1100" dirty="0"/>
          </a:p>
        </p:txBody>
      </p:sp>
      <p:sp>
        <p:nvSpPr>
          <p:cNvPr id="31" name="Text 29"/>
          <p:cNvSpPr/>
          <p:nvPr/>
        </p:nvSpPr>
        <p:spPr>
          <a:xfrm>
            <a:off x="1143000" y="2112264"/>
            <a:ext cx="2011680" cy="274320"/>
          </a:xfrm>
          <a:prstGeom prst="rect">
            <a:avLst/>
          </a:prstGeom>
          <a:noFill/>
          <a:ln/>
        </p:spPr>
        <p:txBody>
          <a:bodyPr wrap="square" lIns="0" tIns="0" rIns="0" bIns="0" rtlCol="0" anchor="ctr"/>
          <a:lstStyle/>
          <a:p>
            <a:pPr marL="0" indent="0" algn="l">
              <a:buNone/>
            </a:pPr>
            <a:r>
              <a:rPr lang="en-US" sz="1100" b="1" dirty="0">
                <a:solidFill>
                  <a:srgbClr val="4CC9F0"/>
                </a:solidFill>
                <a:latin typeface="Calibri" pitchFamily="34" charset="0"/>
                <a:ea typeface="Calibri" pitchFamily="34" charset="-122"/>
                <a:cs typeface="Calibri" pitchFamily="34" charset="-120"/>
              </a:rPr>
              <a:t>Weak Scaling</a:t>
            </a:r>
            <a:endParaRPr lang="en-US" sz="1100" dirty="0"/>
          </a:p>
        </p:txBody>
      </p:sp>
      <p:sp>
        <p:nvSpPr>
          <p:cNvPr id="32" name="Text 30"/>
          <p:cNvSpPr/>
          <p:nvPr/>
        </p:nvSpPr>
        <p:spPr>
          <a:xfrm>
            <a:off x="1143000" y="2386584"/>
            <a:ext cx="7388352" cy="411480"/>
          </a:xfrm>
          <a:prstGeom prst="rect">
            <a:avLst/>
          </a:prstGeom>
          <a:noFill/>
          <a:ln/>
        </p:spPr>
        <p:txBody>
          <a:bodyPr wrap="square" lIns="0" tIns="0" rIns="0" bIns="0" rtlCol="0" anchor="ctr"/>
          <a:lstStyle/>
          <a:p>
            <a:pPr marL="0" indent="0" algn="l">
              <a:buNone/>
            </a:pPr>
            <a:r>
              <a:rPr lang="en-US" sz="1050" dirty="0">
                <a:solidFill>
                  <a:srgbClr val="CADCFC"/>
                </a:solidFill>
                <a:latin typeface="Calibri" pitchFamily="34" charset="0"/>
                <a:ea typeface="Calibri" pitchFamily="34" charset="-122"/>
                <a:cs typeface="Calibri" pitchFamily="34" charset="-120"/>
              </a:rPr>
              <a:t>Normalized time grows super-linearly with P due to O(N²) complexity. Three Allgatherv calls per step scale as O(P) communication overhead.</a:t>
            </a:r>
            <a:endParaRPr lang="en-US" sz="1050" dirty="0"/>
          </a:p>
        </p:txBody>
      </p:sp>
      <p:sp>
        <p:nvSpPr>
          <p:cNvPr id="33" name="Shape 31"/>
          <p:cNvSpPr/>
          <p:nvPr/>
        </p:nvSpPr>
        <p:spPr>
          <a:xfrm>
            <a:off x="457200" y="2953512"/>
            <a:ext cx="8229600" cy="804672"/>
          </a:xfrm>
          <a:prstGeom prst="rect">
            <a:avLst/>
          </a:prstGeom>
          <a:solidFill>
            <a:srgbClr val="132035"/>
          </a:solidFill>
          <a:ln w="12700">
            <a:solidFill>
              <a:srgbClr val="2A3F5F"/>
            </a:solidFill>
            <a:prstDash val="solid"/>
          </a:ln>
        </p:spPr>
        <p:txBody>
          <a:bodyPr/>
          <a:lstStyle/>
          <a:p>
            <a:endParaRPr lang="en-US"/>
          </a:p>
        </p:txBody>
      </p:sp>
      <p:sp>
        <p:nvSpPr>
          <p:cNvPr id="34" name="Shape 32"/>
          <p:cNvSpPr/>
          <p:nvPr/>
        </p:nvSpPr>
        <p:spPr>
          <a:xfrm>
            <a:off x="457200" y="2953512"/>
            <a:ext cx="64008" cy="804672"/>
          </a:xfrm>
          <a:prstGeom prst="rect">
            <a:avLst/>
          </a:prstGeom>
          <a:solidFill>
            <a:srgbClr val="10B981"/>
          </a:solidFill>
          <a:ln w="12700">
            <a:solidFill>
              <a:srgbClr val="10B981"/>
            </a:solidFill>
            <a:prstDash val="solid"/>
          </a:ln>
        </p:spPr>
        <p:txBody>
          <a:bodyPr/>
          <a:lstStyle/>
          <a:p>
            <a:endParaRPr lang="en-US"/>
          </a:p>
        </p:txBody>
      </p:sp>
      <p:sp>
        <p:nvSpPr>
          <p:cNvPr id="35" name="Shape 33"/>
          <p:cNvSpPr/>
          <p:nvPr/>
        </p:nvSpPr>
        <p:spPr>
          <a:xfrm>
            <a:off x="621792" y="3127248"/>
            <a:ext cx="411480" cy="411480"/>
          </a:xfrm>
          <a:prstGeom prst="ellipse">
            <a:avLst/>
          </a:prstGeom>
          <a:solidFill>
            <a:srgbClr val="10B981"/>
          </a:solidFill>
          <a:ln w="12700">
            <a:solidFill>
              <a:srgbClr val="10B981"/>
            </a:solidFill>
            <a:prstDash val="solid"/>
          </a:ln>
        </p:spPr>
        <p:txBody>
          <a:bodyPr/>
          <a:lstStyle/>
          <a:p>
            <a:endParaRPr lang="en-US"/>
          </a:p>
        </p:txBody>
      </p:sp>
      <p:sp>
        <p:nvSpPr>
          <p:cNvPr id="36" name="Text 34"/>
          <p:cNvSpPr/>
          <p:nvPr/>
        </p:nvSpPr>
        <p:spPr>
          <a:xfrm>
            <a:off x="621792" y="3127248"/>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a:t>
            </a:r>
            <a:endParaRPr lang="en-US" sz="1100" dirty="0"/>
          </a:p>
        </p:txBody>
      </p:sp>
      <p:sp>
        <p:nvSpPr>
          <p:cNvPr id="37" name="Text 35"/>
          <p:cNvSpPr/>
          <p:nvPr/>
        </p:nvSpPr>
        <p:spPr>
          <a:xfrm>
            <a:off x="1143000" y="3017520"/>
            <a:ext cx="2011680" cy="274320"/>
          </a:xfrm>
          <a:prstGeom prst="rect">
            <a:avLst/>
          </a:prstGeom>
          <a:noFill/>
          <a:ln/>
        </p:spPr>
        <p:txBody>
          <a:bodyPr wrap="square" lIns="0" tIns="0" rIns="0" bIns="0" rtlCol="0" anchor="ctr"/>
          <a:lstStyle/>
          <a:p>
            <a:pPr marL="0" indent="0" algn="l">
              <a:buNone/>
            </a:pPr>
            <a:r>
              <a:rPr lang="en-US" sz="1100" b="1" dirty="0">
                <a:solidFill>
                  <a:srgbClr val="4CC9F0"/>
                </a:solidFill>
                <a:latin typeface="Calibri" pitchFamily="34" charset="0"/>
                <a:ea typeface="Calibri" pitchFamily="34" charset="-122"/>
                <a:cs typeface="Calibri" pitchFamily="34" charset="-120"/>
              </a:rPr>
              <a:t>Amdahl's Law</a:t>
            </a:r>
            <a:endParaRPr lang="en-US" sz="1100" dirty="0"/>
          </a:p>
        </p:txBody>
      </p:sp>
      <p:sp>
        <p:nvSpPr>
          <p:cNvPr id="38" name="Text 36"/>
          <p:cNvSpPr/>
          <p:nvPr/>
        </p:nvSpPr>
        <p:spPr>
          <a:xfrm>
            <a:off x="1143000" y="3291840"/>
            <a:ext cx="7388352" cy="411480"/>
          </a:xfrm>
          <a:prstGeom prst="rect">
            <a:avLst/>
          </a:prstGeom>
          <a:noFill/>
          <a:ln/>
        </p:spPr>
        <p:txBody>
          <a:bodyPr wrap="square" lIns="0" tIns="0" rIns="0" bIns="0" rtlCol="0" anchor="ctr"/>
          <a:lstStyle/>
          <a:p>
            <a:pPr marL="0" indent="0" algn="l">
              <a:buNone/>
            </a:pPr>
            <a:r>
              <a:rPr lang="en-US" sz="1050" dirty="0">
                <a:solidFill>
                  <a:srgbClr val="CADCFC"/>
                </a:solidFill>
                <a:latin typeface="Calibri" pitchFamily="34" charset="0"/>
                <a:ea typeface="Calibri" pitchFamily="34" charset="-122"/>
                <a:cs typeface="Calibri" pitchFamily="34" charset="-120"/>
              </a:rPr>
              <a:t>Serial fraction drops from 68% to 15% as N quadruples — the 3×Allgatherv fixed cost is amortized over more O(N²) compute.</a:t>
            </a:r>
            <a:endParaRPr lang="en-US" sz="1050" dirty="0"/>
          </a:p>
        </p:txBody>
      </p:sp>
      <p:sp>
        <p:nvSpPr>
          <p:cNvPr id="39" name="Shape 37"/>
          <p:cNvSpPr/>
          <p:nvPr/>
        </p:nvSpPr>
        <p:spPr>
          <a:xfrm>
            <a:off x="457200" y="3858768"/>
            <a:ext cx="8229600" cy="804672"/>
          </a:xfrm>
          <a:prstGeom prst="rect">
            <a:avLst/>
          </a:prstGeom>
          <a:solidFill>
            <a:srgbClr val="132035"/>
          </a:solidFill>
          <a:ln w="12700">
            <a:solidFill>
              <a:srgbClr val="2A3F5F"/>
            </a:solidFill>
            <a:prstDash val="solid"/>
          </a:ln>
        </p:spPr>
        <p:txBody>
          <a:bodyPr/>
          <a:lstStyle/>
          <a:p>
            <a:endParaRPr lang="en-US"/>
          </a:p>
        </p:txBody>
      </p:sp>
      <p:sp>
        <p:nvSpPr>
          <p:cNvPr id="40" name="Shape 38"/>
          <p:cNvSpPr/>
          <p:nvPr/>
        </p:nvSpPr>
        <p:spPr>
          <a:xfrm>
            <a:off x="457200" y="3858768"/>
            <a:ext cx="64008" cy="804672"/>
          </a:xfrm>
          <a:prstGeom prst="rect">
            <a:avLst/>
          </a:prstGeom>
          <a:solidFill>
            <a:srgbClr val="EF4444"/>
          </a:solidFill>
          <a:ln w="12700">
            <a:solidFill>
              <a:srgbClr val="EF4444"/>
            </a:solidFill>
            <a:prstDash val="solid"/>
          </a:ln>
        </p:spPr>
        <p:txBody>
          <a:bodyPr/>
          <a:lstStyle/>
          <a:p>
            <a:endParaRPr lang="en-US"/>
          </a:p>
        </p:txBody>
      </p:sp>
      <p:sp>
        <p:nvSpPr>
          <p:cNvPr id="41" name="Shape 39"/>
          <p:cNvSpPr/>
          <p:nvPr/>
        </p:nvSpPr>
        <p:spPr>
          <a:xfrm>
            <a:off x="621792" y="4032504"/>
            <a:ext cx="411480" cy="411480"/>
          </a:xfrm>
          <a:prstGeom prst="ellipse">
            <a:avLst/>
          </a:prstGeom>
          <a:solidFill>
            <a:srgbClr val="EF4444"/>
          </a:solidFill>
          <a:ln w="12700">
            <a:solidFill>
              <a:srgbClr val="EF4444"/>
            </a:solidFill>
            <a:prstDash val="solid"/>
          </a:ln>
        </p:spPr>
        <p:txBody>
          <a:bodyPr/>
          <a:lstStyle/>
          <a:p>
            <a:endParaRPr lang="en-US"/>
          </a:p>
        </p:txBody>
      </p:sp>
      <p:sp>
        <p:nvSpPr>
          <p:cNvPr id="42" name="Text 40"/>
          <p:cNvSpPr/>
          <p:nvPr/>
        </p:nvSpPr>
        <p:spPr>
          <a:xfrm>
            <a:off x="621792" y="4032504"/>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3" name="Text 41"/>
          <p:cNvSpPr/>
          <p:nvPr/>
        </p:nvSpPr>
        <p:spPr>
          <a:xfrm>
            <a:off x="1143000" y="3922776"/>
            <a:ext cx="2011680" cy="274320"/>
          </a:xfrm>
          <a:prstGeom prst="rect">
            <a:avLst/>
          </a:prstGeom>
          <a:noFill/>
          <a:ln/>
        </p:spPr>
        <p:txBody>
          <a:bodyPr wrap="square" lIns="0" tIns="0" rIns="0" bIns="0" rtlCol="0" anchor="ctr"/>
          <a:lstStyle/>
          <a:p>
            <a:pPr marL="0" indent="0" algn="l">
              <a:buNone/>
            </a:pPr>
            <a:r>
              <a:rPr lang="en-US" sz="1100" b="1" dirty="0">
                <a:solidFill>
                  <a:srgbClr val="4CC9F0"/>
                </a:solidFill>
                <a:latin typeface="Calibri" pitchFamily="34" charset="0"/>
                <a:ea typeface="Calibri" pitchFamily="34" charset="-122"/>
                <a:cs typeface="Calibri" pitchFamily="34" charset="-120"/>
              </a:rPr>
              <a:t>P=16 Anomaly</a:t>
            </a:r>
            <a:endParaRPr lang="en-US" sz="1100" dirty="0"/>
          </a:p>
        </p:txBody>
      </p:sp>
      <p:sp>
        <p:nvSpPr>
          <p:cNvPr id="44" name="Text 42"/>
          <p:cNvSpPr/>
          <p:nvPr/>
        </p:nvSpPr>
        <p:spPr>
          <a:xfrm>
            <a:off x="1143000" y="4197096"/>
            <a:ext cx="7388352" cy="411480"/>
          </a:xfrm>
          <a:prstGeom prst="rect">
            <a:avLst/>
          </a:prstGeom>
          <a:noFill/>
          <a:ln/>
        </p:spPr>
        <p:txBody>
          <a:bodyPr wrap="square" lIns="0" tIns="0" rIns="0" bIns="0" rtlCol="0" anchor="ctr"/>
          <a:lstStyle/>
          <a:p>
            <a:pPr marL="0" indent="0" algn="l">
              <a:buNone/>
            </a:pPr>
            <a:r>
              <a:rPr lang="en-US" sz="1050" dirty="0">
                <a:solidFill>
                  <a:srgbClr val="CADCFC"/>
                </a:solidFill>
                <a:latin typeface="Calibri" pitchFamily="34" charset="0"/>
                <a:ea typeface="Calibri" pitchFamily="34" charset="-122"/>
                <a:cs typeface="Calibri" pitchFamily="34" charset="-120"/>
              </a:rPr>
              <a:t>Sharp 2× spike in weak scaling at P=16 — attributed to inter-node TCP buffer saturation when ranks span all three nodes.</a:t>
            </a:r>
            <a:endParaRPr lang="en-US" sz="1050" dirty="0"/>
          </a:p>
        </p:txBody>
      </p:sp>
      <p:sp>
        <p:nvSpPr>
          <p:cNvPr id="45" name="Text 43"/>
          <p:cNvSpPr/>
          <p:nvPr/>
        </p:nvSpPr>
        <p:spPr>
          <a:xfrm>
            <a:off x="457200" y="4800600"/>
            <a:ext cx="8229600" cy="274320"/>
          </a:xfrm>
          <a:prstGeom prst="rect">
            <a:avLst/>
          </a:prstGeom>
          <a:noFill/>
          <a:ln/>
        </p:spPr>
        <p:txBody>
          <a:bodyPr wrap="square" rtlCol="0" anchor="ctr"/>
          <a:lstStyle/>
          <a:p>
            <a:pPr marL="0" indent="0" algn="ctr">
              <a:buNone/>
            </a:pPr>
            <a:r>
              <a:rPr lang="en-US" sz="1000" i="1" dirty="0">
                <a:solidFill>
                  <a:srgbClr val="F4A261"/>
                </a:solidFill>
                <a:latin typeface="Calibri" pitchFamily="34" charset="0"/>
                <a:ea typeface="Calibri" pitchFamily="34" charset="-122"/>
                <a:cs typeface="Calibri" pitchFamily="34" charset="-120"/>
              </a:rPr>
              <a:t>Future: replace 3×Allgatherv with ring-pass ghost exchange → O(N/P) comm instead of O(N)</a:t>
            </a:r>
            <a:endParaRPr lang="en-US" sz="1000" dirty="0"/>
          </a:p>
        </p:txBody>
      </p:sp>
    </p:spTree>
    <p:extLst>
      <p:ext uri="{BB962C8B-B14F-4D97-AF65-F5344CB8AC3E}">
        <p14:creationId xmlns:p14="http://schemas.microsoft.com/office/powerpoint/2010/main" val="39990031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E72270C-F3FA-4923-A715-07534E024B6E}">
  <we:reference id="wa200010001" version="1.0.0.1" store="en-US" storeType="OMEX"/>
  <we:alternateReferences>
    <we:reference id="wa200010001" version="1.0.0.1" store="wa200010001" storeType="OMEX"/>
  </we:alternateReferences>
  <we:properties>
    <we:property name="claude.fileId" value="&quot;c777e94b-88d0-433c-92d8-35c608fae87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41</TotalTime>
  <Words>2740</Words>
  <Application>Microsoft Office PowerPoint</Application>
  <PresentationFormat>On-screen Show (16:9)</PresentationFormat>
  <Paragraphs>230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N-body Gravitational Simulation</dc:title>
  <dc:subject>PptxGenJS Presentation</dc:subject>
  <dc:creator>Sean Balbale</dc:creator>
  <cp:lastModifiedBy>Sean Balbale</cp:lastModifiedBy>
  <cp:revision>5</cp:revision>
  <dcterms:created xsi:type="dcterms:W3CDTF">2026-05-04T14:53:34Z</dcterms:created>
  <dcterms:modified xsi:type="dcterms:W3CDTF">2026-05-07T14:11:31Z</dcterms:modified>
</cp:coreProperties>
</file>