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N=2,400</c:v>
                </c:pt>
              </c:strCache>
            </c:strRef>
          </c:tx>
          <c:spPr>
            <a:solidFill>
              <a:srgbClr val="06B6D4"/>
            </a:solidFill>
            <a:ln w="2540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6</c:v>
                  </c:pt>
                  <c:pt idx="5">
                    <c:v>8</c:v>
                  </c:pt>
                  <c:pt idx="6">
                    <c:v>10</c:v>
                  </c:pt>
                  <c:pt idx="7">
                    <c:v>12</c:v>
                  </c:pt>
                  <c:pt idx="8">
                    <c:v>16</c:v>
                  </c:pt>
                  <c:pt idx="9">
                    <c:v>20</c:v>
                  </c:pt>
                  <c:pt idx="10">
                    <c:v>24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1.52</c:v>
                </c:pt>
                <c:pt idx="2">
                  <c:v>1.622</c:v>
                </c:pt>
                <c:pt idx="3">
                  <c:v>1.895</c:v>
                </c:pt>
                <c:pt idx="4">
                  <c:v>1.803</c:v>
                </c:pt>
                <c:pt idx="5">
                  <c:v>1.918</c:v>
                </c:pt>
                <c:pt idx="6">
                  <c:v>1.719</c:v>
                </c:pt>
                <c:pt idx="7">
                  <c:v>1.71</c:v>
                </c:pt>
                <c:pt idx="8">
                  <c:v>1.554</c:v>
                </c:pt>
                <c:pt idx="9">
                  <c:v>1.396</c:v>
                </c:pt>
                <c:pt idx="10">
                  <c:v>1.415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N=4,800</c:v>
                </c:pt>
              </c:strCache>
            </c:strRef>
          </c:tx>
          <c:spPr>
            <a:solidFill>
              <a:srgbClr val="8B5CF6"/>
            </a:solidFill>
            <a:ln w="25400" cap="flat">
              <a:solidFill>
                <a:srgbClr val="8B5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6</c:v>
                  </c:pt>
                  <c:pt idx="5">
                    <c:v>8</c:v>
                  </c:pt>
                  <c:pt idx="6">
                    <c:v>10</c:v>
                  </c:pt>
                  <c:pt idx="7">
                    <c:v>12</c:v>
                  </c:pt>
                  <c:pt idx="8">
                    <c:v>16</c:v>
                  </c:pt>
                  <c:pt idx="9">
                    <c:v>20</c:v>
                  </c:pt>
                  <c:pt idx="10">
                    <c:v>24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</c:v>
                </c:pt>
                <c:pt idx="1">
                  <c:v>1.831</c:v>
                </c:pt>
                <c:pt idx="2">
                  <c:v>2.373</c:v>
                </c:pt>
                <c:pt idx="3">
                  <c:v>2.884</c:v>
                </c:pt>
                <c:pt idx="4">
                  <c:v>3.488</c:v>
                </c:pt>
                <c:pt idx="5">
                  <c:v>3.838</c:v>
                </c:pt>
                <c:pt idx="6">
                  <c:v>3.844</c:v>
                </c:pt>
                <c:pt idx="7">
                  <c:v>4.108</c:v>
                </c:pt>
                <c:pt idx="8">
                  <c:v>3.546</c:v>
                </c:pt>
                <c:pt idx="9">
                  <c:v>3.454</c:v>
                </c:pt>
                <c:pt idx="10">
                  <c:v>3.216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N=9,600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6</c:v>
                  </c:pt>
                  <c:pt idx="5">
                    <c:v>8</c:v>
                  </c:pt>
                  <c:pt idx="6">
                    <c:v>10</c:v>
                  </c:pt>
                  <c:pt idx="7">
                    <c:v>12</c:v>
                  </c:pt>
                  <c:pt idx="8">
                    <c:v>16</c:v>
                  </c:pt>
                  <c:pt idx="9">
                    <c:v>20</c:v>
                  </c:pt>
                  <c:pt idx="10">
                    <c:v>24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</c:v>
                </c:pt>
                <c:pt idx="1">
                  <c:v>1.937</c:v>
                </c:pt>
                <c:pt idx="2">
                  <c:v>2.78</c:v>
                </c:pt>
                <c:pt idx="3">
                  <c:v>3.515</c:v>
                </c:pt>
                <c:pt idx="4">
                  <c:v>4.76</c:v>
                </c:pt>
                <c:pt idx="5">
                  <c:v>5.528</c:v>
                </c:pt>
                <c:pt idx="6">
                  <c:v>6.142</c:v>
                </c:pt>
                <c:pt idx="7">
                  <c:v>6.474</c:v>
                </c:pt>
                <c:pt idx="8">
                  <c:v>6.261</c:v>
                </c:pt>
                <c:pt idx="9">
                  <c:v>6.541</c:v>
                </c:pt>
                <c:pt idx="10">
                  <c:v>5.489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94A3B8"/>
                    </a:solidFill>
                    <a:latin typeface="Arial"/>
                  </a:rPr>
                  <a:t>MPI Processes (P)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l"/>
        <c:majorGridlines>
          <c:spPr>
            <a:ln w="12700" cap="flat">
              <a:solidFill>
                <a:srgbClr val="1E293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94A3B8"/>
                    </a:solidFill>
                    <a:latin typeface="Arial"/>
                  </a:rPr>
                  <a:t>Speedup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93B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Measured T(P)/T(1)</c:v>
                </c:pt>
              </c:strCache>
            </c:strRef>
          </c:tx>
          <c:spPr>
            <a:solidFill>
              <a:srgbClr val="8B5CF6"/>
            </a:solidFill>
            <a:ln w="25400" cap="flat">
              <a:solidFill>
                <a:srgbClr val="8B5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14</c:v>
                  </c:pt>
                  <c:pt idx="13">
                    <c:v>16</c:v>
                  </c:pt>
                  <c:pt idx="14">
                    <c:v>18</c:v>
                  </c:pt>
                  <c:pt idx="15">
                    <c:v>20</c:v>
                  </c:pt>
                  <c:pt idx="16">
                    <c:v>22</c:v>
                  </c:pt>
                  <c:pt idx="17">
                    <c:v>24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</c:v>
                </c:pt>
                <c:pt idx="1">
                  <c:v>2.869</c:v>
                </c:pt>
                <c:pt idx="2">
                  <c:v>4.599</c:v>
                </c:pt>
                <c:pt idx="3">
                  <c:v>5.982</c:v>
                </c:pt>
                <c:pt idx="4">
                  <c:v>7.515</c:v>
                </c:pt>
                <c:pt idx="5">
                  <c:v>8.868</c:v>
                </c:pt>
                <c:pt idx="6">
                  <c:v>10.575</c:v>
                </c:pt>
                <c:pt idx="7">
                  <c:v>12.154</c:v>
                </c:pt>
                <c:pt idx="8">
                  <c:v>13.652</c:v>
                </c:pt>
                <c:pt idx="9">
                  <c:v>15.501</c:v>
                </c:pt>
                <c:pt idx="10">
                  <c:v>14.005</c:v>
                </c:pt>
                <c:pt idx="11">
                  <c:v>15.018</c:v>
                </c:pt>
                <c:pt idx="12">
                  <c:v>17.207</c:v>
                </c:pt>
                <c:pt idx="13">
                  <c:v>30.918</c:v>
                </c:pt>
                <c:pt idx="14">
                  <c:v>21.673</c:v>
                </c:pt>
                <c:pt idx="15">
                  <c:v>24.904</c:v>
                </c:pt>
                <c:pt idx="16">
                  <c:v>29.537</c:v>
                </c:pt>
                <c:pt idx="17">
                  <c:v>32.604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O(P) growth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14</c:v>
                  </c:pt>
                  <c:pt idx="13">
                    <c:v>16</c:v>
                  </c:pt>
                  <c:pt idx="14">
                    <c:v>18</c:v>
                  </c:pt>
                  <c:pt idx="15">
                    <c:v>20</c:v>
                  </c:pt>
                  <c:pt idx="16">
                    <c:v>22</c:v>
                  </c:pt>
                  <c:pt idx="17">
                    <c:v>24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14</c:v>
                </c:pt>
                <c:pt idx="13">
                  <c:v>16</c:v>
                </c:pt>
                <c:pt idx="14">
                  <c:v>18</c:v>
                </c:pt>
                <c:pt idx="15">
                  <c:v>20</c:v>
                </c:pt>
                <c:pt idx="16">
                  <c:v>22</c:v>
                </c:pt>
                <c:pt idx="17">
                  <c:v>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94A3B8"/>
                    </a:solidFill>
                    <a:latin typeface="Arial"/>
                  </a:rPr>
                  <a:t>MPI Processes (P)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E293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94A3B8"/>
                    </a:solidFill>
                    <a:latin typeface="Arial"/>
                  </a:rPr>
                  <a:t>Normalized Wall Time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93B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Wall Time (s) — N=9,600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16</c:v>
                  </c:pt>
                  <c:pt idx="8">
                    <c:v>20</c:v>
                  </c:pt>
                  <c:pt idx="9">
                    <c:v>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1.0067</c:v>
                </c:pt>
                <c:pt idx="1">
                  <c:v>0.5197</c:v>
                </c:pt>
                <c:pt idx="2">
                  <c:v>0.2864</c:v>
                </c:pt>
                <c:pt idx="3">
                  <c:v>0.2115</c:v>
                </c:pt>
                <c:pt idx="4">
                  <c:v>0.1821</c:v>
                </c:pt>
                <c:pt idx="5">
                  <c:v>0.1639</c:v>
                </c:pt>
                <c:pt idx="6">
                  <c:v>0.1555</c:v>
                </c:pt>
                <c:pt idx="7">
                  <c:v>0.1608</c:v>
                </c:pt>
                <c:pt idx="8">
                  <c:v>0.1539</c:v>
                </c:pt>
                <c:pt idx="9">
                  <c:v>0.1834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94A3B8"/>
                    </a:solidFill>
                    <a:latin typeface="Arial"/>
                  </a:rPr>
                  <a:t>MPI Processes (P)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E293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94A3B8"/>
                    </a:solidFill>
                    <a:latin typeface="Arial"/>
                  </a:rPr>
                  <a:t>Wall Time (s)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93B"/>
        </a:solidFill>
        <a:ln>
          <a:noFill/>
        </a:ln>
        <a:effectLst/>
      </c:spPr>
    </c:plotArea>
    <c:plotVisOnly val="1"/>
    <c:dispBlanksAs val="span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228600"/>
            <a:ext cx="2926080" cy="292608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731520"/>
            <a:ext cx="1645920" cy="164592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9144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" y="2468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6B6D4"/>
                </a:solidFill>
              </a:rPr>
              <a:t>N-BODY SIMULATION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3716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O(N²)</a:t>
            </a:r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  ·  MPI  ·  Leapfrog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37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3 Nodes  ·  24 Cores  ·  Three Idiots Cluster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663440" y="777240"/>
            <a:ext cx="4297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Parallel N-body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Gravitational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Simulation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4663440" y="3291840"/>
            <a:ext cx="3474720" cy="2743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9"/>
          <p:cNvSpPr/>
          <p:nvPr/>
        </p:nvSpPr>
        <p:spPr>
          <a:xfrm>
            <a:off x="4663440" y="3429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Sean Balbale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663440" y="37947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</a:rPr>
              <a:t>CPSC 375: High-Performance Computing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</a:rPr>
              <a:t>Professor Peter Yoon  ·  April 26, 2026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63440" y="4434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Trinity College  ·  ECE + CS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6B6D4"/>
                </a:solidFill>
              </a:rPr>
              <a:t>PROBLEM DESCRIPTION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N-body Gravitational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2834640" cy="3337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371600"/>
            <a:ext cx="2834640" cy="64008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5727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Physics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2468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BD5E1"/>
                </a:solidFill>
              </a:rPr>
              <a:t>Each of N particles attracts all others via softened gravity. Integration uses leapfrog (Störmer-Verlet): half-kick → drift → forces → half-kick.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834640" cy="3337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834640" cy="64008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5544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23360" y="15727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Complexity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474720" y="2148840"/>
            <a:ext cx="2468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BD5E1"/>
                </a:solidFill>
              </a:rPr>
              <a:t>O(N²) all-pairs force computation. Every rank owns N/P particles; forces require reading all N positions — communication-heavy by nature.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9360" y="1371600"/>
            <a:ext cx="2834640" cy="3337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52400" dist="508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1371600"/>
            <a:ext cx="2834640" cy="64008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544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40880" y="15727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Challenge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92240" y="2148840"/>
            <a:ext cx="2468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BD5E1"/>
                </a:solidFill>
              </a:rPr>
              <a:t>Quadratic work dominates, but MPI_Allgatherv synchronizes global positions every timestep. Communication cost grows with both N and P.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5"/>
          <p:cNvSpPr/>
          <p:nvPr/>
        </p:nvSpPr>
        <p:spPr>
          <a:xfrm>
            <a:off x="45720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F_ij = G · m_j · (r_j − r_i) / (|r_j − r_i|² + ε²)^(3/2)   |   ε = 0.05  ·  G = 1  ·  dt = 0.01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6B6D4"/>
                </a:solidFill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Symmetric MPI Decomposition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280160"/>
            <a:ext cx="54864" cy="5029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353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 Broadcast Positions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011680" y="1783080"/>
            <a:ext cx="36576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Shape 6"/>
          <p:cNvSpPr/>
          <p:nvPr/>
        </p:nvSpPr>
        <p:spPr>
          <a:xfrm>
            <a:off x="274320" y="1892808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1892808"/>
            <a:ext cx="54864" cy="5029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3852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 Compute Forces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011680" y="2395728"/>
            <a:ext cx="36576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4320" y="2505456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Shape 11"/>
          <p:cNvSpPr/>
          <p:nvPr/>
        </p:nvSpPr>
        <p:spPr>
          <a:xfrm>
            <a:off x="274320" y="2505456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51176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5786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 Half-Kick Velocities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2011680" y="3008376"/>
            <a:ext cx="36576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9" name="Shape 14"/>
          <p:cNvSpPr/>
          <p:nvPr/>
        </p:nvSpPr>
        <p:spPr>
          <a:xfrm>
            <a:off x="274320" y="3118104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0" name="Shape 15"/>
          <p:cNvSpPr/>
          <p:nvPr/>
        </p:nvSpPr>
        <p:spPr>
          <a:xfrm>
            <a:off x="274320" y="3118104"/>
            <a:ext cx="54864" cy="5029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163824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31912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 Drift Positions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2011680" y="3621024"/>
            <a:ext cx="36576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4" name="Shape 18"/>
          <p:cNvSpPr/>
          <p:nvPr/>
        </p:nvSpPr>
        <p:spPr>
          <a:xfrm>
            <a:off x="274320" y="3730752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Shape 19"/>
          <p:cNvSpPr/>
          <p:nvPr/>
        </p:nvSpPr>
        <p:spPr>
          <a:xfrm>
            <a:off x="274320" y="3730752"/>
            <a:ext cx="54864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77647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14400" y="38039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5.  Allgatherv Sync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2011680" y="4233672"/>
            <a:ext cx="36576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9" name="Shape 22"/>
          <p:cNvSpPr/>
          <p:nvPr/>
        </p:nvSpPr>
        <p:spPr>
          <a:xfrm>
            <a:off x="274320" y="4343400"/>
            <a:ext cx="393192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0" name="Shape 23"/>
          <p:cNvSpPr/>
          <p:nvPr/>
        </p:nvSpPr>
        <p:spPr>
          <a:xfrm>
            <a:off x="274320" y="4343400"/>
            <a:ext cx="54864" cy="5029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389120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14400" y="44165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 Second Half-Kick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0" y="1280160"/>
            <a:ext cx="210312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572000" y="1280160"/>
            <a:ext cx="21031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27"/>
          <p:cNvSpPr/>
          <p:nvPr/>
        </p:nvSpPr>
        <p:spPr>
          <a:xfrm>
            <a:off x="4572000" y="14173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B6D4"/>
                </a:solidFill>
              </a:rPr>
              <a:t>1 – 24</a:t>
            </a:r>
            <a:endParaRPr lang="en-US" sz="3000" dirty="0"/>
          </a:p>
        </p:txBody>
      </p:sp>
      <p:sp>
        <p:nvSpPr>
          <p:cNvPr id="36" name="Text 28"/>
          <p:cNvSpPr/>
          <p:nvPr/>
        </p:nvSpPr>
        <p:spPr>
          <a:xfrm>
            <a:off x="457200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MPI Ranks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572000" y="221284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Three Idiots Cluster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6812280" y="1280160"/>
            <a:ext cx="210312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6812280" y="1280160"/>
            <a:ext cx="210312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0" name="Text 32"/>
          <p:cNvSpPr/>
          <p:nvPr/>
        </p:nvSpPr>
        <p:spPr>
          <a:xfrm>
            <a:off x="6812280" y="14173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</a:rPr>
              <a:t>2.4K–9.6K</a:t>
            </a:r>
            <a:endParaRPr lang="en-US" sz="3000" dirty="0"/>
          </a:p>
        </p:txBody>
      </p:sp>
      <p:sp>
        <p:nvSpPr>
          <p:cNvPr id="41" name="Text 33"/>
          <p:cNvSpPr/>
          <p:nvPr/>
        </p:nvSpPr>
        <p:spPr>
          <a:xfrm>
            <a:off x="68122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Particles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6812280" y="221284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Strong scaling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4572000" y="2697480"/>
            <a:ext cx="210312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4572000" y="2697480"/>
            <a:ext cx="21031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5" name="Text 37"/>
          <p:cNvSpPr/>
          <p:nvPr/>
        </p:nvSpPr>
        <p:spPr>
          <a:xfrm>
            <a:off x="4572000" y="2834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</a:rPr>
              <a:t>10 / 50</a:t>
            </a:r>
            <a:endParaRPr lang="en-US" sz="3000" dirty="0"/>
          </a:p>
        </p:txBody>
      </p:sp>
      <p:sp>
        <p:nvSpPr>
          <p:cNvPr id="46" name="Text 38"/>
          <p:cNvSpPr/>
          <p:nvPr/>
        </p:nvSpPr>
        <p:spPr>
          <a:xfrm>
            <a:off x="457200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Timesteps</a:t>
            </a:r>
            <a:endParaRPr lang="en-US" sz="1200" dirty="0"/>
          </a:p>
        </p:txBody>
      </p:sp>
      <p:sp>
        <p:nvSpPr>
          <p:cNvPr id="47" name="Text 39"/>
          <p:cNvSpPr/>
          <p:nvPr/>
        </p:nvSpPr>
        <p:spPr>
          <a:xfrm>
            <a:off x="4572000" y="3630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Strong / Weak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6812280" y="2697480"/>
            <a:ext cx="210312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9" name="Shape 41"/>
          <p:cNvSpPr/>
          <p:nvPr/>
        </p:nvSpPr>
        <p:spPr>
          <a:xfrm>
            <a:off x="6812280" y="2697480"/>
            <a:ext cx="21031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2"/>
          <p:cNvSpPr/>
          <p:nvPr/>
        </p:nvSpPr>
        <p:spPr>
          <a:xfrm>
            <a:off x="6812280" y="2834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</a:rPr>
              <a:t>3</a:t>
            </a:r>
            <a:endParaRPr lang="en-US" sz="3000" dirty="0"/>
          </a:p>
        </p:txBody>
      </p:sp>
      <p:sp>
        <p:nvSpPr>
          <p:cNvPr id="51" name="Text 43"/>
          <p:cNvSpPr/>
          <p:nvPr/>
        </p:nvSpPr>
        <p:spPr>
          <a:xfrm>
            <a:off x="681228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Trials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6812280" y="3630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Median reported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4480560" y="4160520"/>
            <a:ext cx="4480560" cy="7772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4" name="Shape 46"/>
          <p:cNvSpPr/>
          <p:nvPr/>
        </p:nvSpPr>
        <p:spPr>
          <a:xfrm>
            <a:off x="4480560" y="416052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5" name="Text 47"/>
          <p:cNvSpPr/>
          <p:nvPr/>
        </p:nvSpPr>
        <p:spPr>
          <a:xfrm>
            <a:off x="4663440" y="4206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Communication bottleneck: 3× MPI_Allgatherv per timestep broadcasts the full position state (3×N doubles) to all P ranks — a necessary cost of the all-pairs algorithm.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6B6D4"/>
                </a:solidFill>
              </a:rPr>
              <a:t>STRONG SCALING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Fixed N, increasing P  —  Speedup S(P) = T(1)/T(P)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005840"/>
            <a:ext cx="3017520" cy="1188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852160" y="1005840"/>
            <a:ext cx="54864" cy="1188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4"/>
          <p:cNvSpPr/>
          <p:nvPr/>
        </p:nvSpPr>
        <p:spPr>
          <a:xfrm>
            <a:off x="5989320" y="10972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</a:rPr>
              <a:t>6.5×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989320" y="15727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Max speedup for N=9,600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at P=12 (bottoms out ~P=12)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52160" y="2331720"/>
            <a:ext cx="3017520" cy="1188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852160" y="2331720"/>
            <a:ext cx="54864" cy="1188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8"/>
          <p:cNvSpPr/>
          <p:nvPr/>
        </p:nvSpPr>
        <p:spPr>
          <a:xfrm>
            <a:off x="5989320" y="24231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B5CF6"/>
                </a:solidFill>
              </a:rPr>
              <a:t>~3.9×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5989320" y="28986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Max speedup for N=4,800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diminishing returns past P=12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852160" y="3657600"/>
            <a:ext cx="3017520" cy="1188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852160" y="3657600"/>
            <a:ext cx="54864" cy="1188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5989320" y="3749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</a:rPr>
              <a:t>~1.7×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5989320" y="4224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Max speedup for N=2,400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Comm overhead dominates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852160" y="4800600"/>
            <a:ext cx="3017520" cy="164592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0" y="4800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Speedup plateaus &amp; declines: MPI_Allgatherv cost exceeds compute reduction for small N at high P.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</a:rPr>
              <a:t>WEAK SCALING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 = 1,000 × P  ·  50 timesteps  —  Normalized Time T(P)/T(1)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54864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005840"/>
            <a:ext cx="292608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43600" y="1005840"/>
            <a:ext cx="54864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4"/>
          <p:cNvSpPr/>
          <p:nvPr/>
        </p:nvSpPr>
        <p:spPr>
          <a:xfrm>
            <a:off x="6080760" y="10789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5CF6"/>
                </a:solidFill>
              </a:rPr>
              <a:t>O(N²) Fundamental Limit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080760" y="1353312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BD5E1"/>
                </a:solidFill>
              </a:rPr>
              <a:t>This is NOT an embarrassingly parallel problem. Even with perfect parallelism, each process sees growing N — so time grows as O(N) = O(P·base). Ideal weak scaling (constant time) is theoretically impossible.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943600" y="2350008"/>
            <a:ext cx="292608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0" y="2350008"/>
            <a:ext cx="54864" cy="1234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/>
          <p:nvPr/>
        </p:nvSpPr>
        <p:spPr>
          <a:xfrm>
            <a:off x="6080760" y="2423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</a:rPr>
              <a:t>P=16 Anomaly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080760" y="26974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BD5E1"/>
                </a:solidFill>
              </a:rPr>
              <a:t>A sharp spike at P=16 (T/T₁≈31×) was observed in one trial. Suspected SLURM topology issue — cross-node traffic spikes. Consistent across all 3 trials, suggesting a real scheduling artifact.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43600" y="3694176"/>
            <a:ext cx="2926080" cy="1234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943600" y="3694176"/>
            <a:ext cx="54864" cy="1234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6080760" y="37673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</a:rPr>
              <a:t>Confirmed: Super-linear growth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080760" y="40416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BD5E1"/>
                </a:solidFill>
              </a:rPr>
              <a:t>Measured slope tracks Expected O(P) closely but exceeds it at high P due to communication overhead. The Allgatherv volume scales as O(N) = O(P·base), adding a second P-dependent cost.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10B981"/>
                </a:solidFill>
              </a:rPr>
              <a:t>PERFORMANCE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Speedup Ceiling: Amdahl's Law &amp; Communication Overhead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3931920" cy="33832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188720"/>
            <a:ext cx="393192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188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Amdahl's Law Fit  S(P) = 1/(f + (1-f)/P)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0200"/>
          <a:ext cx="3840480" cy="246888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Problem Size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Serial 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Max Speedup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 = 2,400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9E0B"/>
                          </a:solidFill>
                        </a:rPr>
                        <a:t>~3.6%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6B6D4"/>
                          </a:solidFill>
                        </a:rPr>
                        <a:t>~28×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 = 4,800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9E0B"/>
                          </a:solidFill>
                        </a:rPr>
                        <a:t>~1.8%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6B6D4"/>
                          </a:solidFill>
                        </a:rPr>
                        <a:t>~56×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 = 9,600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9E0B"/>
                          </a:solidFill>
                        </a:rPr>
                        <a:t>~1.2%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6B6D4"/>
                          </a:solidFill>
                        </a:rPr>
                        <a:t>~83×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480560" y="1188720"/>
            <a:ext cx="4389120" cy="15087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0560" y="1188720"/>
            <a:ext cx="54864" cy="15087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29844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Comm Overhead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166360" y="153619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3× Allgatherv / step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663440" y="182880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</a:rPr>
              <a:t>Each step sends 3×N doubles across all ranks. Cost = O(N×P) bytes/step; grows superlinearly with both N and P.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480560" y="2880360"/>
            <a:ext cx="4389120" cy="15087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80560" y="2880360"/>
            <a:ext cx="54864" cy="150876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990088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6636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</a:rPr>
              <a:t>N² Compute Wall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166360" y="32278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O(N/P × N) per step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663440" y="352044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</a:rPr>
              <a:t>Even perfect parallelism can't escape the O(N²) structure. Each rank still reads all N global positions every timestep.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480560" y="4572000"/>
            <a:ext cx="4389120" cy="42976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Shape 16"/>
          <p:cNvSpPr/>
          <p:nvPr/>
        </p:nvSpPr>
        <p:spPr>
          <a:xfrm>
            <a:off x="4480560" y="4572000"/>
            <a:ext cx="54864" cy="42976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2" name="Text 17"/>
          <p:cNvSpPr/>
          <p:nvPr/>
        </p:nvSpPr>
        <p:spPr>
          <a:xfrm>
            <a:off x="4617720" y="4599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Key insight: For N=9,600, Amdahl predicts a theoretical ceiling of ~83×  — the current 24-rank hardware (6.5×) sits far below; scaling headroom remains.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59E0B"/>
                </a:solidFill>
              </a:rPr>
              <a:t>TIMING 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Strong Scaling  —  Median Wall Time (seconds)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51560"/>
          <a:ext cx="51206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051560"/>
          <a:ext cx="3291840" cy="393192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N=2,400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N=4,800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A0F1E"/>
                          </a:solidFill>
                        </a:rPr>
                        <a:t>N=9,600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0.0631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0.2518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1.0067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0.1375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0.5197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0.0333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0.0873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0.2864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0.0329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0.0656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0.1821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0.0369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0.0613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0.1555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0.0406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0.0710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0.1608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0.0452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0.0729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0.1539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0.0446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0.0783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0.1834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2286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6B6D4"/>
                </a:solidFill>
              </a:rPr>
              <a:t>CONCLUSIONS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Key Findings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4160520" cy="15087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80160"/>
            <a:ext cx="54864" cy="150876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Speedup Achieved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11480" y="1828800"/>
            <a:ext cx="38404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N=9,600 reaches 6.5× speedup at P=12. Larger N delivers better parallel efficiency — the compute-to-comm ratio improves with problem size.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754880" y="1280160"/>
            <a:ext cx="4160520" cy="15087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280160"/>
            <a:ext cx="54864" cy="15087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Comm Limits Scaling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92040" y="1828800"/>
            <a:ext cx="38404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MPI_Allgatherv dominates at high P for small N. The all-pairs algorithm's O(N²) structure creates an unavoidable communication-computation tradeoff.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274320" y="2926080"/>
            <a:ext cx="4160520" cy="15087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926080"/>
            <a:ext cx="54864" cy="150876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01752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4400" y="3017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</a:rPr>
              <a:t>Amdahl's Ceiling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11480" y="3474720"/>
            <a:ext cx="38404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Serial fraction f &lt; 3.6% for all N. Theoretical max speedup of 83× for N=9,600 — far beyond what 24-core hardware can validate.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754880" y="2926080"/>
            <a:ext cx="4160520" cy="15087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926080"/>
            <a:ext cx="54864" cy="150876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3017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P=16 Anomaly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892040" y="3474720"/>
            <a:ext cx="38404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BD5E1"/>
                </a:solidFill>
              </a:rPr>
              <a:t>A consistent spike at P=16 in weak scaling is attributed to cross-node SLURM topology effects on the Three Idiots cluster, not algorithmic causes.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7" name="Text 21"/>
          <p:cNvSpPr/>
          <p:nvPr/>
        </p:nvSpPr>
        <p:spPr>
          <a:xfrm>
            <a:off x="274320" y="48280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Sean Balbale  ·  CPSC 375: HPC  ·  Trinity College  ·  April 2026  ·  Three Idiots Cluster  ·  24 MPI Processes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Parallel N-body Gravitational Simulation</dc:title>
  <dc:subject>PptxGenJS Presentation</dc:subject>
  <dc:creator>Sean Balbale</dc:creator>
  <cp:lastModifiedBy>Sean Balbale</cp:lastModifiedBy>
  <cp:revision>1</cp:revision>
  <dcterms:created xsi:type="dcterms:W3CDTF">2026-04-28T14:02:47Z</dcterms:created>
  <dcterms:modified xsi:type="dcterms:W3CDTF">2026-04-28T14:02:47Z</dcterms:modified>
</cp:coreProperties>
</file>