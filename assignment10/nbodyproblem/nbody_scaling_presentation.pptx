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N=2,400</c:v>
                </c:pt>
              </c:strCache>
            </c:strRef>
          </c:tx>
          <c:spPr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10</c:v>
                </c:pt>
                <c:pt idx="7">
                  <c:v>12</c:v>
                </c:pt>
                <c:pt idx="8">
                  <c:v>16</c:v>
                </c:pt>
                <c:pt idx="9">
                  <c:v>20</c:v>
                </c:pt>
                <c:pt idx="10">
                  <c:v>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1.52</c:v>
                </c:pt>
                <c:pt idx="2">
                  <c:v>1.6220000000000001</c:v>
                </c:pt>
                <c:pt idx="3">
                  <c:v>1.895</c:v>
                </c:pt>
                <c:pt idx="4">
                  <c:v>1.8029999999999999</c:v>
                </c:pt>
                <c:pt idx="5">
                  <c:v>1.9179999999999999</c:v>
                </c:pt>
                <c:pt idx="6">
                  <c:v>1.7190000000000001</c:v>
                </c:pt>
                <c:pt idx="7">
                  <c:v>1.71</c:v>
                </c:pt>
                <c:pt idx="8">
                  <c:v>1.554</c:v>
                </c:pt>
                <c:pt idx="9">
                  <c:v>1.3959999999999999</c:v>
                </c:pt>
                <c:pt idx="10">
                  <c:v>1.415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9A-412F-9F9F-8D8500456D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N=4,800</c:v>
                </c:pt>
              </c:strCache>
            </c:strRef>
          </c:tx>
          <c:spPr>
            <a:ln w="2540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10</c:v>
                </c:pt>
                <c:pt idx="7">
                  <c:v>12</c:v>
                </c:pt>
                <c:pt idx="8">
                  <c:v>16</c:v>
                </c:pt>
                <c:pt idx="9">
                  <c:v>20</c:v>
                </c:pt>
                <c:pt idx="10">
                  <c:v>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1.831</c:v>
                </c:pt>
                <c:pt idx="2">
                  <c:v>2.3730000000000002</c:v>
                </c:pt>
                <c:pt idx="3">
                  <c:v>2.8839999999999999</c:v>
                </c:pt>
                <c:pt idx="4">
                  <c:v>3.488</c:v>
                </c:pt>
                <c:pt idx="5">
                  <c:v>3.8380000000000001</c:v>
                </c:pt>
                <c:pt idx="6">
                  <c:v>3.8439999999999999</c:v>
                </c:pt>
                <c:pt idx="7">
                  <c:v>4.1079999999999997</c:v>
                </c:pt>
                <c:pt idx="8">
                  <c:v>3.5459999999999998</c:v>
                </c:pt>
                <c:pt idx="9">
                  <c:v>3.4540000000000002</c:v>
                </c:pt>
                <c:pt idx="10">
                  <c:v>3.2160000000000002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9A-412F-9F9F-8D8500456D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N=9,600</c:v>
                </c:pt>
              </c:strCache>
            </c:strRef>
          </c:tx>
          <c:spPr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10</c:v>
                </c:pt>
                <c:pt idx="7">
                  <c:v>12</c:v>
                </c:pt>
                <c:pt idx="8">
                  <c:v>16</c:v>
                </c:pt>
                <c:pt idx="9">
                  <c:v>20</c:v>
                </c:pt>
                <c:pt idx="10">
                  <c:v>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</c:v>
                </c:pt>
                <c:pt idx="1">
                  <c:v>1.9370000000000001</c:v>
                </c:pt>
                <c:pt idx="2">
                  <c:v>2.78</c:v>
                </c:pt>
                <c:pt idx="3">
                  <c:v>3.5150000000000001</c:v>
                </c:pt>
                <c:pt idx="4">
                  <c:v>4.76</c:v>
                </c:pt>
                <c:pt idx="5">
                  <c:v>5.5279999999999996</c:v>
                </c:pt>
                <c:pt idx="6">
                  <c:v>6.1420000000000003</c:v>
                </c:pt>
                <c:pt idx="7">
                  <c:v>6.4740000000000002</c:v>
                </c:pt>
                <c:pt idx="8">
                  <c:v>6.2610000000000001</c:v>
                </c:pt>
                <c:pt idx="9">
                  <c:v>6.5410000000000004</c:v>
                </c:pt>
                <c:pt idx="10">
                  <c:v>5.4889999999999999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9A-412F-9F9F-8D8500456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B8"/>
                    </a:solidFill>
                    <a:latin typeface="Arial"/>
                  </a:rPr>
                  <a:t>MPI Processes (P)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B8"/>
                    </a:solidFill>
                    <a:latin typeface="Arial"/>
                  </a:rPr>
                  <a:t>Speedup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T(P)/T(1)</c:v>
                </c:pt>
              </c:strCache>
            </c:strRef>
          </c:tx>
          <c:spPr>
            <a:ln w="2540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14</c:v>
                </c:pt>
                <c:pt idx="13">
                  <c:v>16</c:v>
                </c:pt>
                <c:pt idx="14">
                  <c:v>18</c:v>
                </c:pt>
                <c:pt idx="15">
                  <c:v>20</c:v>
                </c:pt>
                <c:pt idx="16">
                  <c:v>22</c:v>
                </c:pt>
                <c:pt idx="17">
                  <c:v>24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2.8690000000000002</c:v>
                </c:pt>
                <c:pt idx="2">
                  <c:v>4.5990000000000002</c:v>
                </c:pt>
                <c:pt idx="3">
                  <c:v>5.9820000000000002</c:v>
                </c:pt>
                <c:pt idx="4">
                  <c:v>7.5149999999999997</c:v>
                </c:pt>
                <c:pt idx="5">
                  <c:v>8.8680000000000003</c:v>
                </c:pt>
                <c:pt idx="6">
                  <c:v>10.574999999999999</c:v>
                </c:pt>
                <c:pt idx="7">
                  <c:v>12.154</c:v>
                </c:pt>
                <c:pt idx="8">
                  <c:v>13.651999999999999</c:v>
                </c:pt>
                <c:pt idx="9">
                  <c:v>15.500999999999999</c:v>
                </c:pt>
                <c:pt idx="10">
                  <c:v>14.005000000000001</c:v>
                </c:pt>
                <c:pt idx="11">
                  <c:v>15.018000000000001</c:v>
                </c:pt>
                <c:pt idx="12">
                  <c:v>17.207000000000001</c:v>
                </c:pt>
                <c:pt idx="13">
                  <c:v>30.917999999999999</c:v>
                </c:pt>
                <c:pt idx="14">
                  <c:v>21.672999999999998</c:v>
                </c:pt>
                <c:pt idx="15">
                  <c:v>24.904</c:v>
                </c:pt>
                <c:pt idx="16">
                  <c:v>29.536999999999999</c:v>
                </c:pt>
                <c:pt idx="17">
                  <c:v>32.603999999999999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6B-4BE5-BAF6-FD3523F0F3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O(P) growth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14</c:v>
                </c:pt>
                <c:pt idx="13">
                  <c:v>16</c:v>
                </c:pt>
                <c:pt idx="14">
                  <c:v>18</c:v>
                </c:pt>
                <c:pt idx="15">
                  <c:v>20</c:v>
                </c:pt>
                <c:pt idx="16">
                  <c:v>22</c:v>
                </c:pt>
                <c:pt idx="17">
                  <c:v>24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14</c:v>
                </c:pt>
                <c:pt idx="13">
                  <c:v>16</c:v>
                </c:pt>
                <c:pt idx="14">
                  <c:v>18</c:v>
                </c:pt>
                <c:pt idx="15">
                  <c:v>20</c:v>
                </c:pt>
                <c:pt idx="16">
                  <c:v>22</c:v>
                </c:pt>
                <c:pt idx="17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6B-4BE5-BAF6-FD3523F0F3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B8"/>
                    </a:solidFill>
                    <a:latin typeface="Arial"/>
                  </a:rPr>
                  <a:t>MPI Processes (P)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B8"/>
                    </a:solidFill>
                    <a:latin typeface="Arial"/>
                  </a:rPr>
                  <a:t>Normalized Wall Time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Wall Time (s) — N=9,600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1.0066999999999999</c:v>
                </c:pt>
                <c:pt idx="1">
                  <c:v>0.51970000000000005</c:v>
                </c:pt>
                <c:pt idx="2">
                  <c:v>0.28639999999999999</c:v>
                </c:pt>
                <c:pt idx="3">
                  <c:v>0.21149999999999999</c:v>
                </c:pt>
                <c:pt idx="4">
                  <c:v>0.18210000000000001</c:v>
                </c:pt>
                <c:pt idx="5">
                  <c:v>0.16389999999999999</c:v>
                </c:pt>
                <c:pt idx="6">
                  <c:v>0.1555</c:v>
                </c:pt>
                <c:pt idx="7">
                  <c:v>0.1608</c:v>
                </c:pt>
                <c:pt idx="8">
                  <c:v>0.15390000000000001</c:v>
                </c:pt>
                <c:pt idx="9">
                  <c:v>0.18340000000000001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A8-4A58-A7AE-02FC356A5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B8"/>
                    </a:solidFill>
                    <a:latin typeface="Arial"/>
                  </a:rPr>
                  <a:t>MPI Processes (P)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B8"/>
                    </a:solidFill>
                    <a:latin typeface="Arial"/>
                  </a:rPr>
                  <a:t>Wall Time (s)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15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28600"/>
            <a:ext cx="2926080" cy="292608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731520"/>
            <a:ext cx="1645920" cy="164592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744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</a:rPr>
              <a:t>N-BODY SIMULATION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716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O(N²)</a:t>
            </a:r>
            <a:r>
              <a:rPr lang="en-US" sz="1500" dirty="0">
                <a:solidFill>
                  <a:srgbClr val="CBD5E1"/>
                </a:solidFill>
              </a:rPr>
              <a:t>  ·  MPI  ·  Leapfrog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3716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 Nodes  ·  24 Cores  ·  Three Idiots Cluster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Parallel N-body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Gravitational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Simulation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4663440" y="3291840"/>
            <a:ext cx="347472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6344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Sean Balbale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3794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CPSC 375: High-Performance Computing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Professor Peter Yoon  ·  April 26,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4434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Trinity College  ·  ECE + 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6B6D4"/>
                </a:solidFill>
              </a:rPr>
              <a:t>PROBLEM DESCRIPTION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N-body Gravitational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834640" cy="33375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Physics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</a:rPr>
              <a:t>Each of N particles attracts all others via softened gravity. Integration uses leapfrog (Störmer-Verlet): half-kick → drift → forces → half-kick.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834640" cy="33375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8346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Complexity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214884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</a:rPr>
              <a:t>O(N²) all-pairs force computation. Every rank owns N/P particles; forces require reading all N positions — communication-heavy by nature.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371600"/>
            <a:ext cx="2560320" cy="33375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1371600"/>
            <a:ext cx="256032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54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Challenge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92240" y="214884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</a:rPr>
              <a:t>Quadratic work dominates, but MPI_Allgatherv synchronizes global positions every timestep. Communication cost grows with both N and P.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5720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F_ij = G · m_j · (r_j − r_i) / (|r_j − r_i|² + ε²)^(3/2)   |   ε = 0.05  ·  G = 1  ·  dt = 0.01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6B6D4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Symmetric MPI Decomposition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39319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53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1.  Broadcast Positions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011680" y="1783080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892808"/>
            <a:ext cx="39319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892808"/>
            <a:ext cx="54864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2.  Compute Forces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011680" y="2395728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74320" y="2505456"/>
            <a:ext cx="39319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74320" y="2505456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5117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578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3.  Half-Kick Velocities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011680" y="3008376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274320" y="3118104"/>
            <a:ext cx="39319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74320" y="3118104"/>
            <a:ext cx="54864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638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31912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4.  Drift Positions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2011680" y="3621024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274320" y="3730752"/>
            <a:ext cx="39319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274320" y="3730752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7647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 Allgatherv Sync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2011680" y="4233672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274320" y="4343400"/>
            <a:ext cx="39319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74320" y="434340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891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" y="4416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6.  Second Half-Kick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0" y="1280160"/>
            <a:ext cx="210312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572000" y="1280160"/>
            <a:ext cx="21031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4572000" y="1417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</a:rPr>
              <a:t>1 – 24</a:t>
            </a:r>
            <a:endParaRPr lang="en-US" sz="3000" dirty="0"/>
          </a:p>
        </p:txBody>
      </p:sp>
      <p:sp>
        <p:nvSpPr>
          <p:cNvPr id="36" name="Text 28"/>
          <p:cNvSpPr/>
          <p:nvPr/>
        </p:nvSpPr>
        <p:spPr>
          <a:xfrm>
            <a:off x="457200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MPI Ranks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572000" y="2212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Three Idiots Cluster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812280" y="1280160"/>
            <a:ext cx="210312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6812280" y="1280160"/>
            <a:ext cx="210312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6812280" y="1417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</a:rPr>
              <a:t>2.4K–9.6K</a:t>
            </a:r>
            <a:endParaRPr lang="en-US" sz="3000" dirty="0"/>
          </a:p>
        </p:txBody>
      </p:sp>
      <p:sp>
        <p:nvSpPr>
          <p:cNvPr id="41" name="Text 33"/>
          <p:cNvSpPr/>
          <p:nvPr/>
        </p:nvSpPr>
        <p:spPr>
          <a:xfrm>
            <a:off x="681228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Particles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812280" y="2212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Strong scaling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572000" y="2697480"/>
            <a:ext cx="210312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572000" y="2697480"/>
            <a:ext cx="21031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457200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</a:rPr>
              <a:t>10 / 50</a:t>
            </a:r>
            <a:endParaRPr lang="en-US" sz="3000" dirty="0"/>
          </a:p>
        </p:txBody>
      </p:sp>
      <p:sp>
        <p:nvSpPr>
          <p:cNvPr id="46" name="Text 38"/>
          <p:cNvSpPr/>
          <p:nvPr/>
        </p:nvSpPr>
        <p:spPr>
          <a:xfrm>
            <a:off x="457200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Timesteps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4572000" y="3630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Strong / Weak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6812280" y="2697480"/>
            <a:ext cx="210312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6812280" y="2697480"/>
            <a:ext cx="21031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681228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3</a:t>
            </a:r>
            <a:endParaRPr lang="en-US" sz="3000" dirty="0"/>
          </a:p>
        </p:txBody>
      </p:sp>
      <p:sp>
        <p:nvSpPr>
          <p:cNvPr id="51" name="Text 43"/>
          <p:cNvSpPr/>
          <p:nvPr/>
        </p:nvSpPr>
        <p:spPr>
          <a:xfrm>
            <a:off x="681228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Trials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6812280" y="3630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Median reported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572000" y="4160520"/>
            <a:ext cx="43434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4572000" y="4157254"/>
            <a:ext cx="45719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4663440" y="4206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Communication bottleneck: 3× MPI_Allgatherv per timestep broadcasts the full position state (3×N doubles) to all P ranks — a necessary cost of the all-pairs algorithm.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6B6D4"/>
                </a:solidFill>
              </a:rPr>
              <a:t>STRONG SCALING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Fixed N, increasing P  —  Speedup S(P) = T(1)/T(P)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0" y="100584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097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</a:rPr>
              <a:t>6.5×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89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Max speedup for N=9,600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at P=12 (bottoms out ~P=12)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331720"/>
            <a:ext cx="301752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5CF6"/>
                </a:solidFill>
              </a:rPr>
              <a:t>~3.9×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989320" y="28986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Max speedup for N=4,800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diminishing returns past P=12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657600"/>
            <a:ext cx="301752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52160" y="365760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</a:rPr>
              <a:t>~1.7×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989320" y="4224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Max speedup for N=2,400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Comm overhead dominates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4800600"/>
            <a:ext cx="3017520" cy="1645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52160" y="4800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Speedup plateaus &amp; declines: MPI_Allgatherv cost exceeds compute reduction for small N at high 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8B5CF6"/>
                </a:solidFill>
              </a:rPr>
              <a:t>WEAK SCALING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 = 1,000 × P  ·  50 timesteps  —  Normalized Time T(P)/T(1)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92608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0" y="1005840"/>
            <a:ext cx="54864" cy="1234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10789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O(N²) Fundamental Limit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80760" y="13533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This is NOT an embarrassingly parallel problem. Even with perfect parallelism, each process sees growing N — so time grows as O(N) = O(P·base). Ideal weak scaling (constant time) is theoretically impossible.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0" y="2350008"/>
            <a:ext cx="292608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0" y="2350008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P=16 Anomaly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80760" y="2697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A sharp spike at P=16 (T/T₁≈31×) was observed in one trial. Suspected SLURM topology issue — cross-node traffic spikes. Consistent across all 3 trials, suggesting a real scheduling artifact.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3694176"/>
            <a:ext cx="292608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0" y="3694176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0760" y="37673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Confirmed: Super-linear growth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80760" y="4041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Measured slope tracks Expected O(P) closely but exceeds it at high P due to communication overhead. The Allgatherv volume scales as O(N) = O(P·base), adding a second P-dependent cost.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0B981"/>
                </a:solidFill>
              </a:rPr>
              <a:t>PERFORMANCE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Speedup Ceiling: Amdahl's Law &amp; Communication Overhead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423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Amdahl's Law Fit  S(P) = 1/(f + (1-f)/P)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167069"/>
              </p:ext>
            </p:extLst>
          </p:nvPr>
        </p:nvGraphicFramePr>
        <p:xfrm>
          <a:off x="274320" y="1600200"/>
          <a:ext cx="3931920" cy="201168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F1E"/>
                          </a:solidFill>
                        </a:rPr>
                        <a:t>Problem Size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0F1E"/>
                          </a:solidFill>
                        </a:rPr>
                        <a:t>Serial 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0F1E"/>
                          </a:solidFill>
                        </a:rPr>
                        <a:t>Max Speedup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 = 2,400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</a:rPr>
                        <a:t>~3.6%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6B6D4"/>
                          </a:solidFill>
                        </a:rPr>
                        <a:t>~28×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 = 4,800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</a:rPr>
                        <a:t>~1.8%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6B6D4"/>
                          </a:solidFill>
                        </a:rPr>
                        <a:t>~56×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 = 9,600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</a:rPr>
                        <a:t>~1.2%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6B6D4"/>
                          </a:solidFill>
                        </a:rPr>
                        <a:t>~83×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480560" y="1188720"/>
            <a:ext cx="43891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80560" y="118872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9844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Comm Overhead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66360" y="15361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3× Allgatherv / step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63440" y="182880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Each step sends 3×N doubles across all ranks. Cost = O(N×P) bytes/step; grows superlinearly with both N and 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80560" y="2880360"/>
            <a:ext cx="43891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480560" y="2880360"/>
            <a:ext cx="54864" cy="1508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9008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</a:rPr>
              <a:t>N² Compute Wall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166360" y="32278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O(N/P × N) per step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63440" y="35204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Even perfect parallelism can't escape the O(N²) structure. Each rank still reads all N global positions every timestep.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480560" y="4572000"/>
            <a:ext cx="4389120" cy="42976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480560" y="4572000"/>
            <a:ext cx="54864" cy="4297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617720" y="4599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Key insight: For N=9,600, Amdahl predicts a theoretical ceiling of ~83×  — the current 24-rank hardware (6.5×) sits far below that estimate.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59E0B"/>
                </a:solidFill>
              </a:rPr>
              <a:t>TIMING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Strong Scaling  —  Median Wall Time (seconds)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51206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51560"/>
          <a:ext cx="3291840" cy="395020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0F1E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A0F1E"/>
                          </a:solidFill>
                        </a:rPr>
                        <a:t>N=2,400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A0F1E"/>
                          </a:solidFill>
                        </a:rPr>
                        <a:t>N=4,800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A0F1E"/>
                          </a:solidFill>
                        </a:rPr>
                        <a:t>N=9,600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0.0631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0.2518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1.0067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0.0415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0.1375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0.5197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0.0333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0.0873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0.2864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0.0329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0.0656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0.1821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0.0369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0.0613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0.1555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0.0406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0.0710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0.1608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0.0452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0.0729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0.1539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0.0446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0.0783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0.1834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6B6D4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Findings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605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Speedup Achieved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828800"/>
            <a:ext cx="3840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N=9,600 reaches 6.5× speedup at P=12. Larger N delivers better parallel efficiency — the compute-to-comm ratio improves with problem size.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1605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28016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Comm Limits Scaling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92040" y="1828800"/>
            <a:ext cx="3840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MPI_Allgatherv dominates at high P for small N. The all-pairs algorithm's O(N²) structure creates an unavoidable communication-computation tradeoff.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2926080"/>
            <a:ext cx="41605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926080"/>
            <a:ext cx="54864" cy="1508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175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Amdahl's Ceiling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11480" y="3474720"/>
            <a:ext cx="3840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Serial fraction f &lt; 3.6% for all N. Theoretical max speedup of 83× for N=9,600 — far beyond what 24-core hardware can validate.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41605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54864" cy="1508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175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P=16 Anomaly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892040" y="3474720"/>
            <a:ext cx="3840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A consistent spike at P=16 in weak scaling is attributed to cross-node SLURM topology effects on the Three Idiots cluster, not algorithmic causes.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74320" y="4828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Sean Balbale  ·  CPSC 375: HPC  ·  Trinity College  ·  April 2026  ·  Three Idiots Cluster  ·  24 MPI Processes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906</Words>
  <Application>Microsoft Office PowerPoint</Application>
  <PresentationFormat>On-screen Show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N-body Gravitational Simulation</dc:title>
  <dc:subject>PptxGenJS Presentation</dc:subject>
  <dc:creator>Sean Balbale</dc:creator>
  <cp:lastModifiedBy>Sean Balbale</cp:lastModifiedBy>
  <cp:revision>2</cp:revision>
  <dcterms:created xsi:type="dcterms:W3CDTF">2026-04-28T14:02:47Z</dcterms:created>
  <dcterms:modified xsi:type="dcterms:W3CDTF">2026-05-04T14:50:38Z</dcterms:modified>
</cp:coreProperties>
</file>