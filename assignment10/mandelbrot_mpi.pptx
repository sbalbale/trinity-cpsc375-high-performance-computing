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0D1117">
              <a:alpha val="8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28600" y="914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CPSC 375 — HIGH-PERFORMANCE COMPUTING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8600" y="137160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MANDELBROT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RENDERER.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28600" y="3657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Master-Worker Dynamic Scheduling with MPI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28600" y="4251960"/>
            <a:ext cx="41148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" y="4389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Balbale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April 26, 2026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86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Idiots Cluster  ·  24 MPI Processes  ·  3 × 8-core Nodes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" y="5486400"/>
            <a:ext cx="1828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5532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 min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28600" y="5925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Runtime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240280" y="5486400"/>
            <a:ext cx="1828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40280" y="5532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276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240280" y="5925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51960" y="5486400"/>
            <a:ext cx="1828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51960" y="5532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251960" y="5925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Sizes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&amp; Motivation.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005840"/>
            <a:ext cx="4389120" cy="4389120"/>
          </a:xfrm>
          <a:prstGeom prst="rect">
            <a:avLst/>
          </a:prstGeom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498080" y="5532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 × 4096  ·  Nmax = 1000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28600" y="1005840"/>
            <a:ext cx="69494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005840"/>
            <a:ext cx="54864" cy="1554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1155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Embarrassingly Parallel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5840" y="15544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maps independently to a complex coordinate. No data hazards — zero inter-pixel dependencies.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28600" y="2743200"/>
            <a:ext cx="69494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8600" y="2743200"/>
            <a:ext cx="54864" cy="1554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803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8529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Non-Uniform Workload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005840" y="32918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pixels iterate ~Nmax steps; interior/exterior escape instantly. Row-level load imbalance demands dynamic dispatch.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28600" y="4480560"/>
            <a:ext cx="69494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28600" y="4480560"/>
            <a:ext cx="54864" cy="1554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6177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45902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Dynamic Scheduling?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005840" y="5029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block decomposition leaves workers idle when assigned rows are cheap. A work-pool eliminates this with zero a-priori knowledge.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28600" y="6601968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SEAN BALBALE  ·  CPSC 375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Master-Worker Architecture.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926080" cy="41148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83464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row indices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MPI_Recv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Re-dispatch idle workers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store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wall 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1280160" cy="228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1600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TAG_WORK →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429000" y="1993392"/>
            <a:ext cx="1280160" cy="228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9000" y="20391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TAG_RESULT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00600" y="1188720"/>
            <a:ext cx="27432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compute_row() → escape()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29000" y="3017520"/>
            <a:ext cx="1280160" cy="228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2900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TAG_WORK →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429000" y="3182112"/>
            <a:ext cx="1280160" cy="228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3227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TAG_RESULT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800600" y="2514600"/>
            <a:ext cx="27432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2624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006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compute_row() → escape()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29000" y="4206240"/>
            <a:ext cx="1280160" cy="228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2900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TAG_WORK →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429000" y="4370832"/>
            <a:ext cx="1280160" cy="228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29000" y="4416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TAG_RESULT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800600" y="3840480"/>
            <a:ext cx="27432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 RANK P−1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65760" y="5440680"/>
            <a:ext cx="292608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5468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TAG_DONE: zero-length shutdown signal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all rows exhausted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863840" y="1005840"/>
            <a:ext cx="411480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6384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PROPERTIES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001000" y="1481328"/>
            <a:ext cx="384048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4672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TAG_WORK: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6926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MPI_INT  (row index)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04672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TAG_RESULT: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6926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(width+1) × MPI_INT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04672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TAG_DONE: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69264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  (shutdown)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04672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Scheduling: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69264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work-pool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0467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role: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69264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only — no compute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046720" y="4800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role: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692640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rows, return results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046720" y="5440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P: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692640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  (1 master + 1 worker)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28600" y="6601968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SEAN BALBALE  ·  CPSC 375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Implementation.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566928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escape()  —  inner loop kernel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44168"/>
            <a:ext cx="566928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inline int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(double cr, double ci, int max_iter)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zr = 0.0, zi = 0.0;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n = 0; n &lt; max_iter; n++)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zr2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zr * zr;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cached — avoids recompute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zi2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zi * zi;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(zr2 + zi2 &gt; 4.0)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zi = 2.0 * zr * zi + ci;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zr = zr2 - zi2 + cr;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max_iter;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inside set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58064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005840"/>
            <a:ext cx="54864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972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Compiler Flags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5087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mpiicx -O3 -xHost -std=c99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AVX/AVX2 auto-vectorization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escape() for hot loop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788920"/>
            <a:ext cx="58064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788920"/>
            <a:ext cx="54864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8803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 Fabric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2918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FI_PROVIDER=tcp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10.0.0.0/24 interface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PMI2 via SLURM srun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572000"/>
            <a:ext cx="58064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4572000"/>
            <a:ext cx="54864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6634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50749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MPI_Wtime() brackets dispatch loop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 write excluded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3 trials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" y="48006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 zr² and zi² reduce multiply ops per iteration from 7 → 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6601968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SEAN BALBALE  ·  CPSC 375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Experimental Setup.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557784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IDIOTS CLUSTER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90472"/>
            <a:ext cx="530352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Cores/node: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984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(24 total)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682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368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 ·  10.0.0.0/24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523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752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 (–nodes=3 –ntasks=24)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136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range: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 → P = 24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749040"/>
            <a:ext cx="55778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130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 DESIGN MATRIX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87952"/>
            <a:ext cx="530352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51960"/>
          <a:ext cx="5303520" cy="169164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822960"/>
                <a:gridCol w="100584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Nmax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Trials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1024², 2048², 4096²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512⌊√P⌋ × 512⌊√P⌋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035040" y="1051560"/>
            <a:ext cx="5943600" cy="5257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111556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DEFINED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26480" y="1490472"/>
            <a:ext cx="566928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Speedup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17920" y="1901952"/>
            <a:ext cx="54864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1920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S(P) = T(2) / T(P)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17920" y="2322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2-process baseline (1 master + 1 worker).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217920" y="2715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Efficiency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3017520"/>
            <a:ext cx="54864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63640" y="30358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E(P) = S(P) / (P − 1)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17920" y="34381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by worker count. Rank 0 does no pixel work.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&gt; 1.0 = super-linear speedup.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217920" y="38313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Amdahl's Law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17920" y="4133088"/>
            <a:ext cx="54864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63640" y="41513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S(P) = 1 / (f + (1−f)/P)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217920" y="45537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fraction f estimated via least-squares fit.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1/f gives theoretical max speedup.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217920" y="4946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 Scaling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17920" y="5248656"/>
            <a:ext cx="54864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63640" y="526694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 T = T(P) / T(2)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217920" y="56692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scales as ⌊√P⌋ × base tile.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= constant 1.000.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28600" y="6601968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SEAN BALBALE  ·  CPSC 375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Scaling Study Results.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175004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1156716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6601968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SEAN BALBALE  ·  CPSC 375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 Scaling — Key Numbers.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3749040" cy="51206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× 1024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453896"/>
            <a:ext cx="3749040" cy="182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499616"/>
          <a:ext cx="3611880" cy="452628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005840"/>
                <a:gridCol w="960120"/>
              </a:tblGrid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T(P) 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S(P)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E(P)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8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206240" y="1005840"/>
            <a:ext cx="3749040" cy="5120640"/>
          </a:xfrm>
          <a:prstGeom prst="rect">
            <a:avLst/>
          </a:prstGeom>
          <a:solidFill>
            <a:srgbClr val="161B22"/>
          </a:solidFill>
          <a:ln w="19050">
            <a:solidFill>
              <a:srgbClr val="A371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2048 × 2048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453896"/>
            <a:ext cx="3749040" cy="1828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79392" y="1499616"/>
          <a:ext cx="3611880" cy="452628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005840"/>
                <a:gridCol w="960120"/>
              </a:tblGrid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71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71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T(P) 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71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S(P)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71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E(P)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8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8229600" y="1005840"/>
            <a:ext cx="3749040" cy="51206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 × 4096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1453896"/>
            <a:ext cx="3749040" cy="1828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02752" y="1499616"/>
          <a:ext cx="3611880" cy="452628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005840"/>
                <a:gridCol w="960120"/>
              </a:tblGrid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88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88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T(P) 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88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S(P)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88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E(P)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8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8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228600" y="6263640"/>
            <a:ext cx="1179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 E(P) &gt; 1.0 = super-linear    Orange E(P) &lt; 0.9 = efficiency decay at high P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28600" y="6601968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SEAN BALBALE  ·  CPSC 375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Finding: Super-Linear Speedup.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28600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1.29×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 at P=4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1024² problem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005840"/>
            <a:ext cx="228600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097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83464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super-linear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at P=8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005840"/>
            <a:ext cx="228600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097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8.10×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S(8) for 1024²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workers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1165860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249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SUPER-LINEAR?  Cache Amplification Effect.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099816"/>
            <a:ext cx="113385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182112"/>
            <a:ext cx="41148" cy="21488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  (baseline)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worker handles all rows. Master's image buffer ≈ 4 MB at 1024². This exceeds L2 cache — frequent cache misses on the write path slow down throughput.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182112"/>
            <a:ext cx="41148" cy="21488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200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grows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6118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worker's row share shrinks proportionally. The iteration result buffer fits entirely in L1/L2 cache. Memory latency drops dramatically, accelerating the escape() inner loop beyond the linear prediction.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83880" y="3182112"/>
            <a:ext cx="41148" cy="21488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200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4096²  (weakest effect)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largest config shows S(8) = 7.36 with E = 1.05 — slightly super-linear. Wider rows mean more cache pressure but the effect persists at moderate 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6601968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SEAN BALBALE  ·  CPSC 375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Amdahl's Law Analysis.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658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S(P) = 1 / (f + (1 − f) / P)     →     max speedup = 1/f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374904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965960"/>
            <a:ext cx="37490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66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× 1024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441448"/>
            <a:ext cx="35661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fraction f: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25603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0.708 %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speedup  1/f: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3218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141×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77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 S(24):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77440" y="38770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20.6×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35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 below 1/f?: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77440" y="45354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headroom remains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1965960"/>
            <a:ext cx="374904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A371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1965960"/>
            <a:ext cx="3749040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2066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2048 × 2048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2441448"/>
            <a:ext cx="35661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fraction f: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25603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0.610 %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speedup  1/f: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3218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164×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3877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 S(24):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38770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21.0×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34840" y="4535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 below 1/f?: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5080" y="45354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headroom remains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1965960"/>
            <a:ext cx="374904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1965960"/>
            <a:ext cx="37490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066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 × 4096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21040" y="2441448"/>
            <a:ext cx="35661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fraction f: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332720" y="25603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0.963 %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speedup  1/f: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332720" y="3218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104×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3877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 S(24):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332720" y="38770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19.6×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0" y="4535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 below 1/f?: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332720" y="45354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headroom remains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5577840"/>
            <a:ext cx="1165860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641848"/>
            <a:ext cx="11292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interpretation: rank 0's dispatch loop executes O(height) sequential operations while total work scales O(W × H × Nmax). The serial fraction shrinks as problem size grows — consistent with f being lowest for the 2048² case.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6601968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SEAN BALBALE  ·  CPSC 375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5029200" y="0"/>
            <a:ext cx="71597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28600" y="685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Conclusions.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15087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Near-ideal &amp; super-linear speedup for P ≤ 16 via cache amplification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4144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3774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P=24 delivers 20.6× / 21.0× / 19.6× across all three problem sizes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310128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" y="32461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efficiency stays above 0.85× across all tested configurations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178808"/>
            <a:ext cx="384048" cy="3840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4672" y="411480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fraction f &lt; 1% → theoretical max 100–164× still within reach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5047488"/>
            <a:ext cx="384048" cy="38404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4672" y="49834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scaling consistently better than ideal — cache tier within tiers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228600" y="5989320"/>
            <a:ext cx="48463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365760" y="6053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Distributed work-stealing protocol → eliminates single-master bottleneck for P ≫ 24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5486400" y="109728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486400" y="1280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1%</a:t>
            </a:r>
            <a:endParaRPr lang="en-US" sz="4200" dirty="0"/>
          </a:p>
        </p:txBody>
      </p:sp>
      <p:sp>
        <p:nvSpPr>
          <p:cNvPr id="22" name="Text 14"/>
          <p:cNvSpPr/>
          <p:nvPr/>
        </p:nvSpPr>
        <p:spPr>
          <a:xfrm>
            <a:off x="548640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fraction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sizes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8595360" y="109728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8595360" y="1280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20.6×</a:t>
            </a:r>
            <a:endParaRPr lang="en-US" sz="4200" dirty="0"/>
          </a:p>
        </p:txBody>
      </p:sp>
      <p:sp>
        <p:nvSpPr>
          <p:cNvPr id="25" name="Text 17"/>
          <p:cNvSpPr/>
          <p:nvPr/>
        </p:nvSpPr>
        <p:spPr>
          <a:xfrm>
            <a:off x="85953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speedup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P=24, 1024²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5486400" y="329184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548640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164×</a:t>
            </a:r>
            <a:endParaRPr lang="en-US" sz="4200" dirty="0"/>
          </a:p>
        </p:txBody>
      </p:sp>
      <p:sp>
        <p:nvSpPr>
          <p:cNvPr id="28" name="Text 20"/>
          <p:cNvSpPr/>
          <p:nvPr/>
        </p:nvSpPr>
        <p:spPr>
          <a:xfrm>
            <a:off x="548640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max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(2048² Amdahl)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8595360" y="329184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59536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0.85+</a:t>
            </a:r>
            <a:endParaRPr lang="en-US" sz="4200" dirty="0"/>
          </a:p>
        </p:txBody>
      </p:sp>
      <p:sp>
        <p:nvSpPr>
          <p:cNvPr id="31" name="Text 23"/>
          <p:cNvSpPr/>
          <p:nvPr/>
        </p:nvSpPr>
        <p:spPr>
          <a:xfrm>
            <a:off x="859536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efficiency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runs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11521440" y="6309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</a:t>
            </a:r>
            <a:endParaRPr lang="en-US" sz="1800" dirty="0"/>
          </a:p>
        </p:txBody>
      </p:sp>
      <p:sp>
        <p:nvSpPr>
          <p:cNvPr id="33" name="Shap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228600" y="6601968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SEAN BALBALE  ·  CPSC 375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Mandelbrot Set Renderer</dc:title>
  <dc:subject>PptxGenJS Presentation</dc:subject>
  <dc:creator>Sean Balbale</dc:creator>
  <cp:lastModifiedBy>Sean Balbale</cp:lastModifiedBy>
  <cp:revision>1</cp:revision>
  <dcterms:created xsi:type="dcterms:W3CDTF">2026-04-26T21:38:33Z</dcterms:created>
  <dcterms:modified xsi:type="dcterms:W3CDTF">2026-04-26T21:38:33Z</dcterms:modified>
</cp:coreProperties>
</file>